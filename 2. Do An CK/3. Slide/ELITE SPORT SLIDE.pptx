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5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34" autoAdjust="0"/>
    <p:restoredTop sz="74031" autoAdjust="0"/>
  </p:normalViewPr>
  <p:slideViewPr>
    <p:cSldViewPr snapToGrid="0" snapToObjects="1">
      <p:cViewPr varScale="1">
        <p:scale>
          <a:sx n="84" d="100"/>
          <a:sy n="84" d="100"/>
        </p:scale>
        <p:origin x="12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5485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 xin chào thầy và các bạn. Em là Trần Quỳnh Tiền, Đại diện Nhóm 13, em xin trình bày đồ án Hệ thống quản lý đặt sân thể thao Elite Sport. Hệ thống gồm Web Client, Web Admin, Backend API và </a:t>
            </a:r>
            <a:r>
              <a:rPr lang="en-US" strike="noStrike" baseline="0"/>
              <a:t>AI Assistant. </a:t>
            </a:r>
            <a:r>
              <a:rPr lang="en-US"/>
              <a:t>Nhóm em sẽ trình bày ngắn gọn bài toán, kiến trúc, kỹ thuật triển khai và sau đó minh họa bằng video demo thực tế</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Bài toán nhóm hướng tới là giúp khách hàng đặt sân nhanh, biết được khung giờ còn trống và chọn dịch vụ đi kèm; đồng thời hỗ trợ quản trị viên quản lý lịch sân, booking và hạn chế đặt trùng. Vì vậy nhóm xây dựng hệ thống có dữ liệu đồng bộ giữa Client và Admin, hỗ trợ cả đặt sân thủ công và qua AI</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Hệ thống phục vụ hai nhóm người dùng chính là khách hàng và quản trị viên. </a:t>
            </a:r>
            <a:r>
              <a:rPr lang="vi-VN" strike="noStrike"/>
              <a:t>AI </a:t>
            </a:r>
            <a:r>
              <a:rPr lang="vi-VN" strike="noStrike" baseline="0"/>
              <a:t>Assistant</a:t>
            </a:r>
            <a:r>
              <a:rPr lang="vi-VN" strike="noStrike"/>
              <a:t> </a:t>
            </a:r>
            <a:r>
              <a:rPr lang="vi-VN"/>
              <a:t>đóng vai trò hỗ trợ khách trong quá trình tìm</a:t>
            </a:r>
            <a:r>
              <a:rPr lang="en-US"/>
              <a:t> và</a:t>
            </a:r>
            <a:r>
              <a:rPr lang="vi-VN"/>
              <a:t> đặt sân. Các yêu cầu trọng tâm là validation dữ liệu, chống đặt trùng, khóa các khung giờ không hợp lệ và đồng bộ dữ liệu giữa hai phía</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Về kiến trúc, Frontend giao tiếp với FastAPI Backend qua REST API. Backend xử lý nghiệp vụ và truy cập</a:t>
            </a:r>
            <a:r>
              <a:rPr lang="vi-VN" strike="noStrike"/>
              <a:t> </a:t>
            </a:r>
            <a:r>
              <a:rPr lang="vi-VN" strike="noStrike" baseline="0"/>
              <a:t>SQLite</a:t>
            </a:r>
            <a:r>
              <a:rPr lang="en-US" strike="noStrike" baseline="0"/>
              <a:t> </a:t>
            </a:r>
            <a:r>
              <a:rPr lang="vi-VN"/>
              <a:t>thông qua</a:t>
            </a:r>
            <a:endParaRPr lang="en-US"/>
          </a:p>
          <a:p>
            <a:r>
              <a:rPr lang="vi-VN"/>
              <a:t> </a:t>
            </a:r>
            <a:r>
              <a:rPr lang="vi-VN" strike="noStrike" baseline="0"/>
              <a:t>SQLAlchemy ORM</a:t>
            </a:r>
            <a:r>
              <a:rPr lang="en-US"/>
              <a:t>. </a:t>
            </a:r>
            <a:r>
              <a:rPr lang="vi-VN"/>
              <a:t>Riêng AI được tách thành AI Service để gọi Gemini. Điểm quan trọng là mọi thao tác tạo booking cuối cùng vẫn phải quay về Backend để kiểm tra nghiệp vụ trước khi lưu dữ liệu</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trike="noStrike"/>
              <a:t>“Backend sử dụng FastAPI, Uvicorn, </a:t>
            </a:r>
            <a:r>
              <a:rPr lang="vi-VN" strike="noStrike" baseline="0"/>
              <a:t>SQLAlchemy</a:t>
            </a:r>
            <a:r>
              <a:rPr lang="vi-VN" strike="noStrike"/>
              <a:t> và </a:t>
            </a:r>
            <a:r>
              <a:rPr lang="vi-VN" strike="noStrike" baseline="0"/>
              <a:t>Pydantic</a:t>
            </a:r>
            <a:r>
              <a:rPr lang="en-US" strike="noStrike" baseline="0"/>
              <a:t> </a:t>
            </a:r>
            <a:r>
              <a:rPr lang="en-US" strike="noStrike"/>
              <a:t> “pai-den-tíc”</a:t>
            </a:r>
            <a:r>
              <a:rPr lang="vi-VN" strike="noStrike"/>
              <a:t>; phần xác thực dùng JWT, Passlib và bcrypt. AI được gọi bất đồng bộ bằng </a:t>
            </a:r>
            <a:r>
              <a:rPr lang="vi-VN" strike="noStrike" baseline="0"/>
              <a:t>httpx.AsyncClient </a:t>
            </a:r>
            <a:r>
              <a:rPr lang="vi-VN" strike="noStrike"/>
              <a:t>kết hợp async/await. Nhóm cũng dùng pathlib.Path để quản lý đường dẫn database ổn định và tổ chức source theo các module API, Model, </a:t>
            </a:r>
            <a:r>
              <a:rPr lang="vi-VN" strike="noStrike" baseline="0"/>
              <a:t>Schema</a:t>
            </a:r>
            <a:r>
              <a:rPr lang="vi-VN" strike="noStrike"/>
              <a:t> và Service</a:t>
            </a:r>
            <a:endParaRPr lang="en-US" strike="noStrike"/>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Database được tách thành các bảng danh mục và nghiệp vụ. Trong đó booking_slots liên kết booking với sân và khung giờ, còn booking_services lưu các dịch vụ đi kèm. Cách thiết kế này giúp hạn chế lặp dữ liệu và hỗ trợ một booking có thể gắn đúng sân, đúng thời gian và nhiều dịch vụ</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Phần AI được tách riêng khỏi nghiệp vụ chính. Prompt giúp Gemini hiểu yêu cầu tiếng Việt, xác định sân, ngày, giờ và dịch vụ, đồng thời hỏi lại khi thiếu thông tin. AI chỉ hỗ trợ giao tiếp và đề xuất; Backend vẫn chịu trách nhiệm kiểm tra sân trống, chống đặt trùng và tạo booking</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Hai giao diện chính là Web Client và Web Admin. Client tập trung vào trải nghiệm đặt sân và hỗ trợ AI, còn Admin tập trung vào quản lý lịch, booking, sân, dịch vụ và thống kê. Hai phía sử dụng chung dữ liệu Backend nên các thay đổi được đồng bộ trong hệ thống.</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Đây là luồng vận hành tổng thể: yêu cầu từ Client được Backend kiểm tra, lưu xuống database và đồng bộ sang Admin để tiếp tục xử lý. AI là nhánh hỗ trợ nhưng vẫn quay về Backend trước khi tạo booking. Trong quá trình phát triển, nhóm sử dụng Git và SourceTree để quản lý phiên bản, branch và </a:t>
            </a:r>
            <a:r>
              <a:rPr lang="vi-VN" strike="noStrike" baseline="0"/>
              <a:t>merge</a:t>
            </a:r>
            <a:endParaRPr lang="en-US" strike="noStrike" baseline="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Sau quá trình thực hiện, nhóm đã hoàn thiện Web Client, Web Admin, Backend API và AI Assistant. Nhóm đã kiểm thử các luồng chính, validation, chống đặt trùng, trạng thái booking và thực hiện </a:t>
            </a:r>
            <a:r>
              <a:rPr lang="vi-VN" strike="noStrike" baseline="0"/>
              <a:t>regression</a:t>
            </a:r>
            <a:r>
              <a:rPr lang="vi-VN" strike="noStrike"/>
              <a:t> </a:t>
            </a:r>
            <a:r>
              <a:rPr lang="vi-VN"/>
              <a:t>test sau khi sửa lỗi. Đây là các thành viên thực hiện đồ án của nhóm 13. Phần slide vừa rồi tập trung vào cách hệ thống được thiết kế và triển khai. Tiếp theo, nhóm em xin trình chiếu video demo để minh họa trực tiếp quá trình vận hành của hệ thống từ phía khách hàng, AI và quản trị viên đến dữ liệu phía Backend</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sfmf_ppt_extract/ppt/media/image1.png"/>
          <p:cNvPicPr>
            <a:picLocks noChangeAspect="1"/>
          </p:cNvPicPr>
          <p:nvPr/>
        </p:nvPicPr>
        <p:blipFill>
          <a:blip r:embed="rId3"/>
          <a:srcRect l="1" r="1"/>
          <a:stretch/>
        </p:blipFill>
        <p:spPr>
          <a:xfrm>
            <a:off x="0" y="0"/>
            <a:ext cx="12191695" cy="6858000"/>
          </a:xfrm>
          <a:prstGeom prst="rect">
            <a:avLst/>
          </a:prstGeom>
        </p:spPr>
      </p:pic>
      <p:sp>
        <p:nvSpPr>
          <p:cNvPr id="3" name="Text 0"/>
          <p:cNvSpPr/>
          <p:nvPr/>
        </p:nvSpPr>
        <p:spPr>
          <a:xfrm>
            <a:off x="594360" y="1058093"/>
            <a:ext cx="3931920" cy="292608"/>
          </a:xfrm>
          <a:prstGeom prst="roundRect">
            <a:avLst/>
          </a:prstGeom>
          <a:solidFill>
            <a:srgbClr val="08C391"/>
          </a:solidFill>
          <a:ln>
            <a:solidFill>
              <a:srgbClr val="08C391">
                <a:alpha val="90000"/>
              </a:srgbClr>
            </a:solidFill>
          </a:ln>
        </p:spPr>
        <p:txBody>
          <a:bodyPr wrap="square" lIns="254" tIns="254" rIns="254" bIns="254" rtlCol="0" anchor="ctr">
            <a:normAutofit/>
          </a:bodyPr>
          <a:lstStyle/>
          <a:p>
            <a:pPr marL="0" indent="0" algn="ctr">
              <a:buNone/>
            </a:pPr>
            <a:r>
              <a:rPr lang="en-US" sz="850" b="1">
                <a:solidFill>
                  <a:srgbClr val="062033"/>
                </a:solidFill>
              </a:rPr>
              <a:t>ĐỒ ÁN MÔN KỸ THUẬT LẬP TRÌNH PYTHON</a:t>
            </a:r>
            <a:endParaRPr lang="en-US" sz="850"/>
          </a:p>
        </p:txBody>
      </p:sp>
      <p:sp>
        <p:nvSpPr>
          <p:cNvPr id="4" name="Text 1"/>
          <p:cNvSpPr/>
          <p:nvPr/>
        </p:nvSpPr>
        <p:spPr>
          <a:xfrm>
            <a:off x="594360" y="1515293"/>
            <a:ext cx="6217920" cy="1097280"/>
          </a:xfrm>
          <a:prstGeom prst="rect">
            <a:avLst/>
          </a:prstGeom>
          <a:noFill/>
          <a:ln/>
        </p:spPr>
        <p:txBody>
          <a:bodyPr wrap="square" lIns="0" tIns="0" rIns="0" bIns="0" rtlCol="0" anchor="ctr">
            <a:normAutofit/>
          </a:bodyPr>
          <a:lstStyle/>
          <a:p>
            <a:pPr marL="0" indent="0">
              <a:buNone/>
            </a:pPr>
            <a:r>
              <a:rPr lang="en-US" sz="3100" b="1">
                <a:solidFill>
                  <a:srgbClr val="FFFFFF"/>
                </a:solidFill>
              </a:rPr>
              <a:t>HỆ THỐNG QUẢN LÝ ĐẶT SÂN</a:t>
            </a:r>
            <a:endParaRPr lang="en-US" sz="3100"/>
          </a:p>
          <a:p>
            <a:pPr marL="0" indent="0">
              <a:buNone/>
            </a:pPr>
            <a:r>
              <a:rPr lang="en-US" sz="3100" b="1">
                <a:solidFill>
                  <a:srgbClr val="FFFFFF"/>
                </a:solidFill>
              </a:rPr>
              <a:t>THỂ THAO ELITE SPORT</a:t>
            </a:r>
            <a:endParaRPr lang="en-US" sz="3100"/>
          </a:p>
        </p:txBody>
      </p:sp>
      <p:sp>
        <p:nvSpPr>
          <p:cNvPr id="5" name="Text 2"/>
          <p:cNvSpPr/>
          <p:nvPr/>
        </p:nvSpPr>
        <p:spPr>
          <a:xfrm>
            <a:off x="594360" y="2886893"/>
            <a:ext cx="5852160" cy="320040"/>
          </a:xfrm>
          <a:prstGeom prst="rect">
            <a:avLst/>
          </a:prstGeom>
          <a:noFill/>
          <a:ln/>
        </p:spPr>
        <p:txBody>
          <a:bodyPr wrap="square" lIns="0" tIns="0" rIns="0" bIns="0" rtlCol="0" anchor="ctr"/>
          <a:lstStyle/>
          <a:p>
            <a:pPr marL="0" indent="0">
              <a:buNone/>
            </a:pPr>
            <a:r>
              <a:rPr lang="en-US" sz="1400">
                <a:solidFill>
                  <a:srgbClr val="38F2C0"/>
                </a:solidFill>
              </a:rPr>
              <a:t>Web Client • Web Admin • Backend API • AI Assistant</a:t>
            </a:r>
            <a:endParaRPr lang="en-US" sz="1400"/>
          </a:p>
        </p:txBody>
      </p:sp>
      <p:sp>
        <p:nvSpPr>
          <p:cNvPr id="6" name="Text 3"/>
          <p:cNvSpPr/>
          <p:nvPr/>
        </p:nvSpPr>
        <p:spPr>
          <a:xfrm>
            <a:off x="594360" y="6172200"/>
            <a:ext cx="6583680" cy="228600"/>
          </a:xfrm>
          <a:prstGeom prst="rect">
            <a:avLst/>
          </a:prstGeom>
          <a:noFill/>
          <a:ln/>
        </p:spPr>
        <p:txBody>
          <a:bodyPr wrap="square" lIns="0" tIns="0" rIns="0" bIns="0" rtlCol="0" anchor="ctr"/>
          <a:lstStyle/>
          <a:p>
            <a:pPr marL="0" indent="0">
              <a:buNone/>
            </a:pPr>
            <a:r>
              <a:rPr lang="en-US" sz="1100">
                <a:solidFill>
                  <a:srgbClr val="FFFFFF"/>
                </a:solidFill>
              </a:rPr>
              <a:t>Nhóm thực hiện: </a:t>
            </a:r>
            <a:r>
              <a:rPr lang="en-US" sz="1100" err="1">
                <a:solidFill>
                  <a:srgbClr val="FFFFFF"/>
                </a:solidFill>
              </a:rPr>
              <a:t>Nhóm</a:t>
            </a:r>
            <a:r>
              <a:rPr lang="en-US" sz="1100">
                <a:solidFill>
                  <a:srgbClr val="FFFFFF"/>
                </a:solidFill>
              </a:rPr>
              <a:t> 13  |  GVHD: </a:t>
            </a:r>
            <a:r>
              <a:rPr lang="en-US" sz="1100" err="1">
                <a:solidFill>
                  <a:srgbClr val="FFFFFF"/>
                </a:solidFill>
              </a:rPr>
              <a:t>ThS</a:t>
            </a:r>
            <a:r>
              <a:rPr lang="en-US" sz="1100">
                <a:solidFill>
                  <a:srgbClr val="FFFFFF"/>
                </a:solidFill>
              </a:rPr>
              <a:t>. </a:t>
            </a:r>
            <a:r>
              <a:rPr lang="en-US" sz="1100" err="1">
                <a:solidFill>
                  <a:srgbClr val="FFFFFF"/>
                </a:solidFill>
              </a:rPr>
              <a:t>Nghi</a:t>
            </a:r>
            <a:r>
              <a:rPr lang="en-US" sz="1100">
                <a:solidFill>
                  <a:srgbClr val="FFFFFF"/>
                </a:solidFill>
              </a:rPr>
              <a:t> </a:t>
            </a:r>
            <a:r>
              <a:rPr lang="en-US" sz="1100" err="1">
                <a:solidFill>
                  <a:srgbClr val="FFFFFF"/>
                </a:solidFill>
              </a:rPr>
              <a:t>Hoàng</a:t>
            </a:r>
            <a:r>
              <a:rPr lang="en-US" sz="1100">
                <a:solidFill>
                  <a:srgbClr val="FFFFFF"/>
                </a:solidFill>
              </a:rPr>
              <a:t> Khoa</a:t>
            </a:r>
            <a:endParaRPr lang="en-US" sz="1100"/>
          </a:p>
        </p:txBody>
      </p:sp>
      <p:sp>
        <p:nvSpPr>
          <p:cNvPr id="7" name="Text 4"/>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01</a:t>
            </a:r>
            <a:endParaRPr lang="en-US" sz="850"/>
          </a:p>
        </p:txBody>
      </p:sp>
      <p:pic>
        <p:nvPicPr>
          <p:cNvPr id="9" name="Picture 8" descr="image.png"/>
          <p:cNvPicPr>
            <a:picLocks noChangeAspect="1"/>
          </p:cNvPicPr>
          <p:nvPr/>
        </p:nvPicPr>
        <p:blipFill>
          <a:blip r:embed="rId4"/>
          <a:stretch>
            <a:fillRect/>
          </a:stretch>
        </p:blipFill>
        <p:spPr>
          <a:xfrm>
            <a:off x="9646920" y="5376672"/>
            <a:ext cx="2240280" cy="746760"/>
          </a:xfrm>
          <a:prstGeom prst="rect">
            <a:avLst/>
          </a:prstGeom>
        </p:spPr>
      </p:pic>
      <p:pic>
        <p:nvPicPr>
          <p:cNvPr id="10" name="Picture 9" descr="a_clean_vector_logo_on_a_transparent_background_a.png"/>
          <p:cNvPicPr>
            <a:picLocks noChangeAspect="1"/>
          </p:cNvPicPr>
          <p:nvPr/>
        </p:nvPicPr>
        <p:blipFill>
          <a:blip r:embed="rId5"/>
          <a:stretch>
            <a:fillRect/>
          </a:stretch>
        </p:blipFill>
        <p:spPr>
          <a:xfrm>
            <a:off x="109728" y="73152"/>
            <a:ext cx="1051560" cy="8462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pPr marL="0" indent="0">
              <a:buNone/>
            </a:pPr>
            <a:r>
              <a:rPr lang="en-US" sz="2400" b="1">
                <a:solidFill>
                  <a:srgbClr val="FFFFFF"/>
                </a:solidFill>
              </a:rPr>
              <a:t>TỔNG QUAN ĐỀ TÀI &amp; MỤC TIÊU</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02920"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02</a:t>
            </a:r>
            <a:endParaRPr lang="en-US" sz="850"/>
          </a:p>
        </p:txBody>
      </p:sp>
      <p:sp>
        <p:nvSpPr>
          <p:cNvPr id="7" name="Text 4"/>
          <p:cNvSpPr/>
          <p:nvPr/>
        </p:nvSpPr>
        <p:spPr>
          <a:xfrm>
            <a:off x="685800" y="1097280"/>
            <a:ext cx="5303520" cy="105156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lang="vi-VN" sz="1100" b="1">
                <a:solidFill>
                  <a:srgbClr val="00F5C6"/>
                </a:solidFill>
                <a:latin typeface="Segoe"/>
              </a:rPr>
              <a:t>Bài toán</a:t>
            </a:r>
            <a:endParaRPr lang="vi-VN" sz="1100">
              <a:latin typeface="Segoe"/>
            </a:endParaRPr>
          </a:p>
          <a:p>
            <a:pPr>
              <a:spcBef>
                <a:spcPts val="0"/>
              </a:spcBef>
              <a:spcAft>
                <a:spcPts val="0"/>
              </a:spcAft>
            </a:pPr>
            <a:r>
              <a:rPr lang="vi-VN" sz="1100" b="0">
                <a:solidFill>
                  <a:srgbClr val="FFFFFF"/>
                </a:solidFill>
                <a:latin typeface="Segoe"/>
              </a:rPr>
              <a:t>Khách hàng cần xem sân trống, đặt sân nhanh và chọn dịch vụ đi kèm; quản trị viên cần theo dõi lịch, xử lý đơn và tránh đặt trùng.</a:t>
            </a:r>
          </a:p>
        </p:txBody>
      </p:sp>
      <p:sp>
        <p:nvSpPr>
          <p:cNvPr id="8" name="Text 5"/>
          <p:cNvSpPr/>
          <p:nvPr/>
        </p:nvSpPr>
        <p:spPr>
          <a:xfrm>
            <a:off x="685800" y="2514600"/>
            <a:ext cx="5303520" cy="118872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Mục</a:t>
            </a:r>
            <a:r>
              <a:rPr sz="1100" b="1">
                <a:solidFill>
                  <a:srgbClr val="00F5C6"/>
                </a:solidFill>
                <a:latin typeface="Segoe"/>
              </a:rPr>
              <a:t> </a:t>
            </a:r>
            <a:r>
              <a:rPr sz="1100" b="1" err="1">
                <a:solidFill>
                  <a:srgbClr val="00F5C6"/>
                </a:solidFill>
                <a:latin typeface="Segoe"/>
              </a:rPr>
              <a:t>tiêu</a:t>
            </a:r>
            <a:endParaRPr lang="en-US" sz="1100">
              <a:latin typeface="Segoe"/>
            </a:endParaRPr>
          </a:p>
          <a:p>
            <a:pPr>
              <a:spcBef>
                <a:spcPts val="0"/>
              </a:spcBef>
              <a:spcAft>
                <a:spcPts val="0"/>
              </a:spcAft>
            </a:pPr>
            <a:r>
              <a:rPr sz="1100" b="0" err="1">
                <a:solidFill>
                  <a:srgbClr val="FFFFFF"/>
                </a:solidFill>
                <a:latin typeface="Segoe"/>
              </a:rPr>
              <a:t>Xây</a:t>
            </a:r>
            <a:r>
              <a:rPr sz="1100" b="0">
                <a:solidFill>
                  <a:srgbClr val="FFFFFF"/>
                </a:solidFill>
                <a:latin typeface="Segoe"/>
              </a:rPr>
              <a:t> </a:t>
            </a:r>
            <a:r>
              <a:rPr sz="1100" b="0" err="1">
                <a:solidFill>
                  <a:srgbClr val="FFFFFF"/>
                </a:solidFill>
                <a:latin typeface="Segoe"/>
              </a:rPr>
              <a:t>dựng</a:t>
            </a:r>
            <a:r>
              <a:rPr sz="1100" b="0">
                <a:solidFill>
                  <a:srgbClr val="FFFFFF"/>
                </a:solidFill>
                <a:latin typeface="Segoe"/>
              </a:rPr>
              <a:t> </a:t>
            </a:r>
            <a:r>
              <a:rPr sz="1100" b="0" err="1">
                <a:solidFill>
                  <a:srgbClr val="FFFFFF"/>
                </a:solidFill>
                <a:latin typeface="Segoe"/>
              </a:rPr>
              <a:t>hệ</a:t>
            </a:r>
            <a:r>
              <a:rPr sz="1100" b="0">
                <a:solidFill>
                  <a:srgbClr val="FFFFFF"/>
                </a:solidFill>
                <a:latin typeface="Segoe"/>
              </a:rPr>
              <a:t> </a:t>
            </a:r>
            <a:r>
              <a:rPr sz="1100" b="0" err="1">
                <a:solidFill>
                  <a:srgbClr val="FFFFFF"/>
                </a:solidFill>
                <a:latin typeface="Segoe"/>
              </a:rPr>
              <a:t>thống</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thể</a:t>
            </a:r>
            <a:r>
              <a:rPr sz="1100" b="0">
                <a:solidFill>
                  <a:srgbClr val="FFFFFF"/>
                </a:solidFill>
                <a:latin typeface="Segoe"/>
              </a:rPr>
              <a:t> </a:t>
            </a:r>
            <a:r>
              <a:rPr sz="1100" b="0" err="1">
                <a:solidFill>
                  <a:srgbClr val="FFFFFF"/>
                </a:solidFill>
                <a:latin typeface="Segoe"/>
              </a:rPr>
              <a:t>thao</a:t>
            </a:r>
            <a:r>
              <a:rPr sz="1100" b="0">
                <a:solidFill>
                  <a:srgbClr val="FFFFFF"/>
                </a:solidFill>
                <a:latin typeface="Segoe"/>
              </a:rPr>
              <a:t> </a:t>
            </a:r>
            <a:r>
              <a:rPr sz="1100" b="0" err="1">
                <a:solidFill>
                  <a:srgbClr val="FFFFFF"/>
                </a:solidFill>
                <a:latin typeface="Segoe"/>
              </a:rPr>
              <a:t>hoàn</a:t>
            </a:r>
            <a:r>
              <a:rPr sz="1100" b="0">
                <a:solidFill>
                  <a:srgbClr val="FFFFFF"/>
                </a:solidFill>
                <a:latin typeface="Segoe"/>
              </a:rPr>
              <a:t> </a:t>
            </a:r>
            <a:r>
              <a:rPr sz="1100" b="0" err="1">
                <a:solidFill>
                  <a:srgbClr val="FFFFFF"/>
                </a:solidFill>
                <a:latin typeface="Segoe"/>
              </a:rPr>
              <a:t>chỉnh</a:t>
            </a:r>
            <a:r>
              <a:rPr sz="1100" b="0">
                <a:solidFill>
                  <a:srgbClr val="FFFFFF"/>
                </a:solidFill>
                <a:latin typeface="Segoe"/>
              </a:rPr>
              <a:t> </a:t>
            </a:r>
            <a:r>
              <a:rPr sz="1100" b="0" err="1">
                <a:solidFill>
                  <a:srgbClr val="FFFFFF"/>
                </a:solidFill>
                <a:latin typeface="Segoe"/>
              </a:rPr>
              <a:t>gồm</a:t>
            </a:r>
            <a:r>
              <a:rPr sz="1100" b="0">
                <a:solidFill>
                  <a:srgbClr val="FFFFFF"/>
                </a:solidFill>
                <a:latin typeface="Segoe"/>
              </a:rPr>
              <a:t> Web Client </a:t>
            </a:r>
            <a:r>
              <a:rPr sz="1100" b="0" err="1">
                <a:solidFill>
                  <a:srgbClr val="FFFFFF"/>
                </a:solidFill>
                <a:latin typeface="Segoe"/>
              </a:rPr>
              <a:t>cho</a:t>
            </a:r>
            <a:r>
              <a:rPr sz="1100" b="0">
                <a:solidFill>
                  <a:srgbClr val="FFFFFF"/>
                </a:solidFill>
                <a:latin typeface="Segoe"/>
              </a:rPr>
              <a:t> </a:t>
            </a:r>
            <a:r>
              <a:rPr sz="1100" b="0" err="1">
                <a:solidFill>
                  <a:srgbClr val="FFFFFF"/>
                </a:solidFill>
                <a:latin typeface="Segoe"/>
              </a:rPr>
              <a:t>khách</a:t>
            </a:r>
            <a:r>
              <a:rPr sz="1100" b="0">
                <a:solidFill>
                  <a:srgbClr val="FFFFFF"/>
                </a:solidFill>
                <a:latin typeface="Segoe"/>
              </a:rPr>
              <a:t>, Web Admin </a:t>
            </a:r>
            <a:r>
              <a:rPr sz="1100" b="0" err="1">
                <a:solidFill>
                  <a:srgbClr val="FFFFFF"/>
                </a:solidFill>
                <a:latin typeface="Segoe"/>
              </a:rPr>
              <a:t>cho</a:t>
            </a:r>
            <a:r>
              <a:rPr sz="1100" b="0">
                <a:solidFill>
                  <a:srgbClr val="FFFFFF"/>
                </a:solidFill>
                <a:latin typeface="Segoe"/>
              </a:rPr>
              <a:t> </a:t>
            </a:r>
            <a:r>
              <a:rPr sz="1100" b="0" err="1">
                <a:solidFill>
                  <a:srgbClr val="FFFFFF"/>
                </a:solidFill>
                <a:latin typeface="Segoe"/>
              </a:rPr>
              <a:t>quản</a:t>
            </a:r>
            <a:r>
              <a:rPr sz="1100" b="0">
                <a:solidFill>
                  <a:srgbClr val="FFFFFF"/>
                </a:solidFill>
                <a:latin typeface="Segoe"/>
              </a:rPr>
              <a:t> </a:t>
            </a:r>
            <a:r>
              <a:rPr sz="1100" b="0" err="1">
                <a:solidFill>
                  <a:srgbClr val="FFFFFF"/>
                </a:solidFill>
                <a:latin typeface="Segoe"/>
              </a:rPr>
              <a:t>trị</a:t>
            </a:r>
            <a:r>
              <a:rPr sz="1100" b="0">
                <a:solidFill>
                  <a:srgbClr val="FFFFFF"/>
                </a:solidFill>
                <a:latin typeface="Segoe"/>
              </a:rPr>
              <a:t> </a:t>
            </a:r>
            <a:r>
              <a:rPr sz="1100" b="0" err="1">
                <a:solidFill>
                  <a:srgbClr val="FFFFFF"/>
                </a:solidFill>
                <a:latin typeface="Segoe"/>
              </a:rPr>
              <a:t>viên</a:t>
            </a:r>
            <a:r>
              <a:rPr sz="1100" b="0">
                <a:solidFill>
                  <a:srgbClr val="FFFFFF"/>
                </a:solidFill>
                <a:latin typeface="Segoe"/>
              </a:rPr>
              <a:t>, Backend API </a:t>
            </a:r>
            <a:r>
              <a:rPr sz="1100" b="0" err="1">
                <a:solidFill>
                  <a:srgbClr val="FFFFFF"/>
                </a:solidFill>
                <a:latin typeface="Segoe"/>
              </a:rPr>
              <a:t>và</a:t>
            </a:r>
            <a:r>
              <a:rPr sz="1100" b="0">
                <a:solidFill>
                  <a:srgbClr val="FFFFFF"/>
                </a:solidFill>
                <a:latin typeface="Segoe"/>
              </a:rPr>
              <a:t> AI Assistant.</a:t>
            </a:r>
          </a:p>
        </p:txBody>
      </p:sp>
      <p:sp>
        <p:nvSpPr>
          <p:cNvPr id="9" name="Text 6"/>
          <p:cNvSpPr/>
          <p:nvPr/>
        </p:nvSpPr>
        <p:spPr>
          <a:xfrm>
            <a:off x="685800" y="4160520"/>
            <a:ext cx="5303520" cy="109728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Phạm</a:t>
            </a:r>
            <a:r>
              <a:rPr sz="1100" b="1">
                <a:solidFill>
                  <a:srgbClr val="00F5C6"/>
                </a:solidFill>
                <a:latin typeface="Segoe"/>
              </a:rPr>
              <a:t> vi</a:t>
            </a:r>
            <a:endParaRPr lang="en-US" sz="1100">
              <a:latin typeface="Segoe"/>
            </a:endParaRPr>
          </a:p>
          <a:p>
            <a:pPr>
              <a:spcBef>
                <a:spcPts val="0"/>
              </a:spcBef>
              <a:spcAft>
                <a:spcPts val="0"/>
              </a:spcAft>
            </a:pP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thủ</a:t>
            </a:r>
            <a:r>
              <a:rPr sz="1100" b="0">
                <a:solidFill>
                  <a:srgbClr val="FFFFFF"/>
                </a:solidFill>
                <a:latin typeface="Segoe"/>
              </a:rPr>
              <a:t> </a:t>
            </a:r>
            <a:r>
              <a:rPr sz="1100" b="0" err="1">
                <a:solidFill>
                  <a:srgbClr val="FFFFFF"/>
                </a:solidFill>
                <a:latin typeface="Segoe"/>
              </a:rPr>
              <a:t>công</a:t>
            </a:r>
            <a:r>
              <a:rPr sz="1100" b="0">
                <a:solidFill>
                  <a:srgbClr val="FFFFFF"/>
                </a:solidFill>
                <a:latin typeface="Segoe"/>
              </a:rPr>
              <a:t>/qua AI, </a:t>
            </a:r>
            <a:r>
              <a:rPr sz="1100" b="0" err="1">
                <a:solidFill>
                  <a:srgbClr val="FFFFFF"/>
                </a:solidFill>
                <a:latin typeface="Segoe"/>
              </a:rPr>
              <a:t>quản</a:t>
            </a:r>
            <a:r>
              <a:rPr sz="1100" b="0">
                <a:solidFill>
                  <a:srgbClr val="FFFFFF"/>
                </a:solidFill>
                <a:latin typeface="Segoe"/>
              </a:rPr>
              <a:t> </a:t>
            </a:r>
            <a:r>
              <a:rPr sz="1100" b="0" err="1">
                <a:solidFill>
                  <a:srgbClr val="FFFFFF"/>
                </a:solidFill>
                <a:latin typeface="Segoe"/>
              </a:rPr>
              <a:t>lý</a:t>
            </a:r>
            <a:r>
              <a:rPr sz="1100" b="0">
                <a:solidFill>
                  <a:srgbClr val="FFFFFF"/>
                </a:solidFill>
                <a:latin typeface="Segoe"/>
              </a:rPr>
              <a:t> </a:t>
            </a:r>
            <a:r>
              <a:rPr sz="1100" b="0" err="1">
                <a:solidFill>
                  <a:srgbClr val="FFFFFF"/>
                </a:solidFill>
                <a:latin typeface="Segoe"/>
              </a:rPr>
              <a:t>lịch</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đơn</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a:t>
            </a:r>
            <a:r>
              <a:rPr sz="1100" b="0" err="1">
                <a:solidFill>
                  <a:srgbClr val="FFFFFF"/>
                </a:solidFill>
                <a:latin typeface="Segoe"/>
              </a:rPr>
              <a:t>thống</a:t>
            </a:r>
            <a:r>
              <a:rPr sz="1100" b="0">
                <a:solidFill>
                  <a:srgbClr val="FFFFFF"/>
                </a:solidFill>
                <a:latin typeface="Segoe"/>
              </a:rPr>
              <a:t> </a:t>
            </a:r>
            <a:r>
              <a:rPr sz="1100" b="0" err="1">
                <a:solidFill>
                  <a:srgbClr val="FFFFFF"/>
                </a:solidFill>
                <a:latin typeface="Segoe"/>
              </a:rPr>
              <a:t>kê</a:t>
            </a:r>
            <a:r>
              <a:rPr sz="1100" b="0">
                <a:solidFill>
                  <a:srgbClr val="FFFFFF"/>
                </a:solidFill>
                <a:latin typeface="Segoe"/>
              </a:rPr>
              <a:t>, </a:t>
            </a:r>
            <a:r>
              <a:rPr sz="1100" b="0" err="1">
                <a:solidFill>
                  <a:srgbClr val="FFFFFF"/>
                </a:solidFill>
                <a:latin typeface="Segoe"/>
              </a:rPr>
              <a:t>xác</a:t>
            </a:r>
            <a:r>
              <a:rPr sz="1100" b="0">
                <a:solidFill>
                  <a:srgbClr val="FFFFFF"/>
                </a:solidFill>
                <a:latin typeface="Segoe"/>
              </a:rPr>
              <a:t> </a:t>
            </a:r>
            <a:r>
              <a:rPr sz="1100" b="0" err="1">
                <a:solidFill>
                  <a:srgbClr val="FFFFFF"/>
                </a:solidFill>
                <a:latin typeface="Segoe"/>
              </a:rPr>
              <a:t>thực</a:t>
            </a:r>
            <a:r>
              <a:rPr sz="1100" b="0">
                <a:solidFill>
                  <a:srgbClr val="FFFFFF"/>
                </a:solidFill>
                <a:latin typeface="Segoe"/>
              </a:rPr>
              <a:t> Admin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đồng</a:t>
            </a:r>
            <a:r>
              <a:rPr sz="1100" b="0">
                <a:solidFill>
                  <a:srgbClr val="FFFFFF"/>
                </a:solidFill>
                <a:latin typeface="Segoe"/>
              </a:rPr>
              <a:t> </a:t>
            </a:r>
            <a:r>
              <a:rPr sz="1100" b="0" err="1">
                <a:solidFill>
                  <a:srgbClr val="FFFFFF"/>
                </a:solidFill>
                <a:latin typeface="Segoe"/>
              </a:rPr>
              <a:t>bộ</a:t>
            </a:r>
            <a:r>
              <a:rPr sz="1100" b="0">
                <a:solidFill>
                  <a:srgbClr val="FFFFFF"/>
                </a:solidFill>
                <a:latin typeface="Segoe"/>
              </a:rPr>
              <a:t> </a:t>
            </a:r>
            <a:r>
              <a:rPr sz="1100" b="0" err="1">
                <a:solidFill>
                  <a:srgbClr val="FFFFFF"/>
                </a:solidFill>
                <a:latin typeface="Segoe"/>
              </a:rPr>
              <a:t>dữ</a:t>
            </a:r>
            <a:r>
              <a:rPr sz="1100" b="0">
                <a:solidFill>
                  <a:srgbClr val="FFFFFF"/>
                </a:solidFill>
                <a:latin typeface="Segoe"/>
              </a:rPr>
              <a:t> </a:t>
            </a:r>
            <a:r>
              <a:rPr sz="1100" b="0" err="1">
                <a:solidFill>
                  <a:srgbClr val="FFFFFF"/>
                </a:solidFill>
                <a:latin typeface="Segoe"/>
              </a:rPr>
              <a:t>liệu</a:t>
            </a:r>
            <a:r>
              <a:rPr sz="1100" b="0">
                <a:solidFill>
                  <a:srgbClr val="FFFFFF"/>
                </a:solidFill>
                <a:latin typeface="Segoe"/>
              </a:rPr>
              <a:t> Client ↔ Admin.</a:t>
            </a:r>
          </a:p>
        </p:txBody>
      </p:sp>
      <p:sp>
        <p:nvSpPr>
          <p:cNvPr id="10" name="Text 7"/>
          <p:cNvSpPr/>
          <p:nvPr/>
        </p:nvSpPr>
        <p:spPr>
          <a:xfrm>
            <a:off x="1097280" y="5760720"/>
            <a:ext cx="4572000" cy="292608"/>
          </a:xfrm>
          <a:prstGeom prst="roundRect">
            <a:avLst/>
          </a:prstGeom>
          <a:solidFill>
            <a:srgbClr val="F3C04E"/>
          </a:solidFill>
          <a:ln>
            <a:solidFill>
              <a:srgbClr val="F3C04E">
                <a:alpha val="90000"/>
              </a:srgbClr>
            </a:solidFill>
          </a:ln>
        </p:spPr>
        <p:txBody>
          <a:bodyPr wrap="square" lIns="254" tIns="254" rIns="254" bIns="254" rtlCol="0" anchor="ctr">
            <a:normAutofit/>
          </a:bodyPr>
          <a:lstStyle/>
          <a:p>
            <a:pPr marL="0" indent="0" algn="ctr">
              <a:buNone/>
            </a:pPr>
            <a:r>
              <a:rPr sz="800" b="1" err="1">
                <a:solidFill>
                  <a:srgbClr val="051424"/>
                </a:solidFill>
                <a:latin typeface="Segoe"/>
              </a:rPr>
              <a:t>Định</a:t>
            </a:r>
            <a:r>
              <a:rPr sz="800" b="1">
                <a:solidFill>
                  <a:srgbClr val="051424"/>
                </a:solidFill>
                <a:latin typeface="Segoe"/>
              </a:rPr>
              <a:t> </a:t>
            </a:r>
            <a:r>
              <a:rPr sz="800" b="1" err="1">
                <a:solidFill>
                  <a:srgbClr val="051424"/>
                </a:solidFill>
                <a:latin typeface="Segoe"/>
              </a:rPr>
              <a:t>hướng</a:t>
            </a:r>
            <a:r>
              <a:rPr sz="800" b="1">
                <a:solidFill>
                  <a:srgbClr val="051424"/>
                </a:solidFill>
                <a:latin typeface="Segoe"/>
              </a:rPr>
              <a:t>: </a:t>
            </a:r>
            <a:r>
              <a:rPr sz="800" b="1" err="1">
                <a:solidFill>
                  <a:srgbClr val="051424"/>
                </a:solidFill>
                <a:latin typeface="Segoe"/>
              </a:rPr>
              <a:t>dễ</a:t>
            </a:r>
            <a:r>
              <a:rPr sz="800" b="1">
                <a:solidFill>
                  <a:srgbClr val="051424"/>
                </a:solidFill>
                <a:latin typeface="Segoe"/>
              </a:rPr>
              <a:t> </a:t>
            </a:r>
            <a:r>
              <a:rPr sz="800" b="1" err="1">
                <a:solidFill>
                  <a:srgbClr val="051424"/>
                </a:solidFill>
                <a:latin typeface="Segoe"/>
              </a:rPr>
              <a:t>dùng</a:t>
            </a:r>
            <a:r>
              <a:rPr sz="800" b="1">
                <a:solidFill>
                  <a:srgbClr val="051424"/>
                </a:solidFill>
                <a:latin typeface="Segoe"/>
              </a:rPr>
              <a:t> • </a:t>
            </a:r>
            <a:r>
              <a:rPr sz="800" b="1" err="1">
                <a:solidFill>
                  <a:srgbClr val="051424"/>
                </a:solidFill>
                <a:latin typeface="Segoe"/>
              </a:rPr>
              <a:t>đúng</a:t>
            </a:r>
            <a:r>
              <a:rPr sz="800" b="1">
                <a:solidFill>
                  <a:srgbClr val="051424"/>
                </a:solidFill>
                <a:latin typeface="Segoe"/>
              </a:rPr>
              <a:t> </a:t>
            </a:r>
            <a:r>
              <a:rPr sz="800" b="1" err="1">
                <a:solidFill>
                  <a:srgbClr val="051424"/>
                </a:solidFill>
                <a:latin typeface="Segoe"/>
              </a:rPr>
              <a:t>nghiệp</a:t>
            </a:r>
            <a:r>
              <a:rPr sz="800" b="1">
                <a:solidFill>
                  <a:srgbClr val="051424"/>
                </a:solidFill>
                <a:latin typeface="Segoe"/>
              </a:rPr>
              <a:t> </a:t>
            </a:r>
            <a:r>
              <a:rPr sz="800" b="1" err="1">
                <a:solidFill>
                  <a:srgbClr val="051424"/>
                </a:solidFill>
                <a:latin typeface="Segoe"/>
              </a:rPr>
              <a:t>vụ</a:t>
            </a:r>
            <a:r>
              <a:rPr sz="800" b="1">
                <a:solidFill>
                  <a:srgbClr val="051424"/>
                </a:solidFill>
                <a:latin typeface="Segoe"/>
              </a:rPr>
              <a:t> • </a:t>
            </a:r>
            <a:r>
              <a:rPr sz="800" b="1" err="1">
                <a:solidFill>
                  <a:srgbClr val="051424"/>
                </a:solidFill>
                <a:latin typeface="Segoe"/>
              </a:rPr>
              <a:t>dữ</a:t>
            </a:r>
            <a:r>
              <a:rPr sz="800" b="1">
                <a:solidFill>
                  <a:srgbClr val="051424"/>
                </a:solidFill>
                <a:latin typeface="Segoe"/>
              </a:rPr>
              <a:t> </a:t>
            </a:r>
            <a:r>
              <a:rPr sz="800" b="1" err="1">
                <a:solidFill>
                  <a:srgbClr val="051424"/>
                </a:solidFill>
                <a:latin typeface="Segoe"/>
              </a:rPr>
              <a:t>liệu</a:t>
            </a:r>
            <a:r>
              <a:rPr sz="800" b="1">
                <a:solidFill>
                  <a:srgbClr val="051424"/>
                </a:solidFill>
                <a:latin typeface="Segoe"/>
              </a:rPr>
              <a:t> </a:t>
            </a:r>
            <a:r>
              <a:rPr sz="800" b="1" err="1">
                <a:solidFill>
                  <a:srgbClr val="051424"/>
                </a:solidFill>
                <a:latin typeface="Segoe"/>
              </a:rPr>
              <a:t>đồng</a:t>
            </a:r>
            <a:r>
              <a:rPr sz="800" b="1">
                <a:solidFill>
                  <a:srgbClr val="051424"/>
                </a:solidFill>
                <a:latin typeface="Segoe"/>
              </a:rPr>
              <a:t> </a:t>
            </a:r>
            <a:r>
              <a:rPr sz="800" b="1" err="1">
                <a:solidFill>
                  <a:srgbClr val="051424"/>
                </a:solidFill>
                <a:latin typeface="Segoe"/>
              </a:rPr>
              <a:t>bộ</a:t>
            </a:r>
            <a:r>
              <a:rPr sz="800" b="1">
                <a:solidFill>
                  <a:srgbClr val="051424"/>
                </a:solidFill>
                <a:latin typeface="Segoe"/>
              </a:rPr>
              <a:t> • </a:t>
            </a:r>
            <a:r>
              <a:rPr lang="en-US" sz="800" b="1" err="1">
                <a:solidFill>
                  <a:srgbClr val="051424"/>
                </a:solidFill>
                <a:latin typeface="Segoe"/>
              </a:rPr>
              <a:t>vận</a:t>
            </a:r>
            <a:r>
              <a:rPr lang="en-US" sz="800" b="1">
                <a:solidFill>
                  <a:srgbClr val="051424"/>
                </a:solidFill>
                <a:latin typeface="Segoe"/>
              </a:rPr>
              <a:t> </a:t>
            </a:r>
            <a:r>
              <a:rPr lang="en-US" sz="800" b="1" err="1">
                <a:solidFill>
                  <a:srgbClr val="051424"/>
                </a:solidFill>
                <a:latin typeface="Segoe"/>
              </a:rPr>
              <a:t>hành</a:t>
            </a:r>
            <a:r>
              <a:rPr lang="en-US" sz="800" b="1">
                <a:solidFill>
                  <a:srgbClr val="051424"/>
                </a:solidFill>
                <a:latin typeface="Segoe"/>
              </a:rPr>
              <a:t> </a:t>
            </a:r>
            <a:r>
              <a:rPr lang="en-US" sz="800" b="1" err="1">
                <a:solidFill>
                  <a:srgbClr val="051424"/>
                </a:solidFill>
                <a:latin typeface="Segoe"/>
              </a:rPr>
              <a:t>ổn</a:t>
            </a:r>
            <a:r>
              <a:rPr lang="en-US" sz="800" b="1">
                <a:solidFill>
                  <a:srgbClr val="051424"/>
                </a:solidFill>
                <a:latin typeface="Segoe"/>
              </a:rPr>
              <a:t> </a:t>
            </a:r>
            <a:r>
              <a:rPr lang="en-US" sz="800" b="1" err="1">
                <a:solidFill>
                  <a:srgbClr val="051424"/>
                </a:solidFill>
                <a:latin typeface="Segoe"/>
              </a:rPr>
              <a:t>định</a:t>
            </a:r>
            <a:endParaRPr lang="en-US" sz="800">
              <a:latin typeface="Segoe"/>
            </a:endParaRPr>
          </a:p>
        </p:txBody>
      </p:sp>
      <p:pic>
        <p:nvPicPr>
          <p:cNvPr id="11" name="Picture 10" descr="uit_symbol_only.png"/>
          <p:cNvPicPr>
            <a:picLocks noChangeAspect="1"/>
          </p:cNvPicPr>
          <p:nvPr/>
        </p:nvPicPr>
        <p:blipFill>
          <a:blip r:embed="rId3"/>
          <a:stretch>
            <a:fillRect/>
          </a:stretch>
        </p:blipFill>
        <p:spPr>
          <a:xfrm>
            <a:off x="100584" y="91440"/>
            <a:ext cx="420261" cy="310896"/>
          </a:xfrm>
          <a:prstGeom prst="rect">
            <a:avLst/>
          </a:prstGeom>
        </p:spPr>
      </p:pic>
      <p:pic>
        <p:nvPicPr>
          <p:cNvPr id="12" name="Picture 11" descr="image.png"/>
          <p:cNvPicPr>
            <a:picLocks noChangeAspect="1"/>
          </p:cNvPicPr>
          <p:nvPr/>
        </p:nvPicPr>
        <p:blipFill>
          <a:blip r:embed="rId4"/>
          <a:stretch>
            <a:fillRect/>
          </a:stretch>
        </p:blipFill>
        <p:spPr>
          <a:xfrm>
            <a:off x="10195560" y="91440"/>
            <a:ext cx="1783080" cy="594360"/>
          </a:xfrm>
          <a:prstGeom prst="rect">
            <a:avLst/>
          </a:prstGeom>
        </p:spPr>
      </p:pic>
      <p:pic>
        <p:nvPicPr>
          <p:cNvPr id="13" name="Picture 12">
            <a:extLst>
              <a:ext uri="{FF2B5EF4-FFF2-40B4-BE49-F238E27FC236}">
                <a16:creationId xmlns:a16="http://schemas.microsoft.com/office/drawing/2014/main" id="{F78EA4D9-60AC-42A4-BCC4-AEF0E8AE65B2}"/>
              </a:ext>
            </a:extLst>
          </p:cNvPr>
          <p:cNvPicPr>
            <a:picLocks noChangeAspect="1"/>
          </p:cNvPicPr>
          <p:nvPr/>
        </p:nvPicPr>
        <p:blipFill>
          <a:blip r:embed="rId5"/>
          <a:stretch>
            <a:fillRect/>
          </a:stretch>
        </p:blipFill>
        <p:spPr>
          <a:xfrm>
            <a:off x="6492240" y="1097280"/>
            <a:ext cx="4937760" cy="492621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pPr marL="0" indent="0">
              <a:buNone/>
            </a:pPr>
            <a:r>
              <a:rPr lang="en-US" sz="2400" b="1">
                <a:solidFill>
                  <a:srgbClr val="FFFFFF"/>
                </a:solidFill>
              </a:rPr>
              <a:t>ĐỐI TƯỢNG SỬ DỤNG &amp; YÊU CẦU CHÍNH</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02920"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03</a:t>
            </a:r>
            <a:endParaRPr lang="en-US" sz="850"/>
          </a:p>
        </p:txBody>
      </p:sp>
      <p:sp>
        <p:nvSpPr>
          <p:cNvPr id="6" name="Text 4"/>
          <p:cNvSpPr/>
          <p:nvPr/>
        </p:nvSpPr>
        <p:spPr>
          <a:xfrm>
            <a:off x="685800" y="1051560"/>
            <a:ext cx="3429000" cy="141732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Khách</a:t>
            </a:r>
            <a:r>
              <a:rPr sz="1100" b="1">
                <a:solidFill>
                  <a:srgbClr val="00F5C6"/>
                </a:solidFill>
                <a:latin typeface="Segoe"/>
              </a:rPr>
              <a:t> </a:t>
            </a:r>
            <a:r>
              <a:rPr sz="1100" b="1" err="1">
                <a:solidFill>
                  <a:srgbClr val="00F5C6"/>
                </a:solidFill>
                <a:latin typeface="Segoe"/>
              </a:rPr>
              <a:t>hàng</a:t>
            </a:r>
            <a:r>
              <a:rPr sz="1100" b="1">
                <a:solidFill>
                  <a:srgbClr val="00F5C6"/>
                </a:solidFill>
                <a:latin typeface="Segoe"/>
              </a:rPr>
              <a:t> (Web Client)</a:t>
            </a:r>
            <a:endParaRPr lang="en-US" sz="1100">
              <a:latin typeface="Segoe"/>
            </a:endParaRPr>
          </a:p>
          <a:p>
            <a:pPr>
              <a:spcBef>
                <a:spcPts val="0"/>
              </a:spcBef>
              <a:spcAft>
                <a:spcPts val="0"/>
              </a:spcAft>
            </a:pPr>
            <a:r>
              <a:rPr sz="1100" b="0" err="1">
                <a:solidFill>
                  <a:srgbClr val="FFFFFF"/>
                </a:solidFill>
                <a:latin typeface="Segoe"/>
              </a:rPr>
              <a:t>Xem</a:t>
            </a:r>
            <a:r>
              <a:rPr sz="1100" b="0">
                <a:solidFill>
                  <a:srgbClr val="FFFFFF"/>
                </a:solidFill>
                <a:latin typeface="Segoe"/>
              </a:rPr>
              <a:t> </a:t>
            </a:r>
            <a:r>
              <a:rPr sz="1100" b="0" err="1">
                <a:solidFill>
                  <a:srgbClr val="FFFFFF"/>
                </a:solidFill>
                <a:latin typeface="Segoe"/>
              </a:rPr>
              <a:t>thông</a:t>
            </a:r>
            <a:r>
              <a:rPr sz="1100" b="0">
                <a:solidFill>
                  <a:srgbClr val="FFFFFF"/>
                </a:solidFill>
                <a:latin typeface="Segoe"/>
              </a:rPr>
              <a:t> tin </a:t>
            </a:r>
            <a:r>
              <a:rPr sz="1100" b="0" err="1">
                <a:solidFill>
                  <a:srgbClr val="FFFFFF"/>
                </a:solidFill>
                <a:latin typeface="Segoe"/>
              </a:rPr>
              <a:t>sân</a:t>
            </a:r>
            <a:r>
              <a:rPr sz="1100" b="0">
                <a:solidFill>
                  <a:srgbClr val="FFFFFF"/>
                </a:solidFill>
                <a:latin typeface="Segoe"/>
              </a:rPr>
              <a:t>/</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a:t>
            </a:r>
            <a:r>
              <a:rPr sz="1100" b="0" err="1">
                <a:solidFill>
                  <a:srgbClr val="FFFFFF"/>
                </a:solidFill>
                <a:latin typeface="Segoe"/>
              </a:rPr>
              <a:t>chọn</a:t>
            </a:r>
            <a:r>
              <a:rPr sz="1100" b="0">
                <a:solidFill>
                  <a:srgbClr val="FFFFFF"/>
                </a:solidFill>
                <a:latin typeface="Segoe"/>
              </a:rPr>
              <a:t> </a:t>
            </a:r>
            <a:r>
              <a:rPr sz="1100" b="0" err="1">
                <a:solidFill>
                  <a:srgbClr val="FFFFFF"/>
                </a:solidFill>
                <a:latin typeface="Segoe"/>
              </a:rPr>
              <a:t>Bóng</a:t>
            </a:r>
            <a:r>
              <a:rPr sz="1100" b="0">
                <a:solidFill>
                  <a:srgbClr val="FFFFFF"/>
                </a:solidFill>
                <a:latin typeface="Segoe"/>
              </a:rPr>
              <a:t> </a:t>
            </a:r>
            <a:r>
              <a:rPr sz="1100" b="0" err="1">
                <a:solidFill>
                  <a:srgbClr val="FFFFFF"/>
                </a:solidFill>
                <a:latin typeface="Segoe"/>
              </a:rPr>
              <a:t>đá</a:t>
            </a:r>
            <a:r>
              <a:rPr sz="1100" b="0">
                <a:solidFill>
                  <a:srgbClr val="FFFFFF"/>
                </a:solidFill>
                <a:latin typeface="Segoe"/>
              </a:rPr>
              <a:t>/Pickleball/</a:t>
            </a:r>
            <a:r>
              <a:rPr sz="1100" b="0" err="1">
                <a:solidFill>
                  <a:srgbClr val="FFFFFF"/>
                </a:solidFill>
                <a:latin typeface="Segoe"/>
              </a:rPr>
              <a:t>Cầu</a:t>
            </a:r>
            <a:r>
              <a:rPr sz="1100" b="0">
                <a:solidFill>
                  <a:srgbClr val="FFFFFF"/>
                </a:solidFill>
                <a:latin typeface="Segoe"/>
              </a:rPr>
              <a:t> </a:t>
            </a:r>
            <a:r>
              <a:rPr sz="1100" b="0" err="1">
                <a:solidFill>
                  <a:srgbClr val="FFFFFF"/>
                </a:solidFill>
                <a:latin typeface="Segoe"/>
              </a:rPr>
              <a:t>lông</a:t>
            </a:r>
            <a:r>
              <a:rPr sz="1100" b="0">
                <a:solidFill>
                  <a:srgbClr val="FFFFFF"/>
                </a:solidFill>
                <a:latin typeface="Segoe"/>
              </a:rPr>
              <a:t>, </a:t>
            </a:r>
            <a:r>
              <a:rPr sz="1100" b="0" err="1">
                <a:solidFill>
                  <a:srgbClr val="FFFFFF"/>
                </a:solidFill>
                <a:latin typeface="Segoe"/>
              </a:rPr>
              <a:t>chọn</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a:t>
            </a:r>
            <a:r>
              <a:rPr sz="1100" b="0" err="1">
                <a:solidFill>
                  <a:srgbClr val="FFFFFF"/>
                </a:solidFill>
                <a:latin typeface="Segoe"/>
              </a:rPr>
              <a:t>ngày</a:t>
            </a:r>
            <a:r>
              <a:rPr sz="1100" b="0">
                <a:solidFill>
                  <a:srgbClr val="FFFFFF"/>
                </a:solidFill>
                <a:latin typeface="Segoe"/>
              </a:rPr>
              <a:t>/</a:t>
            </a:r>
            <a:r>
              <a:rPr sz="1100" b="0" err="1">
                <a:solidFill>
                  <a:srgbClr val="FFFFFF"/>
                </a:solidFill>
                <a:latin typeface="Segoe"/>
              </a:rPr>
              <a:t>giờ</a:t>
            </a:r>
            <a:r>
              <a:rPr sz="1100" b="0">
                <a:solidFill>
                  <a:srgbClr val="FFFFFF"/>
                </a:solidFill>
                <a:latin typeface="Segoe"/>
              </a:rPr>
              <a:t>, </a:t>
            </a:r>
            <a:r>
              <a:rPr sz="1100" b="0" err="1">
                <a:solidFill>
                  <a:srgbClr val="FFFFFF"/>
                </a:solidFill>
                <a:latin typeface="Segoe"/>
              </a:rPr>
              <a:t>thêm</a:t>
            </a:r>
            <a:r>
              <a:rPr sz="1100" b="0">
                <a:solidFill>
                  <a:srgbClr val="FFFFFF"/>
                </a:solidFill>
                <a:latin typeface="Segoe"/>
              </a:rPr>
              <a:t> </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xác</a:t>
            </a:r>
            <a:r>
              <a:rPr sz="1100" b="0">
                <a:solidFill>
                  <a:srgbClr val="FFFFFF"/>
                </a:solidFill>
                <a:latin typeface="Segoe"/>
              </a:rPr>
              <a:t> </a:t>
            </a:r>
            <a:r>
              <a:rPr sz="1100" b="0" err="1">
                <a:solidFill>
                  <a:srgbClr val="FFFFFF"/>
                </a:solidFill>
                <a:latin typeface="Segoe"/>
              </a:rPr>
              <a:t>nhận</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a:t>
            </a:r>
          </a:p>
        </p:txBody>
      </p:sp>
      <p:sp>
        <p:nvSpPr>
          <p:cNvPr id="7" name="Text 5"/>
          <p:cNvSpPr/>
          <p:nvPr/>
        </p:nvSpPr>
        <p:spPr>
          <a:xfrm>
            <a:off x="4389120" y="1051560"/>
            <a:ext cx="3429000" cy="141732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Quản</a:t>
            </a:r>
            <a:r>
              <a:rPr sz="1100" b="1">
                <a:solidFill>
                  <a:srgbClr val="00F5C6"/>
                </a:solidFill>
                <a:latin typeface="Segoe"/>
              </a:rPr>
              <a:t> </a:t>
            </a:r>
            <a:r>
              <a:rPr sz="1100" b="1" err="1">
                <a:solidFill>
                  <a:srgbClr val="00F5C6"/>
                </a:solidFill>
                <a:latin typeface="Segoe"/>
              </a:rPr>
              <a:t>trị</a:t>
            </a:r>
            <a:r>
              <a:rPr sz="1100" b="1">
                <a:solidFill>
                  <a:srgbClr val="00F5C6"/>
                </a:solidFill>
                <a:latin typeface="Segoe"/>
              </a:rPr>
              <a:t> </a:t>
            </a:r>
            <a:r>
              <a:rPr sz="1100" b="1" err="1">
                <a:solidFill>
                  <a:srgbClr val="00F5C6"/>
                </a:solidFill>
                <a:latin typeface="Segoe"/>
              </a:rPr>
              <a:t>viên</a:t>
            </a:r>
            <a:r>
              <a:rPr sz="1100" b="1">
                <a:solidFill>
                  <a:srgbClr val="00F5C6"/>
                </a:solidFill>
                <a:latin typeface="Segoe"/>
              </a:rPr>
              <a:t> (Web Admin)</a:t>
            </a:r>
            <a:endParaRPr lang="en-US" sz="1100">
              <a:latin typeface="Segoe"/>
            </a:endParaRPr>
          </a:p>
          <a:p>
            <a:pPr>
              <a:spcBef>
                <a:spcPts val="0"/>
              </a:spcBef>
              <a:spcAft>
                <a:spcPts val="0"/>
              </a:spcAft>
            </a:pPr>
            <a:r>
              <a:rPr sz="1100" b="0" err="1">
                <a:solidFill>
                  <a:srgbClr val="FFFFFF"/>
                </a:solidFill>
                <a:latin typeface="Segoe"/>
              </a:rPr>
              <a:t>Đăng</a:t>
            </a:r>
            <a:r>
              <a:rPr sz="1100" b="0">
                <a:solidFill>
                  <a:srgbClr val="FFFFFF"/>
                </a:solidFill>
                <a:latin typeface="Segoe"/>
              </a:rPr>
              <a:t> </a:t>
            </a:r>
            <a:r>
              <a:rPr sz="1100" b="0" err="1">
                <a:solidFill>
                  <a:srgbClr val="FFFFFF"/>
                </a:solidFill>
                <a:latin typeface="Segoe"/>
              </a:rPr>
              <a:t>nhập</a:t>
            </a:r>
            <a:r>
              <a:rPr sz="1100" b="0">
                <a:solidFill>
                  <a:srgbClr val="FFFFFF"/>
                </a:solidFill>
                <a:latin typeface="Segoe"/>
              </a:rPr>
              <a:t> </a:t>
            </a:r>
            <a:r>
              <a:rPr sz="1100" b="0" err="1">
                <a:solidFill>
                  <a:srgbClr val="FFFFFF"/>
                </a:solidFill>
                <a:latin typeface="Segoe"/>
              </a:rPr>
              <a:t>hệ</a:t>
            </a:r>
            <a:r>
              <a:rPr sz="1100" b="0">
                <a:solidFill>
                  <a:srgbClr val="FFFFFF"/>
                </a:solidFill>
                <a:latin typeface="Segoe"/>
              </a:rPr>
              <a:t> </a:t>
            </a:r>
            <a:r>
              <a:rPr sz="1100" b="0" err="1">
                <a:solidFill>
                  <a:srgbClr val="FFFFFF"/>
                </a:solidFill>
                <a:latin typeface="Segoe"/>
              </a:rPr>
              <a:t>thống</a:t>
            </a:r>
            <a:r>
              <a:rPr sz="1100" b="0">
                <a:solidFill>
                  <a:srgbClr val="FFFFFF"/>
                </a:solidFill>
                <a:latin typeface="Segoe"/>
              </a:rPr>
              <a:t>, </a:t>
            </a:r>
            <a:r>
              <a:rPr sz="1100" b="0" err="1">
                <a:solidFill>
                  <a:srgbClr val="FFFFFF"/>
                </a:solidFill>
                <a:latin typeface="Segoe"/>
              </a:rPr>
              <a:t>quản</a:t>
            </a:r>
            <a:r>
              <a:rPr sz="1100" b="0">
                <a:solidFill>
                  <a:srgbClr val="FFFFFF"/>
                </a:solidFill>
                <a:latin typeface="Segoe"/>
              </a:rPr>
              <a:t> </a:t>
            </a:r>
            <a:r>
              <a:rPr sz="1100" b="0" err="1">
                <a:solidFill>
                  <a:srgbClr val="FFFFFF"/>
                </a:solidFill>
                <a:latin typeface="Segoe"/>
              </a:rPr>
              <a:t>lý</a:t>
            </a:r>
            <a:r>
              <a:rPr sz="1100" b="0">
                <a:solidFill>
                  <a:srgbClr val="FFFFFF"/>
                </a:solidFill>
                <a:latin typeface="Segoe"/>
              </a:rPr>
              <a:t> </a:t>
            </a:r>
            <a:r>
              <a:rPr sz="1100" b="0" err="1">
                <a:solidFill>
                  <a:srgbClr val="FFFFFF"/>
                </a:solidFill>
                <a:latin typeface="Segoe"/>
              </a:rPr>
              <a:t>lịch</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đơn</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a:t>
            </a:r>
            <a:r>
              <a:rPr sz="1100" b="0" err="1">
                <a:solidFill>
                  <a:srgbClr val="FFFFFF"/>
                </a:solidFill>
                <a:latin typeface="Segoe"/>
              </a:rPr>
              <a:t>thống</a:t>
            </a:r>
            <a:r>
              <a:rPr sz="1100" b="0">
                <a:solidFill>
                  <a:srgbClr val="FFFFFF"/>
                </a:solidFill>
                <a:latin typeface="Segoe"/>
              </a:rPr>
              <a:t> </a:t>
            </a:r>
            <a:r>
              <a:rPr sz="1100" b="0" err="1">
                <a:solidFill>
                  <a:srgbClr val="FFFFFF"/>
                </a:solidFill>
                <a:latin typeface="Segoe"/>
              </a:rPr>
              <a:t>kê</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xử</a:t>
            </a:r>
            <a:r>
              <a:rPr sz="1100" b="0">
                <a:solidFill>
                  <a:srgbClr val="FFFFFF"/>
                </a:solidFill>
                <a:latin typeface="Segoe"/>
              </a:rPr>
              <a:t> </a:t>
            </a:r>
            <a:r>
              <a:rPr sz="1100" b="0" err="1">
                <a:solidFill>
                  <a:srgbClr val="FFFFFF"/>
                </a:solidFill>
                <a:latin typeface="Segoe"/>
              </a:rPr>
              <a:t>lý</a:t>
            </a:r>
            <a:r>
              <a:rPr sz="1100" b="0">
                <a:solidFill>
                  <a:srgbClr val="FFFFFF"/>
                </a:solidFill>
                <a:latin typeface="Segoe"/>
              </a:rPr>
              <a:t> </a:t>
            </a:r>
            <a:r>
              <a:rPr sz="1100" b="0" err="1">
                <a:solidFill>
                  <a:srgbClr val="FFFFFF"/>
                </a:solidFill>
                <a:latin typeface="Segoe"/>
              </a:rPr>
              <a:t>trạng</a:t>
            </a:r>
            <a:r>
              <a:rPr sz="1100" b="0">
                <a:solidFill>
                  <a:srgbClr val="FFFFFF"/>
                </a:solidFill>
                <a:latin typeface="Segoe"/>
              </a:rPr>
              <a:t> </a:t>
            </a:r>
            <a:r>
              <a:rPr sz="1100" b="0" err="1">
                <a:solidFill>
                  <a:srgbClr val="FFFFFF"/>
                </a:solidFill>
                <a:latin typeface="Segoe"/>
              </a:rPr>
              <a:t>thái</a:t>
            </a:r>
            <a:r>
              <a:rPr sz="1100" b="0">
                <a:solidFill>
                  <a:srgbClr val="FFFFFF"/>
                </a:solidFill>
                <a:latin typeface="Segoe"/>
              </a:rPr>
              <a:t> booking.</a:t>
            </a:r>
          </a:p>
        </p:txBody>
      </p:sp>
      <p:sp>
        <p:nvSpPr>
          <p:cNvPr id="8" name="Text 6"/>
          <p:cNvSpPr/>
          <p:nvPr/>
        </p:nvSpPr>
        <p:spPr>
          <a:xfrm>
            <a:off x="8092440" y="1051560"/>
            <a:ext cx="3429000" cy="141732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a:solidFill>
                  <a:srgbClr val="00F5C6"/>
                </a:solidFill>
                <a:latin typeface="Segoe"/>
              </a:rPr>
              <a:t>AI Assistant</a:t>
            </a:r>
            <a:endParaRPr lang="en-US" sz="1100">
              <a:latin typeface="Segoe"/>
            </a:endParaRPr>
          </a:p>
          <a:p>
            <a:pPr>
              <a:spcBef>
                <a:spcPts val="0"/>
              </a:spcBef>
              <a:spcAft>
                <a:spcPts val="0"/>
              </a:spcAft>
            </a:pPr>
            <a:r>
              <a:rPr sz="1100" b="0" err="1">
                <a:solidFill>
                  <a:srgbClr val="FFFFFF"/>
                </a:solidFill>
                <a:latin typeface="Segoe"/>
              </a:rPr>
              <a:t>Tư</a:t>
            </a:r>
            <a:r>
              <a:rPr sz="1100" b="0">
                <a:solidFill>
                  <a:srgbClr val="FFFFFF"/>
                </a:solidFill>
                <a:latin typeface="Segoe"/>
              </a:rPr>
              <a:t> </a:t>
            </a:r>
            <a:r>
              <a:rPr sz="1100" b="0" err="1">
                <a:solidFill>
                  <a:srgbClr val="FFFFFF"/>
                </a:solidFill>
                <a:latin typeface="Segoe"/>
              </a:rPr>
              <a:t>vấn</a:t>
            </a:r>
            <a:r>
              <a:rPr sz="1100" b="0">
                <a:solidFill>
                  <a:srgbClr val="FFFFFF"/>
                </a:solidFill>
                <a:latin typeface="Segoe"/>
              </a:rPr>
              <a:t> </a:t>
            </a:r>
            <a:r>
              <a:rPr sz="1100" b="0" err="1">
                <a:solidFill>
                  <a:srgbClr val="FFFFFF"/>
                </a:solidFill>
                <a:latin typeface="Segoe"/>
              </a:rPr>
              <a:t>bằng</a:t>
            </a:r>
            <a:r>
              <a:rPr sz="1100" b="0">
                <a:solidFill>
                  <a:srgbClr val="FFFFFF"/>
                </a:solidFill>
                <a:latin typeface="Segoe"/>
              </a:rPr>
              <a:t> </a:t>
            </a:r>
            <a:r>
              <a:rPr sz="1100" b="0" err="1">
                <a:solidFill>
                  <a:srgbClr val="FFFFFF"/>
                </a:solidFill>
                <a:latin typeface="Segoe"/>
              </a:rPr>
              <a:t>tiếng</a:t>
            </a:r>
            <a:r>
              <a:rPr sz="1100" b="0">
                <a:solidFill>
                  <a:srgbClr val="FFFFFF"/>
                </a:solidFill>
                <a:latin typeface="Segoe"/>
              </a:rPr>
              <a:t> </a:t>
            </a:r>
            <a:r>
              <a:rPr sz="1100" b="0" err="1">
                <a:solidFill>
                  <a:srgbClr val="FFFFFF"/>
                </a:solidFill>
                <a:latin typeface="Segoe"/>
              </a:rPr>
              <a:t>Việt</a:t>
            </a:r>
            <a:r>
              <a:rPr sz="1100" b="0">
                <a:solidFill>
                  <a:srgbClr val="FFFFFF"/>
                </a:solidFill>
                <a:latin typeface="Segoe"/>
              </a:rPr>
              <a:t>, </a:t>
            </a:r>
            <a:r>
              <a:rPr sz="1100" b="0" err="1">
                <a:solidFill>
                  <a:srgbClr val="FFFFFF"/>
                </a:solidFill>
                <a:latin typeface="Segoe"/>
              </a:rPr>
              <a:t>hỏi</a:t>
            </a:r>
            <a:r>
              <a:rPr sz="1100" b="0">
                <a:solidFill>
                  <a:srgbClr val="FFFFFF"/>
                </a:solidFill>
                <a:latin typeface="Segoe"/>
              </a:rPr>
              <a:t> </a:t>
            </a:r>
            <a:r>
              <a:rPr sz="1100" b="0" err="1">
                <a:solidFill>
                  <a:srgbClr val="FFFFFF"/>
                </a:solidFill>
                <a:latin typeface="Segoe"/>
              </a:rPr>
              <a:t>bổ</a:t>
            </a:r>
            <a:r>
              <a:rPr sz="1100" b="0">
                <a:solidFill>
                  <a:srgbClr val="FFFFFF"/>
                </a:solidFill>
                <a:latin typeface="Segoe"/>
              </a:rPr>
              <a:t> sung </a:t>
            </a:r>
            <a:r>
              <a:rPr sz="1100" b="0" err="1">
                <a:solidFill>
                  <a:srgbClr val="FFFFFF"/>
                </a:solidFill>
                <a:latin typeface="Segoe"/>
              </a:rPr>
              <a:t>thông</a:t>
            </a:r>
            <a:r>
              <a:rPr sz="1100" b="0">
                <a:solidFill>
                  <a:srgbClr val="FFFFFF"/>
                </a:solidFill>
                <a:latin typeface="Segoe"/>
              </a:rPr>
              <a:t> tin, </a:t>
            </a:r>
            <a:r>
              <a:rPr sz="1100" b="0" err="1">
                <a:solidFill>
                  <a:srgbClr val="FFFFFF"/>
                </a:solidFill>
                <a:latin typeface="Segoe"/>
              </a:rPr>
              <a:t>gợi</a:t>
            </a:r>
            <a:r>
              <a:rPr sz="1100" b="0">
                <a:solidFill>
                  <a:srgbClr val="FFFFFF"/>
                </a:solidFill>
                <a:latin typeface="Segoe"/>
              </a:rPr>
              <a:t> ý </a:t>
            </a:r>
            <a:r>
              <a:rPr sz="1100" b="0" err="1">
                <a:solidFill>
                  <a:srgbClr val="FFFFFF"/>
                </a:solidFill>
                <a:latin typeface="Segoe"/>
              </a:rPr>
              <a:t>sân</a:t>
            </a:r>
            <a:r>
              <a:rPr sz="1100" b="0">
                <a:solidFill>
                  <a:srgbClr val="FFFFFF"/>
                </a:solidFill>
                <a:latin typeface="Segoe"/>
              </a:rPr>
              <a:t>/</a:t>
            </a:r>
            <a:r>
              <a:rPr sz="1100" b="0" err="1">
                <a:solidFill>
                  <a:srgbClr val="FFFFFF"/>
                </a:solidFill>
                <a:latin typeface="Segoe"/>
              </a:rPr>
              <a:t>giờ</a:t>
            </a:r>
            <a:r>
              <a:rPr sz="1100" b="0">
                <a:solidFill>
                  <a:srgbClr val="FFFFFF"/>
                </a:solidFill>
                <a:latin typeface="Segoe"/>
              </a:rPr>
              <a:t> </a:t>
            </a:r>
            <a:r>
              <a:rPr sz="1100" b="0" err="1">
                <a:solidFill>
                  <a:srgbClr val="FFFFFF"/>
                </a:solidFill>
                <a:latin typeface="Segoe"/>
              </a:rPr>
              <a:t>trống</a:t>
            </a:r>
            <a:r>
              <a:rPr sz="1100" b="0">
                <a:solidFill>
                  <a:srgbClr val="FFFFFF"/>
                </a:solidFill>
                <a:latin typeface="Segoe"/>
              </a:rPr>
              <a:t>, </a:t>
            </a:r>
            <a:r>
              <a:rPr sz="1100" b="0" err="1">
                <a:solidFill>
                  <a:srgbClr val="FFFFFF"/>
                </a:solidFill>
                <a:latin typeface="Segoe"/>
              </a:rPr>
              <a:t>chống</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trùng</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hỗ</a:t>
            </a:r>
            <a:r>
              <a:rPr sz="1100" b="0">
                <a:solidFill>
                  <a:srgbClr val="FFFFFF"/>
                </a:solidFill>
                <a:latin typeface="Segoe"/>
              </a:rPr>
              <a:t> </a:t>
            </a:r>
            <a:r>
              <a:rPr sz="1100" b="0" err="1">
                <a:solidFill>
                  <a:srgbClr val="FFFFFF"/>
                </a:solidFill>
                <a:latin typeface="Segoe"/>
              </a:rPr>
              <a:t>trợ</a:t>
            </a:r>
            <a:r>
              <a:rPr sz="1100" b="0">
                <a:solidFill>
                  <a:srgbClr val="FFFFFF"/>
                </a:solidFill>
                <a:latin typeface="Segoe"/>
              </a:rPr>
              <a:t> </a:t>
            </a:r>
            <a:r>
              <a:rPr sz="1100" b="0" err="1">
                <a:solidFill>
                  <a:srgbClr val="FFFFFF"/>
                </a:solidFill>
                <a:latin typeface="Segoe"/>
              </a:rPr>
              <a:t>xác</a:t>
            </a:r>
            <a:r>
              <a:rPr sz="1100" b="0">
                <a:solidFill>
                  <a:srgbClr val="FFFFFF"/>
                </a:solidFill>
                <a:latin typeface="Segoe"/>
              </a:rPr>
              <a:t> </a:t>
            </a:r>
            <a:r>
              <a:rPr sz="1100" b="0" err="1">
                <a:solidFill>
                  <a:srgbClr val="FFFFFF"/>
                </a:solidFill>
                <a:latin typeface="Segoe"/>
              </a:rPr>
              <a:t>nhận</a:t>
            </a:r>
            <a:r>
              <a:rPr sz="1100" b="0">
                <a:solidFill>
                  <a:srgbClr val="FFFFFF"/>
                </a:solidFill>
                <a:latin typeface="Segoe"/>
              </a:rPr>
              <a:t> booking.</a:t>
            </a:r>
          </a:p>
        </p:txBody>
      </p:sp>
      <p:sp>
        <p:nvSpPr>
          <p:cNvPr id="10" name="Text 7"/>
          <p:cNvSpPr/>
          <p:nvPr/>
        </p:nvSpPr>
        <p:spPr>
          <a:xfrm>
            <a:off x="6400800" y="2971800"/>
            <a:ext cx="5120640" cy="2514600"/>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Yêu</a:t>
            </a:r>
            <a:r>
              <a:rPr sz="1100" b="1">
                <a:solidFill>
                  <a:srgbClr val="00F5C6"/>
                </a:solidFill>
                <a:latin typeface="Segoe"/>
              </a:rPr>
              <a:t> </a:t>
            </a:r>
            <a:r>
              <a:rPr sz="1100" b="1" err="1">
                <a:solidFill>
                  <a:srgbClr val="00F5C6"/>
                </a:solidFill>
                <a:latin typeface="Segoe"/>
              </a:rPr>
              <a:t>cầu</a:t>
            </a:r>
            <a:r>
              <a:rPr sz="1100" b="1">
                <a:solidFill>
                  <a:srgbClr val="00F5C6"/>
                </a:solidFill>
                <a:latin typeface="Segoe"/>
              </a:rPr>
              <a:t> </a:t>
            </a:r>
            <a:r>
              <a:rPr sz="1100" b="1" err="1">
                <a:solidFill>
                  <a:srgbClr val="00F5C6"/>
                </a:solidFill>
                <a:latin typeface="Segoe"/>
              </a:rPr>
              <a:t>chính</a:t>
            </a:r>
            <a:endParaRPr lang="en-US" sz="1100">
              <a:latin typeface="Segoe"/>
            </a:endParaRPr>
          </a:p>
          <a:p>
            <a:pPr>
              <a:spcBef>
                <a:spcPts val="0"/>
              </a:spcBef>
              <a:spcAft>
                <a:spcPts val="0"/>
              </a:spcAft>
            </a:pP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thủ</a:t>
            </a:r>
            <a:r>
              <a:rPr sz="1100" b="0">
                <a:solidFill>
                  <a:srgbClr val="FFFFFF"/>
                </a:solidFill>
                <a:latin typeface="Segoe"/>
              </a:rPr>
              <a:t> </a:t>
            </a:r>
            <a:r>
              <a:rPr sz="1100" b="0" err="1">
                <a:solidFill>
                  <a:srgbClr val="FFFFFF"/>
                </a:solidFill>
                <a:latin typeface="Segoe"/>
              </a:rPr>
              <a:t>công</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qua AI
• Validation </a:t>
            </a:r>
            <a:r>
              <a:rPr sz="1100" b="0" err="1">
                <a:solidFill>
                  <a:srgbClr val="FFFFFF"/>
                </a:solidFill>
                <a:latin typeface="Segoe"/>
              </a:rPr>
              <a:t>thông</a:t>
            </a:r>
            <a:r>
              <a:rPr sz="1100" b="0">
                <a:solidFill>
                  <a:srgbClr val="FFFFFF"/>
                </a:solidFill>
                <a:latin typeface="Segoe"/>
              </a:rPr>
              <a:t> tin </a:t>
            </a:r>
            <a:r>
              <a:rPr sz="1100" b="0" err="1">
                <a:solidFill>
                  <a:srgbClr val="FFFFFF"/>
                </a:solidFill>
                <a:latin typeface="Segoe"/>
              </a:rPr>
              <a:t>khách</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 </a:t>
            </a:r>
            <a:r>
              <a:rPr sz="1100" b="0" err="1">
                <a:solidFill>
                  <a:srgbClr val="FFFFFF"/>
                </a:solidFill>
                <a:latin typeface="Segoe"/>
              </a:rPr>
              <a:t>Khóa</a:t>
            </a:r>
            <a:r>
              <a:rPr sz="1100" b="0">
                <a:solidFill>
                  <a:srgbClr val="FFFFFF"/>
                </a:solidFill>
                <a:latin typeface="Segoe"/>
              </a:rPr>
              <a:t> </a:t>
            </a:r>
            <a:r>
              <a:rPr sz="1100" b="0" err="1">
                <a:solidFill>
                  <a:srgbClr val="FFFFFF"/>
                </a:solidFill>
                <a:latin typeface="Segoe"/>
              </a:rPr>
              <a:t>khung</a:t>
            </a:r>
            <a:r>
              <a:rPr sz="1100" b="0">
                <a:solidFill>
                  <a:srgbClr val="FFFFFF"/>
                </a:solidFill>
                <a:latin typeface="Segoe"/>
              </a:rPr>
              <a:t> </a:t>
            </a:r>
            <a:r>
              <a:rPr sz="1100" b="0" err="1">
                <a:solidFill>
                  <a:srgbClr val="FFFFFF"/>
                </a:solidFill>
                <a:latin typeface="Segoe"/>
              </a:rPr>
              <a:t>giờ</a:t>
            </a:r>
            <a:r>
              <a:rPr sz="1100" b="0">
                <a:solidFill>
                  <a:srgbClr val="FFFFFF"/>
                </a:solidFill>
                <a:latin typeface="Segoe"/>
              </a:rPr>
              <a:t> </a:t>
            </a:r>
            <a:r>
              <a:rPr sz="1100" b="0" err="1">
                <a:solidFill>
                  <a:srgbClr val="FFFFFF"/>
                </a:solidFill>
                <a:latin typeface="Segoe"/>
              </a:rPr>
              <a:t>đã</a:t>
            </a:r>
            <a:r>
              <a:rPr sz="1100" b="0">
                <a:solidFill>
                  <a:srgbClr val="FFFFFF"/>
                </a:solidFill>
                <a:latin typeface="Segoe"/>
              </a:rPr>
              <a:t> qua/</a:t>
            </a:r>
            <a:r>
              <a:rPr sz="1100" b="0" err="1">
                <a:solidFill>
                  <a:srgbClr val="FFFFFF"/>
                </a:solidFill>
                <a:latin typeface="Segoe"/>
              </a:rPr>
              <a:t>đã</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 </a:t>
            </a:r>
            <a:r>
              <a:rPr sz="1100" b="0" err="1">
                <a:solidFill>
                  <a:srgbClr val="FFFFFF"/>
                </a:solidFill>
                <a:latin typeface="Segoe"/>
              </a:rPr>
              <a:t>Đồng</a:t>
            </a:r>
            <a:r>
              <a:rPr sz="1100" b="0">
                <a:solidFill>
                  <a:srgbClr val="FFFFFF"/>
                </a:solidFill>
                <a:latin typeface="Segoe"/>
              </a:rPr>
              <a:t> </a:t>
            </a:r>
            <a:r>
              <a:rPr sz="1100" b="0" err="1">
                <a:solidFill>
                  <a:srgbClr val="FFFFFF"/>
                </a:solidFill>
                <a:latin typeface="Segoe"/>
              </a:rPr>
              <a:t>bộ</a:t>
            </a:r>
            <a:r>
              <a:rPr sz="1100" b="0">
                <a:solidFill>
                  <a:srgbClr val="FFFFFF"/>
                </a:solidFill>
                <a:latin typeface="Segoe"/>
              </a:rPr>
              <a:t> </a:t>
            </a:r>
            <a:r>
              <a:rPr sz="1100" b="0" err="1">
                <a:solidFill>
                  <a:srgbClr val="FFFFFF"/>
                </a:solidFill>
                <a:latin typeface="Segoe"/>
              </a:rPr>
              <a:t>dữ</a:t>
            </a:r>
            <a:r>
              <a:rPr sz="1100" b="0">
                <a:solidFill>
                  <a:srgbClr val="FFFFFF"/>
                </a:solidFill>
                <a:latin typeface="Segoe"/>
              </a:rPr>
              <a:t> </a:t>
            </a:r>
            <a:r>
              <a:rPr sz="1100" b="0" err="1">
                <a:solidFill>
                  <a:srgbClr val="FFFFFF"/>
                </a:solidFill>
                <a:latin typeface="Segoe"/>
              </a:rPr>
              <a:t>liệu</a:t>
            </a:r>
            <a:r>
              <a:rPr sz="1100" b="0">
                <a:solidFill>
                  <a:srgbClr val="FFFFFF"/>
                </a:solidFill>
                <a:latin typeface="Segoe"/>
              </a:rPr>
              <a:t> Client ↔ Admin
• </a:t>
            </a:r>
            <a:r>
              <a:rPr sz="1100" b="0" err="1">
                <a:solidFill>
                  <a:srgbClr val="FFFFFF"/>
                </a:solidFill>
                <a:latin typeface="Segoe"/>
              </a:rPr>
              <a:t>Xác</a:t>
            </a:r>
            <a:r>
              <a:rPr sz="1100" b="0">
                <a:solidFill>
                  <a:srgbClr val="FFFFFF"/>
                </a:solidFill>
                <a:latin typeface="Segoe"/>
              </a:rPr>
              <a:t> </a:t>
            </a:r>
            <a:r>
              <a:rPr sz="1100" b="0" err="1">
                <a:solidFill>
                  <a:srgbClr val="FFFFFF"/>
                </a:solidFill>
                <a:latin typeface="Segoe"/>
              </a:rPr>
              <a:t>thực</a:t>
            </a:r>
            <a:r>
              <a:rPr sz="1100" b="0">
                <a:solidFill>
                  <a:srgbClr val="FFFFFF"/>
                </a:solidFill>
                <a:latin typeface="Segoe"/>
              </a:rPr>
              <a:t> </a:t>
            </a:r>
            <a:r>
              <a:rPr sz="1100" b="0" err="1">
                <a:solidFill>
                  <a:srgbClr val="FFFFFF"/>
                </a:solidFill>
                <a:latin typeface="Segoe"/>
              </a:rPr>
              <a:t>quản</a:t>
            </a:r>
            <a:r>
              <a:rPr sz="1100" b="0">
                <a:solidFill>
                  <a:srgbClr val="FFFFFF"/>
                </a:solidFill>
                <a:latin typeface="Segoe"/>
              </a:rPr>
              <a:t> </a:t>
            </a:r>
            <a:r>
              <a:rPr sz="1100" b="0" err="1">
                <a:solidFill>
                  <a:srgbClr val="FFFFFF"/>
                </a:solidFill>
                <a:latin typeface="Segoe"/>
              </a:rPr>
              <a:t>trị</a:t>
            </a:r>
            <a:r>
              <a:rPr sz="1100" b="0">
                <a:solidFill>
                  <a:srgbClr val="FFFFFF"/>
                </a:solidFill>
                <a:latin typeface="Segoe"/>
              </a:rPr>
              <a:t>, </a:t>
            </a:r>
            <a:r>
              <a:rPr sz="1100" b="0" err="1">
                <a:solidFill>
                  <a:srgbClr val="FFFFFF"/>
                </a:solidFill>
                <a:latin typeface="Segoe"/>
              </a:rPr>
              <a:t>thống</a:t>
            </a:r>
            <a:r>
              <a:rPr sz="1100" b="0">
                <a:solidFill>
                  <a:srgbClr val="FFFFFF"/>
                </a:solidFill>
                <a:latin typeface="Segoe"/>
              </a:rPr>
              <a:t> </a:t>
            </a:r>
            <a:r>
              <a:rPr sz="1100" b="0" err="1">
                <a:solidFill>
                  <a:srgbClr val="FFFFFF"/>
                </a:solidFill>
                <a:latin typeface="Segoe"/>
              </a:rPr>
              <a:t>kê</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quản</a:t>
            </a:r>
            <a:r>
              <a:rPr sz="1100" b="0">
                <a:solidFill>
                  <a:srgbClr val="FFFFFF"/>
                </a:solidFill>
                <a:latin typeface="Segoe"/>
              </a:rPr>
              <a:t> </a:t>
            </a:r>
            <a:r>
              <a:rPr sz="1100" b="0" err="1">
                <a:solidFill>
                  <a:srgbClr val="FFFFFF"/>
                </a:solidFill>
                <a:latin typeface="Segoe"/>
              </a:rPr>
              <a:t>lý</a:t>
            </a:r>
            <a:r>
              <a:rPr sz="1100" b="0">
                <a:solidFill>
                  <a:srgbClr val="FFFFFF"/>
                </a:solidFill>
                <a:latin typeface="Segoe"/>
              </a:rPr>
              <a:t> </a:t>
            </a:r>
            <a:r>
              <a:rPr sz="1100" b="0" err="1">
                <a:solidFill>
                  <a:srgbClr val="FFFFFF"/>
                </a:solidFill>
                <a:latin typeface="Segoe"/>
              </a:rPr>
              <a:t>vận</a:t>
            </a:r>
            <a:r>
              <a:rPr sz="1100" b="0">
                <a:solidFill>
                  <a:srgbClr val="FFFFFF"/>
                </a:solidFill>
                <a:latin typeface="Segoe"/>
              </a:rPr>
              <a:t> </a:t>
            </a:r>
            <a:r>
              <a:rPr sz="1100" b="0" err="1">
                <a:solidFill>
                  <a:srgbClr val="FFFFFF"/>
                </a:solidFill>
                <a:latin typeface="Segoe"/>
              </a:rPr>
              <a:t>hành</a:t>
            </a:r>
            <a:endParaRPr sz="1100" b="0">
              <a:solidFill>
                <a:srgbClr val="FFFFFF"/>
              </a:solidFill>
              <a:latin typeface="Segoe"/>
            </a:endParaRPr>
          </a:p>
        </p:txBody>
      </p:sp>
      <p:pic>
        <p:nvPicPr>
          <p:cNvPr id="11" name="Picture 10" descr="uit_symbol_only.png"/>
          <p:cNvPicPr>
            <a:picLocks noChangeAspect="1"/>
          </p:cNvPicPr>
          <p:nvPr/>
        </p:nvPicPr>
        <p:blipFill>
          <a:blip r:embed="rId3"/>
          <a:stretch>
            <a:fillRect/>
          </a:stretch>
        </p:blipFill>
        <p:spPr>
          <a:xfrm>
            <a:off x="100584" y="91440"/>
            <a:ext cx="420261" cy="310896"/>
          </a:xfrm>
          <a:prstGeom prst="rect">
            <a:avLst/>
          </a:prstGeom>
        </p:spPr>
      </p:pic>
      <p:pic>
        <p:nvPicPr>
          <p:cNvPr id="12" name="Picture 11" descr="image.png"/>
          <p:cNvPicPr>
            <a:picLocks noChangeAspect="1"/>
          </p:cNvPicPr>
          <p:nvPr/>
        </p:nvPicPr>
        <p:blipFill>
          <a:blip r:embed="rId4"/>
          <a:stretch>
            <a:fillRect/>
          </a:stretch>
        </p:blipFill>
        <p:spPr>
          <a:xfrm>
            <a:off x="10195560" y="91440"/>
            <a:ext cx="1783080" cy="594360"/>
          </a:xfrm>
          <a:prstGeom prst="rect">
            <a:avLst/>
          </a:prstGeom>
        </p:spPr>
      </p:pic>
      <p:pic>
        <p:nvPicPr>
          <p:cNvPr id="13" name="Picture 12">
            <a:extLst>
              <a:ext uri="{FF2B5EF4-FFF2-40B4-BE49-F238E27FC236}">
                <a16:creationId xmlns:a16="http://schemas.microsoft.com/office/drawing/2014/main" id="{876FCB72-976E-4B9C-9BCB-D5E318276C45}"/>
              </a:ext>
            </a:extLst>
          </p:cNvPr>
          <p:cNvPicPr>
            <a:picLocks noChangeAspect="1"/>
          </p:cNvPicPr>
          <p:nvPr/>
        </p:nvPicPr>
        <p:blipFill>
          <a:blip r:embed="rId5"/>
          <a:stretch>
            <a:fillRect/>
          </a:stretch>
        </p:blipFill>
        <p:spPr>
          <a:xfrm>
            <a:off x="685800" y="2966622"/>
            <a:ext cx="5133807" cy="2514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pPr marL="0" indent="0">
              <a:buNone/>
            </a:pPr>
            <a:r>
              <a:rPr lang="en-US" sz="2400" b="1">
                <a:solidFill>
                  <a:srgbClr val="FFFFFF"/>
                </a:solidFill>
              </a:rPr>
              <a:t>KIẾN TRÚC TỔNG THỂ &amp; LUỒNG DỮ LIỆU</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13806"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04</a:t>
            </a:r>
            <a:endParaRPr lang="en-US" sz="850"/>
          </a:p>
        </p:txBody>
      </p:sp>
      <p:sp>
        <p:nvSpPr>
          <p:cNvPr id="6" name="Shape 4"/>
          <p:cNvSpPr/>
          <p:nvPr/>
        </p:nvSpPr>
        <p:spPr>
          <a:xfrm>
            <a:off x="3244957" y="2743200"/>
            <a:ext cx="1234440" cy="0"/>
          </a:xfrm>
          <a:prstGeom prst="line">
            <a:avLst/>
          </a:prstGeom>
          <a:noFill/>
          <a:ln w="38100">
            <a:solidFill>
              <a:srgbClr val="F3C04E"/>
            </a:solidFill>
            <a:prstDash val="solid"/>
            <a:tailEnd type="triangle"/>
          </a:ln>
        </p:spPr>
        <p:txBody>
          <a:bodyPr/>
          <a:lstStyle/>
          <a:p>
            <a:endParaRPr/>
          </a:p>
        </p:txBody>
      </p:sp>
      <p:sp>
        <p:nvSpPr>
          <p:cNvPr id="7" name="Shape 5"/>
          <p:cNvSpPr/>
          <p:nvPr/>
        </p:nvSpPr>
        <p:spPr>
          <a:xfrm>
            <a:off x="7593030" y="2743200"/>
            <a:ext cx="1097280" cy="0"/>
          </a:xfrm>
          <a:prstGeom prst="line">
            <a:avLst/>
          </a:prstGeom>
          <a:noFill/>
          <a:ln w="38100">
            <a:solidFill>
              <a:srgbClr val="F3C04E"/>
            </a:solidFill>
            <a:prstDash val="solid"/>
            <a:tailEnd type="triangle"/>
          </a:ln>
        </p:spPr>
        <p:txBody>
          <a:bodyPr/>
          <a:lstStyle/>
          <a:p>
            <a:endParaRPr/>
          </a:p>
        </p:txBody>
      </p:sp>
      <p:sp>
        <p:nvSpPr>
          <p:cNvPr id="8" name="Shape 6"/>
          <p:cNvSpPr/>
          <p:nvPr/>
        </p:nvSpPr>
        <p:spPr>
          <a:xfrm>
            <a:off x="6096000" y="3703320"/>
            <a:ext cx="0" cy="464234"/>
          </a:xfrm>
          <a:prstGeom prst="line">
            <a:avLst/>
          </a:prstGeom>
          <a:noFill/>
          <a:ln w="38100">
            <a:solidFill>
              <a:srgbClr val="F3C04E"/>
            </a:solidFill>
            <a:prstDash val="solid"/>
            <a:tailEnd type="triangle"/>
          </a:ln>
        </p:spPr>
        <p:txBody>
          <a:bodyPr/>
          <a:lstStyle/>
          <a:p>
            <a:endParaRPr/>
          </a:p>
        </p:txBody>
      </p:sp>
      <p:sp>
        <p:nvSpPr>
          <p:cNvPr id="9" name="Text 7"/>
          <p:cNvSpPr/>
          <p:nvPr/>
        </p:nvSpPr>
        <p:spPr>
          <a:xfrm>
            <a:off x="685800" y="1920240"/>
            <a:ext cx="2468880" cy="160020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Frontend
</a:t>
            </a:r>
            <a:r>
              <a:rPr lang="en-US" sz="1100">
                <a:solidFill>
                  <a:srgbClr val="E9F4FF"/>
                </a:solidFill>
                <a:latin typeface="Segoe"/>
              </a:rPr>
              <a:t>HTML5 + CSS3 + JavaScript</a:t>
            </a:r>
            <a:endParaRPr lang="en-US" sz="1100">
              <a:latin typeface="Segoe"/>
            </a:endParaRPr>
          </a:p>
          <a:p>
            <a:r>
              <a:rPr lang="en-US" sz="1100">
                <a:solidFill>
                  <a:srgbClr val="E9F4FF"/>
                </a:solidFill>
                <a:latin typeface="Segoe"/>
              </a:rPr>
              <a:t>Tailwind CSS + Font Awesome</a:t>
            </a:r>
          </a:p>
          <a:p>
            <a:r>
              <a:rPr lang="en-US" sz="1100">
                <a:solidFill>
                  <a:srgbClr val="E9F4FF"/>
                </a:solidFill>
                <a:latin typeface="Segoe"/>
              </a:rPr>
              <a:t>Fetch API </a:t>
            </a:r>
            <a:r>
              <a:rPr lang="en-US" sz="1100" err="1">
                <a:solidFill>
                  <a:srgbClr val="E9F4FF"/>
                </a:solidFill>
                <a:latin typeface="Segoe"/>
              </a:rPr>
              <a:t>gọi</a:t>
            </a:r>
            <a:r>
              <a:rPr lang="en-US" sz="1100">
                <a:solidFill>
                  <a:srgbClr val="E9F4FF"/>
                </a:solidFill>
                <a:latin typeface="Segoe"/>
              </a:rPr>
              <a:t> REST API</a:t>
            </a:r>
          </a:p>
          <a:p>
            <a:r>
              <a:rPr lang="en-US" sz="1100">
                <a:solidFill>
                  <a:srgbClr val="E9F4FF"/>
                </a:solidFill>
                <a:latin typeface="Segoe"/>
              </a:rPr>
              <a:t>Python </a:t>
            </a:r>
            <a:r>
              <a:rPr lang="en-US" sz="1100" err="1">
                <a:solidFill>
                  <a:srgbClr val="E9F4FF"/>
                </a:solidFill>
                <a:latin typeface="Segoe"/>
              </a:rPr>
              <a:t>http.server</a:t>
            </a:r>
            <a:r>
              <a:rPr lang="en-US" sz="1100">
                <a:solidFill>
                  <a:srgbClr val="E9F4FF"/>
                </a:solidFill>
                <a:latin typeface="Segoe"/>
              </a:rPr>
              <a:t> (local)</a:t>
            </a:r>
            <a:endParaRPr lang="en-US" sz="1100">
              <a:latin typeface="Segoe"/>
            </a:endParaRPr>
          </a:p>
        </p:txBody>
      </p:sp>
      <p:sp>
        <p:nvSpPr>
          <p:cNvPr id="10" name="Text 8"/>
          <p:cNvSpPr/>
          <p:nvPr/>
        </p:nvSpPr>
        <p:spPr>
          <a:xfrm>
            <a:off x="4579620" y="1920240"/>
            <a:ext cx="2834640" cy="160020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Backend API
</a:t>
            </a:r>
            <a:r>
              <a:rPr lang="en-US" sz="1100">
                <a:solidFill>
                  <a:srgbClr val="E9F4FF"/>
                </a:solidFill>
                <a:latin typeface="Segoe"/>
              </a:rPr>
              <a:t>Python + FastAPI</a:t>
            </a:r>
            <a:endParaRPr lang="en-US" sz="1100">
              <a:latin typeface="Segoe"/>
            </a:endParaRPr>
          </a:p>
          <a:p>
            <a:r>
              <a:rPr lang="en-US" sz="1100">
                <a:solidFill>
                  <a:srgbClr val="E9F4FF"/>
                </a:solidFill>
                <a:latin typeface="Segoe"/>
              </a:rPr>
              <a:t>REST API </a:t>
            </a:r>
            <a:r>
              <a:rPr lang="en-US" sz="1100" err="1">
                <a:solidFill>
                  <a:srgbClr val="E9F4FF"/>
                </a:solidFill>
                <a:latin typeface="Segoe"/>
              </a:rPr>
              <a:t>chạy</a:t>
            </a:r>
            <a:r>
              <a:rPr lang="en-US" sz="1100">
                <a:solidFill>
                  <a:srgbClr val="E9F4FF"/>
                </a:solidFill>
                <a:latin typeface="Segoe"/>
              </a:rPr>
              <a:t> </a:t>
            </a:r>
            <a:r>
              <a:rPr lang="en-US" sz="1100" err="1">
                <a:solidFill>
                  <a:srgbClr val="E9F4FF"/>
                </a:solidFill>
                <a:latin typeface="Segoe"/>
              </a:rPr>
              <a:t>bằng</a:t>
            </a:r>
            <a:r>
              <a:rPr lang="en-US" sz="1100">
                <a:solidFill>
                  <a:srgbClr val="E9F4FF"/>
                </a:solidFill>
                <a:latin typeface="Segoe"/>
              </a:rPr>
              <a:t> </a:t>
            </a:r>
            <a:r>
              <a:rPr lang="en-US" sz="1100" err="1">
                <a:solidFill>
                  <a:srgbClr val="E9F4FF"/>
                </a:solidFill>
                <a:latin typeface="Segoe"/>
              </a:rPr>
              <a:t>Uvicorn</a:t>
            </a:r>
            <a:endParaRPr lang="en-US" sz="1100">
              <a:solidFill>
                <a:srgbClr val="E9F4FF"/>
              </a:solidFill>
              <a:latin typeface="Segoe"/>
            </a:endParaRPr>
          </a:p>
          <a:p>
            <a:r>
              <a:rPr lang="en-US" sz="1100" err="1">
                <a:solidFill>
                  <a:srgbClr val="E9F4FF"/>
                </a:solidFill>
                <a:latin typeface="Segoe"/>
              </a:rPr>
              <a:t>Pydantic</a:t>
            </a:r>
            <a:r>
              <a:rPr lang="en-US" sz="1100">
                <a:solidFill>
                  <a:srgbClr val="E9F4FF"/>
                </a:solidFill>
                <a:latin typeface="Segoe"/>
              </a:rPr>
              <a:t> validate </a:t>
            </a:r>
            <a:r>
              <a:rPr lang="en-US" sz="1100" err="1">
                <a:solidFill>
                  <a:srgbClr val="E9F4FF"/>
                </a:solidFill>
                <a:latin typeface="Segoe"/>
              </a:rPr>
              <a:t>dữ</a:t>
            </a:r>
            <a:r>
              <a:rPr lang="en-US" sz="1100">
                <a:solidFill>
                  <a:srgbClr val="E9F4FF"/>
                </a:solidFill>
                <a:latin typeface="Segoe"/>
              </a:rPr>
              <a:t> </a:t>
            </a:r>
            <a:r>
              <a:rPr lang="en-US" sz="1100" err="1">
                <a:solidFill>
                  <a:srgbClr val="E9F4FF"/>
                </a:solidFill>
                <a:latin typeface="Segoe"/>
              </a:rPr>
              <a:t>liệu</a:t>
            </a:r>
            <a:endParaRPr lang="en-US" sz="1100">
              <a:solidFill>
                <a:srgbClr val="E9F4FF"/>
              </a:solidFill>
              <a:latin typeface="Segoe"/>
            </a:endParaRPr>
          </a:p>
          <a:p>
            <a:r>
              <a:rPr lang="en-US" sz="1100">
                <a:solidFill>
                  <a:srgbClr val="E9F4FF"/>
                </a:solidFill>
                <a:latin typeface="Segoe"/>
              </a:rPr>
              <a:t>JWT Authentication + </a:t>
            </a:r>
            <a:r>
              <a:rPr lang="en-US" sz="1100" err="1">
                <a:solidFill>
                  <a:srgbClr val="E9F4FF"/>
                </a:solidFill>
                <a:latin typeface="Segoe"/>
              </a:rPr>
              <a:t>phân</a:t>
            </a:r>
            <a:r>
              <a:rPr lang="en-US" sz="1100">
                <a:solidFill>
                  <a:srgbClr val="E9F4FF"/>
                </a:solidFill>
                <a:latin typeface="Segoe"/>
              </a:rPr>
              <a:t> </a:t>
            </a:r>
            <a:r>
              <a:rPr lang="en-US" sz="1100" err="1">
                <a:solidFill>
                  <a:srgbClr val="E9F4FF"/>
                </a:solidFill>
                <a:latin typeface="Segoe"/>
              </a:rPr>
              <a:t>quyền</a:t>
            </a:r>
            <a:r>
              <a:rPr lang="en-US" sz="1100">
                <a:solidFill>
                  <a:srgbClr val="E9F4FF"/>
                </a:solidFill>
                <a:latin typeface="Segoe"/>
              </a:rPr>
              <a:t> Admin</a:t>
            </a:r>
            <a:endParaRPr lang="en-US" sz="1100">
              <a:latin typeface="Segoe"/>
            </a:endParaRPr>
          </a:p>
        </p:txBody>
      </p:sp>
      <p:sp>
        <p:nvSpPr>
          <p:cNvPr id="11" name="Text 9"/>
          <p:cNvSpPr/>
          <p:nvPr/>
        </p:nvSpPr>
        <p:spPr>
          <a:xfrm>
            <a:off x="8823960" y="1920240"/>
            <a:ext cx="2606040" cy="160020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a:spcBef>
                <a:spcPts val="0"/>
              </a:spcBef>
              <a:spcAft>
                <a:spcPts val="0"/>
              </a:spcAft>
            </a:pPr>
            <a:r>
              <a:rPr lang="en-US" sz="1100" b="1">
                <a:solidFill>
                  <a:srgbClr val="00F5C6"/>
                </a:solidFill>
                <a:latin typeface="Segoe"/>
              </a:rPr>
              <a:t>Database</a:t>
            </a:r>
            <a:endParaRPr lang="en-US" sz="1100">
              <a:solidFill>
                <a:srgbClr val="E9F4FF"/>
              </a:solidFill>
              <a:latin typeface="Segoe"/>
            </a:endParaRPr>
          </a:p>
          <a:p>
            <a:pPr>
              <a:spcBef>
                <a:spcPts val="0"/>
              </a:spcBef>
              <a:spcAft>
                <a:spcPts val="0"/>
              </a:spcAft>
            </a:pPr>
            <a:r>
              <a:rPr lang="en-US" sz="1100" b="0">
                <a:solidFill>
                  <a:srgbClr val="FFFFFF"/>
                </a:solidFill>
                <a:latin typeface="Segoe"/>
              </a:rPr>
              <a:t>SQLite – file </a:t>
            </a:r>
            <a:r>
              <a:rPr lang="en-US" sz="1100" b="0" err="1">
                <a:solidFill>
                  <a:srgbClr val="FFFFFF"/>
                </a:solidFill>
                <a:latin typeface="Segoe"/>
              </a:rPr>
              <a:t>sfms.db</a:t>
            </a:r>
            <a:r>
              <a:rPr lang="en-US" sz="1100" b="0">
                <a:solidFill>
                  <a:srgbClr val="FFFFFF"/>
                </a:solidFill>
                <a:latin typeface="Segoe"/>
              </a:rPr>
              <a:t>
</a:t>
            </a:r>
            <a:r>
              <a:rPr lang="en-US" sz="1100" b="0" err="1">
                <a:solidFill>
                  <a:srgbClr val="FFFFFF"/>
                </a:solidFill>
                <a:latin typeface="Segoe"/>
              </a:rPr>
              <a:t>SQLAlchemy</a:t>
            </a:r>
            <a:r>
              <a:rPr lang="en-US" sz="1100" b="0">
                <a:solidFill>
                  <a:srgbClr val="FFFFFF"/>
                </a:solidFill>
                <a:latin typeface="Segoe"/>
              </a:rPr>
              <a:t> ORM
</a:t>
            </a:r>
            <a:r>
              <a:rPr lang="en-US" sz="1100" b="0" err="1">
                <a:solidFill>
                  <a:srgbClr val="FFFFFF"/>
                </a:solidFill>
                <a:latin typeface="Segoe"/>
              </a:rPr>
              <a:t>Bảng</a:t>
            </a:r>
            <a:r>
              <a:rPr lang="en-US" sz="1100" b="0">
                <a:solidFill>
                  <a:srgbClr val="FFFFFF"/>
                </a:solidFill>
                <a:latin typeface="Segoe"/>
              </a:rPr>
              <a:t> </a:t>
            </a:r>
            <a:r>
              <a:rPr lang="en-US" sz="1100" b="0" err="1">
                <a:solidFill>
                  <a:srgbClr val="FFFFFF"/>
                </a:solidFill>
                <a:latin typeface="Segoe"/>
              </a:rPr>
              <a:t>chính</a:t>
            </a:r>
            <a:r>
              <a:rPr lang="en-US" sz="1100" b="0">
                <a:solidFill>
                  <a:srgbClr val="FFFFFF"/>
                </a:solidFill>
                <a:latin typeface="Segoe"/>
              </a:rPr>
              <a:t>: users, courts, services, bookings, </a:t>
            </a:r>
            <a:r>
              <a:rPr lang="en-US" sz="1100" b="0" err="1">
                <a:solidFill>
                  <a:srgbClr val="FFFFFF"/>
                </a:solidFill>
                <a:latin typeface="Segoe"/>
              </a:rPr>
              <a:t>time_slots</a:t>
            </a:r>
            <a:r>
              <a:rPr lang="en-US" sz="1100" b="0">
                <a:solidFill>
                  <a:srgbClr val="FFFFFF"/>
                </a:solidFill>
                <a:latin typeface="Segoe"/>
              </a:rPr>
              <a:t>, </a:t>
            </a:r>
            <a:r>
              <a:rPr lang="en-US" sz="1100" b="0" err="1">
                <a:solidFill>
                  <a:srgbClr val="FFFFFF"/>
                </a:solidFill>
                <a:latin typeface="Segoe"/>
              </a:rPr>
              <a:t>booking_slots</a:t>
            </a:r>
            <a:r>
              <a:rPr lang="en-US" sz="1100" b="0">
                <a:solidFill>
                  <a:srgbClr val="FFFFFF"/>
                </a:solidFill>
                <a:latin typeface="Segoe"/>
              </a:rPr>
              <a:t>, </a:t>
            </a:r>
            <a:r>
              <a:rPr lang="en-US" sz="1100" b="0" err="1">
                <a:solidFill>
                  <a:srgbClr val="FFFFFF"/>
                </a:solidFill>
                <a:latin typeface="Segoe"/>
              </a:rPr>
              <a:t>booking_services</a:t>
            </a:r>
            <a:endParaRPr lang="en-US" sz="1100" b="0">
              <a:solidFill>
                <a:srgbClr val="FFFFFF"/>
              </a:solidFill>
              <a:latin typeface="Segoe"/>
            </a:endParaRPr>
          </a:p>
        </p:txBody>
      </p:sp>
      <p:sp>
        <p:nvSpPr>
          <p:cNvPr id="12" name="Text 10"/>
          <p:cNvSpPr/>
          <p:nvPr/>
        </p:nvSpPr>
        <p:spPr>
          <a:xfrm>
            <a:off x="4579620" y="4296508"/>
            <a:ext cx="2834640" cy="1471246"/>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Autofit/>
          </a:bodyPr>
          <a:lstStyle/>
          <a:p>
            <a:pPr>
              <a:spcBef>
                <a:spcPts val="0"/>
              </a:spcBef>
              <a:spcAft>
                <a:spcPts val="0"/>
              </a:spcAft>
            </a:pPr>
            <a:r>
              <a:rPr sz="1100" b="1">
                <a:solidFill>
                  <a:srgbClr val="00F5C6"/>
                </a:solidFill>
                <a:latin typeface="Segoe"/>
              </a:rPr>
              <a:t>AI Service</a:t>
            </a:r>
            <a:endParaRPr lang="en-US" sz="1100">
              <a:solidFill>
                <a:srgbClr val="E9F4FF"/>
              </a:solidFill>
              <a:latin typeface="Segoe"/>
            </a:endParaRPr>
          </a:p>
          <a:p>
            <a:pPr>
              <a:spcBef>
                <a:spcPts val="0"/>
              </a:spcBef>
              <a:spcAft>
                <a:spcPts val="0"/>
              </a:spcAft>
            </a:pPr>
            <a:r>
              <a:rPr sz="1100" b="0">
                <a:solidFill>
                  <a:srgbClr val="FFFFFF"/>
                </a:solidFill>
                <a:latin typeface="Segoe"/>
              </a:rPr>
              <a:t>Google Gemini API
Prompt Engineering + Intent Classification
Structured JSON Output
</a:t>
            </a:r>
            <a:r>
              <a:rPr sz="1100" b="0" err="1">
                <a:solidFill>
                  <a:srgbClr val="FFFFFF"/>
                </a:solidFill>
                <a:latin typeface="Segoe"/>
              </a:rPr>
              <a:t>Gợi</a:t>
            </a:r>
            <a:r>
              <a:rPr sz="1100" b="0">
                <a:solidFill>
                  <a:srgbClr val="FFFFFF"/>
                </a:solidFill>
                <a:latin typeface="Segoe"/>
              </a:rPr>
              <a:t> ý </a:t>
            </a:r>
            <a:r>
              <a:rPr sz="1100" b="0" err="1">
                <a:solidFill>
                  <a:srgbClr val="FFFFFF"/>
                </a:solidFill>
                <a:latin typeface="Segoe"/>
              </a:rPr>
              <a:t>sân</a:t>
            </a:r>
            <a:r>
              <a:rPr sz="1100" b="0">
                <a:solidFill>
                  <a:srgbClr val="FFFFFF"/>
                </a:solidFill>
                <a:latin typeface="Segoe"/>
              </a:rPr>
              <a:t>/</a:t>
            </a:r>
            <a:r>
              <a:rPr sz="1100" b="0" err="1">
                <a:solidFill>
                  <a:srgbClr val="FFFFFF"/>
                </a:solidFill>
                <a:latin typeface="Segoe"/>
              </a:rPr>
              <a:t>giờ</a:t>
            </a:r>
            <a:r>
              <a:rPr sz="1100" b="0">
                <a:solidFill>
                  <a:srgbClr val="FFFFFF"/>
                </a:solidFill>
                <a:latin typeface="Segoe"/>
              </a:rPr>
              <a:t>, </a:t>
            </a:r>
            <a:r>
              <a:rPr sz="1100" b="0" err="1">
                <a:solidFill>
                  <a:srgbClr val="FFFFFF"/>
                </a:solidFill>
                <a:latin typeface="Segoe"/>
              </a:rPr>
              <a:t>chống</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trùng</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hỗ</a:t>
            </a:r>
            <a:r>
              <a:rPr sz="1100" b="0">
                <a:solidFill>
                  <a:srgbClr val="FFFFFF"/>
                </a:solidFill>
                <a:latin typeface="Segoe"/>
              </a:rPr>
              <a:t> </a:t>
            </a:r>
            <a:r>
              <a:rPr sz="1100" b="0" err="1">
                <a:solidFill>
                  <a:srgbClr val="FFFFFF"/>
                </a:solidFill>
                <a:latin typeface="Segoe"/>
              </a:rPr>
              <a:t>trợ</a:t>
            </a:r>
            <a:r>
              <a:rPr sz="1100" b="0">
                <a:solidFill>
                  <a:srgbClr val="FFFFFF"/>
                </a:solidFill>
                <a:latin typeface="Segoe"/>
              </a:rPr>
              <a:t> </a:t>
            </a:r>
            <a:r>
              <a:rPr sz="1100" b="0" err="1">
                <a:solidFill>
                  <a:srgbClr val="FFFFFF"/>
                </a:solidFill>
                <a:latin typeface="Segoe"/>
              </a:rPr>
              <a:t>xác</a:t>
            </a:r>
            <a:r>
              <a:rPr sz="1100" b="0">
                <a:solidFill>
                  <a:srgbClr val="FFFFFF"/>
                </a:solidFill>
                <a:latin typeface="Segoe"/>
              </a:rPr>
              <a:t> </a:t>
            </a:r>
            <a:r>
              <a:rPr sz="1100" b="0" err="1">
                <a:solidFill>
                  <a:srgbClr val="FFFFFF"/>
                </a:solidFill>
                <a:latin typeface="Segoe"/>
              </a:rPr>
              <a:t>nhận</a:t>
            </a:r>
            <a:r>
              <a:rPr sz="1100" b="0">
                <a:solidFill>
                  <a:srgbClr val="FFFFFF"/>
                </a:solidFill>
                <a:latin typeface="Segoe"/>
              </a:rPr>
              <a:t> booking</a:t>
            </a:r>
          </a:p>
        </p:txBody>
      </p:sp>
      <p:sp>
        <p:nvSpPr>
          <p:cNvPr id="13" name="Text 11"/>
          <p:cNvSpPr/>
          <p:nvPr/>
        </p:nvSpPr>
        <p:spPr>
          <a:xfrm>
            <a:off x="834064" y="5897880"/>
            <a:ext cx="10523873" cy="328750"/>
          </a:xfrm>
          <a:prstGeom prst="roundRect">
            <a:avLst/>
          </a:prstGeom>
          <a:solidFill>
            <a:srgbClr val="08C391"/>
          </a:solidFill>
          <a:ln>
            <a:solidFill>
              <a:srgbClr val="08C391">
                <a:alpha val="90000"/>
              </a:srgbClr>
            </a:solidFill>
          </a:ln>
        </p:spPr>
        <p:txBody>
          <a:bodyPr wrap="square" lIns="254" tIns="254" rIns="254" bIns="254" rtlCol="0" anchor="ctr">
            <a:noAutofit/>
          </a:bodyPr>
          <a:lstStyle/>
          <a:p>
            <a:pPr algn="ctr"/>
            <a:r>
              <a:rPr sz="900" b="1" err="1">
                <a:solidFill>
                  <a:srgbClr val="051424"/>
                </a:solidFill>
                <a:latin typeface="Segoe"/>
              </a:rPr>
              <a:t>Luồng</a:t>
            </a:r>
            <a:r>
              <a:rPr sz="900" b="1">
                <a:solidFill>
                  <a:srgbClr val="051424"/>
                </a:solidFill>
                <a:latin typeface="Segoe"/>
              </a:rPr>
              <a:t> </a:t>
            </a:r>
            <a:r>
              <a:rPr sz="900" b="1" err="1">
                <a:solidFill>
                  <a:srgbClr val="051424"/>
                </a:solidFill>
                <a:latin typeface="Segoe"/>
              </a:rPr>
              <a:t>chính</a:t>
            </a:r>
            <a:r>
              <a:rPr sz="900" b="1">
                <a:solidFill>
                  <a:srgbClr val="051424"/>
                </a:solidFill>
                <a:latin typeface="Segoe"/>
              </a:rPr>
              <a:t>: Client/Admin → Fetch API → </a:t>
            </a:r>
            <a:r>
              <a:rPr sz="900" b="1" err="1">
                <a:solidFill>
                  <a:srgbClr val="051424"/>
                </a:solidFill>
                <a:latin typeface="Segoe"/>
              </a:rPr>
              <a:t>FastAPI</a:t>
            </a:r>
            <a:r>
              <a:rPr sz="900" b="1">
                <a:solidFill>
                  <a:srgbClr val="051424"/>
                </a:solidFill>
                <a:latin typeface="Segoe"/>
              </a:rPr>
              <a:t> REST API → </a:t>
            </a:r>
            <a:r>
              <a:rPr sz="900" b="1" err="1">
                <a:solidFill>
                  <a:srgbClr val="051424"/>
                </a:solidFill>
                <a:latin typeface="Segoe"/>
              </a:rPr>
              <a:t>SQLAlchemy</a:t>
            </a:r>
            <a:r>
              <a:rPr sz="900" b="1">
                <a:solidFill>
                  <a:srgbClr val="051424"/>
                </a:solidFill>
                <a:latin typeface="Segoe"/>
              </a:rPr>
              <a:t> ORM → SQLite;  </a:t>
            </a:r>
            <a:r>
              <a:rPr sz="900" b="1" err="1">
                <a:solidFill>
                  <a:srgbClr val="051424"/>
                </a:solidFill>
                <a:latin typeface="Segoe"/>
              </a:rPr>
              <a:t>Luồng</a:t>
            </a:r>
            <a:r>
              <a:rPr sz="900" b="1">
                <a:solidFill>
                  <a:srgbClr val="051424"/>
                </a:solidFill>
                <a:latin typeface="Segoe"/>
              </a:rPr>
              <a:t> AI: Client → </a:t>
            </a:r>
            <a:r>
              <a:rPr sz="900" b="1" err="1">
                <a:solidFill>
                  <a:srgbClr val="051424"/>
                </a:solidFill>
                <a:latin typeface="Segoe"/>
              </a:rPr>
              <a:t>FastAPI</a:t>
            </a:r>
            <a:r>
              <a:rPr sz="900" b="1">
                <a:solidFill>
                  <a:srgbClr val="051424"/>
                </a:solidFill>
                <a:latin typeface="Segoe"/>
              </a:rPr>
              <a:t> → AI Service → Gemini API → </a:t>
            </a:r>
            <a:r>
              <a:rPr sz="900" b="1" err="1">
                <a:solidFill>
                  <a:srgbClr val="051424"/>
                </a:solidFill>
                <a:latin typeface="Segoe"/>
              </a:rPr>
              <a:t>kiểm</a:t>
            </a:r>
            <a:r>
              <a:rPr sz="900" b="1">
                <a:solidFill>
                  <a:srgbClr val="051424"/>
                </a:solidFill>
                <a:latin typeface="Segoe"/>
              </a:rPr>
              <a:t> </a:t>
            </a:r>
            <a:r>
              <a:rPr sz="900" b="1" err="1">
                <a:solidFill>
                  <a:srgbClr val="051424"/>
                </a:solidFill>
                <a:latin typeface="Segoe"/>
              </a:rPr>
              <a:t>tra</a:t>
            </a:r>
            <a:r>
              <a:rPr sz="900" b="1">
                <a:solidFill>
                  <a:srgbClr val="051424"/>
                </a:solidFill>
                <a:latin typeface="Segoe"/>
              </a:rPr>
              <a:t> </a:t>
            </a:r>
            <a:r>
              <a:rPr sz="900" b="1" err="1">
                <a:solidFill>
                  <a:srgbClr val="051424"/>
                </a:solidFill>
                <a:latin typeface="Segoe"/>
              </a:rPr>
              <a:t>dữ</a:t>
            </a:r>
            <a:r>
              <a:rPr sz="900" b="1">
                <a:solidFill>
                  <a:srgbClr val="051424"/>
                </a:solidFill>
                <a:latin typeface="Segoe"/>
              </a:rPr>
              <a:t> </a:t>
            </a:r>
            <a:r>
              <a:rPr sz="900" b="1" err="1">
                <a:solidFill>
                  <a:srgbClr val="051424"/>
                </a:solidFill>
                <a:latin typeface="Segoe"/>
              </a:rPr>
              <a:t>liệu</a:t>
            </a:r>
            <a:r>
              <a:rPr sz="900" b="1">
                <a:solidFill>
                  <a:srgbClr val="051424"/>
                </a:solidFill>
                <a:latin typeface="Segoe"/>
              </a:rPr>
              <a:t> → </a:t>
            </a:r>
            <a:r>
              <a:rPr sz="900" b="1" err="1">
                <a:solidFill>
                  <a:srgbClr val="051424"/>
                </a:solidFill>
                <a:latin typeface="Segoe"/>
              </a:rPr>
              <a:t>phản</a:t>
            </a:r>
            <a:r>
              <a:rPr sz="900" b="1">
                <a:solidFill>
                  <a:srgbClr val="051424"/>
                </a:solidFill>
                <a:latin typeface="Segoe"/>
              </a:rPr>
              <a:t> </a:t>
            </a:r>
            <a:r>
              <a:rPr sz="900" b="1" err="1">
                <a:solidFill>
                  <a:srgbClr val="051424"/>
                </a:solidFill>
                <a:latin typeface="Segoe"/>
              </a:rPr>
              <a:t>hồi</a:t>
            </a:r>
            <a:r>
              <a:rPr sz="900" b="1">
                <a:solidFill>
                  <a:srgbClr val="051424"/>
                </a:solidFill>
                <a:latin typeface="Segoe"/>
              </a:rPr>
              <a:t>/booking</a:t>
            </a:r>
            <a:endParaRPr lang="en-US" sz="900" b="1">
              <a:latin typeface="Segoe"/>
            </a:endParaRPr>
          </a:p>
        </p:txBody>
      </p:sp>
      <p:pic>
        <p:nvPicPr>
          <p:cNvPr id="14" name="Picture 13" descr="uit_symbol_only.png"/>
          <p:cNvPicPr>
            <a:picLocks noChangeAspect="1"/>
          </p:cNvPicPr>
          <p:nvPr/>
        </p:nvPicPr>
        <p:blipFill>
          <a:blip r:embed="rId3"/>
          <a:stretch>
            <a:fillRect/>
          </a:stretch>
        </p:blipFill>
        <p:spPr>
          <a:xfrm>
            <a:off x="100584" y="91440"/>
            <a:ext cx="420261" cy="310896"/>
          </a:xfrm>
          <a:prstGeom prst="rect">
            <a:avLst/>
          </a:prstGeom>
        </p:spPr>
      </p:pic>
      <p:pic>
        <p:nvPicPr>
          <p:cNvPr id="15" name="Picture 14" descr="image.png"/>
          <p:cNvPicPr>
            <a:picLocks noChangeAspect="1"/>
          </p:cNvPicPr>
          <p:nvPr/>
        </p:nvPicPr>
        <p:blipFill>
          <a:blip r:embed="rId4"/>
          <a:stretch>
            <a:fillRect/>
          </a:stretch>
        </p:blipFill>
        <p:spPr>
          <a:xfrm>
            <a:off x="10195560" y="91440"/>
            <a:ext cx="1783080" cy="5943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pPr marL="0" indent="0">
              <a:buNone/>
            </a:pPr>
            <a:r>
              <a:rPr lang="en-US" sz="2400" b="1">
                <a:solidFill>
                  <a:srgbClr val="FFFFFF"/>
                </a:solidFill>
              </a:rPr>
              <a:t>CÔNG NGHỆ &amp; THƯ VIỆN SỬ DỤNG</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02920"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05</a:t>
            </a:r>
            <a:endParaRPr lang="en-US" sz="850"/>
          </a:p>
        </p:txBody>
      </p:sp>
      <p:sp>
        <p:nvSpPr>
          <p:cNvPr id="6" name="Text 4"/>
          <p:cNvSpPr/>
          <p:nvPr/>
        </p:nvSpPr>
        <p:spPr>
          <a:xfrm>
            <a:off x="685800" y="1097280"/>
            <a:ext cx="3337560" cy="19202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Backend Python
</a:t>
            </a:r>
            <a:r>
              <a:rPr lang="en-US" sz="1100">
                <a:solidFill>
                  <a:srgbClr val="E9F4FF"/>
                </a:solidFill>
                <a:latin typeface="Segoe"/>
              </a:rPr>
              <a:t>FastAPI: xây dựng API</a:t>
            </a:r>
            <a:endParaRPr lang="en-US" sz="1100">
              <a:latin typeface="Segoe"/>
            </a:endParaRPr>
          </a:p>
          <a:p>
            <a:pPr marL="0" indent="0">
              <a:buNone/>
            </a:pPr>
            <a:r>
              <a:rPr lang="en-US" sz="1100">
                <a:solidFill>
                  <a:srgbClr val="E9F4FF"/>
                </a:solidFill>
                <a:latin typeface="Segoe"/>
              </a:rPr>
              <a:t>Uvicorn: ASGI server</a:t>
            </a:r>
            <a:endParaRPr lang="en-US" sz="1100">
              <a:latin typeface="Segoe"/>
            </a:endParaRPr>
          </a:p>
          <a:p>
            <a:pPr marL="0" indent="0">
              <a:buNone/>
            </a:pPr>
            <a:r>
              <a:rPr lang="en-US" sz="1100">
                <a:solidFill>
                  <a:srgbClr val="E9F4FF"/>
                </a:solidFill>
                <a:latin typeface="Segoe"/>
              </a:rPr>
              <a:t>SQLAlchemy: ORM</a:t>
            </a:r>
            <a:endParaRPr lang="en-US" sz="1100">
              <a:latin typeface="Segoe"/>
            </a:endParaRPr>
          </a:p>
          <a:p>
            <a:pPr marL="0" indent="0">
              <a:buNone/>
            </a:pPr>
            <a:r>
              <a:rPr lang="en-US" sz="1100">
                <a:solidFill>
                  <a:srgbClr val="E9F4FF"/>
                </a:solidFill>
                <a:latin typeface="Segoe"/>
              </a:rPr>
              <a:t>Pydantic: schema/validation</a:t>
            </a:r>
            <a:endParaRPr lang="en-US" sz="1100">
              <a:latin typeface="Segoe"/>
            </a:endParaRPr>
          </a:p>
        </p:txBody>
      </p:sp>
      <p:sp>
        <p:nvSpPr>
          <p:cNvPr id="7" name="Text 5"/>
          <p:cNvSpPr/>
          <p:nvPr/>
        </p:nvSpPr>
        <p:spPr>
          <a:xfrm>
            <a:off x="4343400" y="1097280"/>
            <a:ext cx="3337560" cy="19202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a:spcBef>
                <a:spcPts val="0"/>
              </a:spcBef>
              <a:spcAft>
                <a:spcPts val="0"/>
              </a:spcAft>
            </a:pPr>
            <a:r>
              <a:rPr sz="1100" b="1" err="1">
                <a:solidFill>
                  <a:srgbClr val="00F5C6"/>
                </a:solidFill>
                <a:latin typeface="Segoe"/>
              </a:rPr>
              <a:t>Bảo</a:t>
            </a:r>
            <a:r>
              <a:rPr sz="1100" b="1">
                <a:solidFill>
                  <a:srgbClr val="00F5C6"/>
                </a:solidFill>
                <a:latin typeface="Segoe"/>
              </a:rPr>
              <a:t> </a:t>
            </a:r>
            <a:r>
              <a:rPr sz="1100" b="1" err="1">
                <a:solidFill>
                  <a:srgbClr val="00F5C6"/>
                </a:solidFill>
                <a:latin typeface="Segoe"/>
              </a:rPr>
              <a:t>mật</a:t>
            </a:r>
            <a:r>
              <a:rPr sz="1100" b="1">
                <a:solidFill>
                  <a:srgbClr val="00F5C6"/>
                </a:solidFill>
                <a:latin typeface="Segoe"/>
              </a:rPr>
              <a:t>, AI &amp; </a:t>
            </a:r>
            <a:r>
              <a:rPr sz="1100" b="1" err="1">
                <a:solidFill>
                  <a:srgbClr val="00F5C6"/>
                </a:solidFill>
                <a:latin typeface="Segoe"/>
              </a:rPr>
              <a:t>cấu</a:t>
            </a:r>
            <a:r>
              <a:rPr sz="1100" b="1">
                <a:solidFill>
                  <a:srgbClr val="00F5C6"/>
                </a:solidFill>
                <a:latin typeface="Segoe"/>
              </a:rPr>
              <a:t> </a:t>
            </a:r>
            <a:r>
              <a:rPr sz="1100" b="1" err="1">
                <a:solidFill>
                  <a:srgbClr val="00F5C6"/>
                </a:solidFill>
                <a:latin typeface="Segoe"/>
              </a:rPr>
              <a:t>hình</a:t>
            </a:r>
            <a:endParaRPr lang="en-US" sz="1100">
              <a:solidFill>
                <a:srgbClr val="E9F4FF"/>
              </a:solidFill>
              <a:latin typeface="Segoe"/>
            </a:endParaRPr>
          </a:p>
          <a:p>
            <a:pPr>
              <a:spcBef>
                <a:spcPts val="0"/>
              </a:spcBef>
              <a:spcAft>
                <a:spcPts val="0"/>
              </a:spcAft>
            </a:pPr>
            <a:r>
              <a:rPr sz="1100" b="0" err="1">
                <a:solidFill>
                  <a:srgbClr val="FFFFFF"/>
                </a:solidFill>
                <a:latin typeface="Segoe"/>
              </a:rPr>
              <a:t>PyJWT</a:t>
            </a:r>
            <a:r>
              <a:rPr sz="1100" b="0">
                <a:solidFill>
                  <a:srgbClr val="FFFFFF"/>
                </a:solidFill>
                <a:latin typeface="Segoe"/>
              </a:rPr>
              <a:t>: </a:t>
            </a:r>
            <a:r>
              <a:rPr sz="1100" b="0" err="1">
                <a:solidFill>
                  <a:srgbClr val="FFFFFF"/>
                </a:solidFill>
                <a:latin typeface="Segoe"/>
              </a:rPr>
              <a:t>tạo</a:t>
            </a:r>
            <a:r>
              <a:rPr sz="1100" b="0">
                <a:solidFill>
                  <a:srgbClr val="FFFFFF"/>
                </a:solidFill>
                <a:latin typeface="Segoe"/>
              </a:rPr>
              <a:t> access token
</a:t>
            </a:r>
            <a:r>
              <a:rPr sz="1100" b="0" err="1">
                <a:solidFill>
                  <a:srgbClr val="FFFFFF"/>
                </a:solidFill>
                <a:latin typeface="Segoe"/>
              </a:rPr>
              <a:t>Passlib</a:t>
            </a:r>
            <a:r>
              <a:rPr sz="1100" b="0">
                <a:solidFill>
                  <a:srgbClr val="FFFFFF"/>
                </a:solidFill>
                <a:latin typeface="Segoe"/>
              </a:rPr>
              <a:t> + </a:t>
            </a:r>
            <a:r>
              <a:rPr sz="1100" b="0" err="1">
                <a:solidFill>
                  <a:srgbClr val="FFFFFF"/>
                </a:solidFill>
                <a:latin typeface="Segoe"/>
              </a:rPr>
              <a:t>bcrypt</a:t>
            </a:r>
            <a:r>
              <a:rPr sz="1100" b="0">
                <a:solidFill>
                  <a:srgbClr val="FFFFFF"/>
                </a:solidFill>
                <a:latin typeface="Segoe"/>
              </a:rPr>
              <a:t>: hash </a:t>
            </a:r>
            <a:r>
              <a:rPr sz="1100" b="0" err="1">
                <a:solidFill>
                  <a:srgbClr val="FFFFFF"/>
                </a:solidFill>
                <a:latin typeface="Segoe"/>
              </a:rPr>
              <a:t>mật</a:t>
            </a:r>
            <a:r>
              <a:rPr sz="1100" b="0">
                <a:solidFill>
                  <a:srgbClr val="FFFFFF"/>
                </a:solidFill>
                <a:latin typeface="Segoe"/>
              </a:rPr>
              <a:t> </a:t>
            </a:r>
            <a:r>
              <a:rPr sz="1100" b="0" err="1">
                <a:solidFill>
                  <a:srgbClr val="FFFFFF"/>
                </a:solidFill>
                <a:latin typeface="Segoe"/>
              </a:rPr>
              <a:t>khẩu</a:t>
            </a:r>
            <a:r>
              <a:rPr sz="1100" b="0">
                <a:solidFill>
                  <a:srgbClr val="FFFFFF"/>
                </a:solidFill>
                <a:latin typeface="Segoe"/>
              </a:rPr>
              <a:t>
python-</a:t>
            </a:r>
            <a:r>
              <a:rPr sz="1100" b="0" err="1">
                <a:solidFill>
                  <a:srgbClr val="FFFFFF"/>
                </a:solidFill>
                <a:latin typeface="Segoe"/>
              </a:rPr>
              <a:t>dotenv</a:t>
            </a:r>
            <a:r>
              <a:rPr sz="1100" b="0">
                <a:solidFill>
                  <a:srgbClr val="FFFFFF"/>
                </a:solidFill>
                <a:latin typeface="Segoe"/>
              </a:rPr>
              <a:t>: </a:t>
            </a:r>
            <a:r>
              <a:rPr sz="1100" b="0" err="1">
                <a:solidFill>
                  <a:srgbClr val="FFFFFF"/>
                </a:solidFill>
                <a:latin typeface="Segoe"/>
              </a:rPr>
              <a:t>đọc</a:t>
            </a:r>
            <a:r>
              <a:rPr sz="1100" b="0">
                <a:solidFill>
                  <a:srgbClr val="FFFFFF"/>
                </a:solidFill>
                <a:latin typeface="Segoe"/>
              </a:rPr>
              <a:t> </a:t>
            </a:r>
            <a:r>
              <a:rPr sz="1100" b="0" err="1">
                <a:solidFill>
                  <a:srgbClr val="FFFFFF"/>
                </a:solidFill>
                <a:latin typeface="Segoe"/>
              </a:rPr>
              <a:t>biến</a:t>
            </a:r>
            <a:r>
              <a:rPr sz="1100" b="0">
                <a:solidFill>
                  <a:srgbClr val="FFFFFF"/>
                </a:solidFill>
                <a:latin typeface="Segoe"/>
              </a:rPr>
              <a:t> </a:t>
            </a:r>
            <a:r>
              <a:rPr sz="1100" b="0" err="1">
                <a:solidFill>
                  <a:srgbClr val="FFFFFF"/>
                </a:solidFill>
                <a:latin typeface="Segoe"/>
              </a:rPr>
              <a:t>môi</a:t>
            </a:r>
            <a:r>
              <a:rPr sz="1100" b="0">
                <a:solidFill>
                  <a:srgbClr val="FFFFFF"/>
                </a:solidFill>
                <a:latin typeface="Segoe"/>
              </a:rPr>
              <a:t> </a:t>
            </a:r>
            <a:r>
              <a:rPr sz="1100" b="0" err="1">
                <a:solidFill>
                  <a:srgbClr val="FFFFFF"/>
                </a:solidFill>
                <a:latin typeface="Segoe"/>
              </a:rPr>
              <a:t>trường</a:t>
            </a:r>
            <a:r>
              <a:rPr sz="1100" b="0">
                <a:solidFill>
                  <a:srgbClr val="FFFFFF"/>
                </a:solidFill>
                <a:latin typeface="Segoe"/>
              </a:rPr>
              <a:t>
</a:t>
            </a:r>
            <a:r>
              <a:rPr lang="en-US" sz="1100" b="0">
                <a:solidFill>
                  <a:srgbClr val="FFFFFF"/>
                </a:solidFill>
                <a:latin typeface="Segoe"/>
              </a:rPr>
              <a:t>httpx</a:t>
            </a:r>
            <a:r>
              <a:rPr sz="1100" b="0">
                <a:solidFill>
                  <a:srgbClr val="FFFFFF"/>
                </a:solidFill>
                <a:latin typeface="Segoe"/>
              </a:rPr>
              <a:t>: </a:t>
            </a:r>
            <a:r>
              <a:rPr sz="1100" b="0" err="1">
                <a:solidFill>
                  <a:srgbClr val="FFFFFF"/>
                </a:solidFill>
                <a:latin typeface="Segoe"/>
              </a:rPr>
              <a:t>gọi</a:t>
            </a:r>
            <a:r>
              <a:rPr sz="1100" b="0">
                <a:solidFill>
                  <a:srgbClr val="FFFFFF"/>
                </a:solidFill>
                <a:latin typeface="Segoe"/>
              </a:rPr>
              <a:t> Gemini API</a:t>
            </a:r>
            <a:r>
              <a:rPr lang="en-US" sz="1100">
                <a:solidFill>
                  <a:srgbClr val="FFFFFF"/>
                </a:solidFill>
                <a:latin typeface="Segoe"/>
              </a:rPr>
              <a:t> bất đồng bộ</a:t>
            </a:r>
            <a:endParaRPr sz="1100" b="0">
              <a:solidFill>
                <a:srgbClr val="FFFFFF"/>
              </a:solidFill>
              <a:latin typeface="Segoe"/>
            </a:endParaRPr>
          </a:p>
        </p:txBody>
      </p:sp>
      <p:sp>
        <p:nvSpPr>
          <p:cNvPr id="8" name="Text 6"/>
          <p:cNvSpPr/>
          <p:nvPr/>
        </p:nvSpPr>
        <p:spPr>
          <a:xfrm>
            <a:off x="8001000" y="1097280"/>
            <a:ext cx="3337560" cy="19202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r>
              <a:rPr lang="en-US" sz="1100" b="1">
                <a:solidFill>
                  <a:srgbClr val="38F2C0"/>
                </a:solidFill>
                <a:latin typeface="Segoe"/>
              </a:rPr>
              <a:t>Frontend &amp; giao tiếp
</a:t>
            </a:r>
            <a:r>
              <a:rPr lang="en-US" sz="1100">
                <a:solidFill>
                  <a:srgbClr val="E9F4FF"/>
                </a:solidFill>
                <a:latin typeface="Segoe"/>
              </a:rPr>
              <a:t>HTML/CSS/JavaScript </a:t>
            </a:r>
            <a:r>
              <a:rPr lang="en-US" sz="1100" err="1">
                <a:solidFill>
                  <a:srgbClr val="E9F4FF"/>
                </a:solidFill>
                <a:latin typeface="Segoe"/>
              </a:rPr>
              <a:t>thuần</a:t>
            </a:r>
            <a:endParaRPr lang="en-US" sz="1100">
              <a:solidFill>
                <a:srgbClr val="E9F4FF"/>
              </a:solidFill>
              <a:latin typeface="Segoe"/>
            </a:endParaRPr>
          </a:p>
          <a:p>
            <a:r>
              <a:rPr lang="en-US" sz="1100">
                <a:solidFill>
                  <a:srgbClr val="E9F4FF"/>
                </a:solidFill>
                <a:latin typeface="Segoe"/>
              </a:rPr>
              <a:t>Tailwind CSS + Font Awesome</a:t>
            </a:r>
          </a:p>
          <a:p>
            <a:r>
              <a:rPr lang="en-US" sz="1100">
                <a:solidFill>
                  <a:srgbClr val="E9F4FF"/>
                </a:solidFill>
                <a:latin typeface="Segoe"/>
              </a:rPr>
              <a:t>Fetch API </a:t>
            </a:r>
            <a:r>
              <a:rPr lang="en-US" sz="1100" err="1">
                <a:solidFill>
                  <a:srgbClr val="E9F4FF"/>
                </a:solidFill>
                <a:latin typeface="Segoe"/>
              </a:rPr>
              <a:t>gọi</a:t>
            </a:r>
            <a:r>
              <a:rPr lang="en-US" sz="1100">
                <a:solidFill>
                  <a:srgbClr val="E9F4FF"/>
                </a:solidFill>
                <a:latin typeface="Segoe"/>
              </a:rPr>
              <a:t> REST API</a:t>
            </a:r>
          </a:p>
          <a:p>
            <a:r>
              <a:rPr lang="en-US" sz="1100">
                <a:solidFill>
                  <a:srgbClr val="E9F4FF"/>
                </a:solidFill>
                <a:latin typeface="Segoe"/>
              </a:rPr>
              <a:t>Python </a:t>
            </a:r>
            <a:r>
              <a:rPr lang="en-US" sz="1100" err="1">
                <a:solidFill>
                  <a:srgbClr val="E9F4FF"/>
                </a:solidFill>
                <a:latin typeface="Segoe"/>
              </a:rPr>
              <a:t>http.server</a:t>
            </a:r>
            <a:r>
              <a:rPr lang="en-US" sz="1100">
                <a:solidFill>
                  <a:srgbClr val="E9F4FF"/>
                </a:solidFill>
                <a:latin typeface="Segoe"/>
              </a:rPr>
              <a:t> </a:t>
            </a:r>
            <a:r>
              <a:rPr lang="en-US" sz="1100" err="1">
                <a:solidFill>
                  <a:srgbClr val="E9F4FF"/>
                </a:solidFill>
                <a:latin typeface="Segoe"/>
              </a:rPr>
              <a:t>phục</a:t>
            </a:r>
            <a:r>
              <a:rPr lang="en-US" sz="1100">
                <a:solidFill>
                  <a:srgbClr val="E9F4FF"/>
                </a:solidFill>
                <a:latin typeface="Segoe"/>
              </a:rPr>
              <a:t> </a:t>
            </a:r>
            <a:r>
              <a:rPr lang="en-US" sz="1100" err="1">
                <a:solidFill>
                  <a:srgbClr val="E9F4FF"/>
                </a:solidFill>
                <a:latin typeface="Segoe"/>
              </a:rPr>
              <a:t>vụ</a:t>
            </a:r>
            <a:r>
              <a:rPr lang="en-US" sz="1100">
                <a:solidFill>
                  <a:srgbClr val="E9F4FF"/>
                </a:solidFill>
                <a:latin typeface="Segoe"/>
              </a:rPr>
              <a:t> file </a:t>
            </a:r>
            <a:r>
              <a:rPr lang="en-US" sz="1100" err="1">
                <a:solidFill>
                  <a:srgbClr val="E9F4FF"/>
                </a:solidFill>
                <a:latin typeface="Segoe"/>
              </a:rPr>
              <a:t>tĩnh</a:t>
            </a:r>
            <a:r>
              <a:rPr lang="en-US" sz="1100">
                <a:solidFill>
                  <a:srgbClr val="E9F4FF"/>
                </a:solidFill>
                <a:latin typeface="Segoe"/>
              </a:rPr>
              <a:t> </a:t>
            </a:r>
            <a:endParaRPr lang="en-US" sz="1100">
              <a:latin typeface="Segoe"/>
            </a:endParaRPr>
          </a:p>
        </p:txBody>
      </p:sp>
      <p:sp>
        <p:nvSpPr>
          <p:cNvPr id="10" name="Text 8"/>
          <p:cNvSpPr/>
          <p:nvPr/>
        </p:nvSpPr>
        <p:spPr>
          <a:xfrm>
            <a:off x="5989320" y="3520440"/>
            <a:ext cx="5349240" cy="2148840"/>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a:spcBef>
                <a:spcPts val="0"/>
              </a:spcBef>
              <a:spcAft>
                <a:spcPts val="0"/>
              </a:spcAft>
            </a:pPr>
            <a:r>
              <a:rPr sz="1100" b="1" err="1">
                <a:solidFill>
                  <a:srgbClr val="00F5C6"/>
                </a:solidFill>
                <a:latin typeface="Segoe"/>
              </a:rPr>
              <a:t>Lý</a:t>
            </a:r>
            <a:r>
              <a:rPr sz="1100" b="1">
                <a:solidFill>
                  <a:srgbClr val="00F5C6"/>
                </a:solidFill>
                <a:latin typeface="Segoe"/>
              </a:rPr>
              <a:t> do </a:t>
            </a:r>
            <a:r>
              <a:rPr sz="1100" b="1" err="1">
                <a:solidFill>
                  <a:srgbClr val="00F5C6"/>
                </a:solidFill>
                <a:latin typeface="Segoe"/>
              </a:rPr>
              <a:t>lựa</a:t>
            </a:r>
            <a:r>
              <a:rPr sz="1100" b="1">
                <a:solidFill>
                  <a:srgbClr val="00F5C6"/>
                </a:solidFill>
                <a:latin typeface="Segoe"/>
              </a:rPr>
              <a:t> </a:t>
            </a:r>
            <a:r>
              <a:rPr sz="1100" b="1" err="1">
                <a:solidFill>
                  <a:srgbClr val="00F5C6"/>
                </a:solidFill>
                <a:latin typeface="Segoe"/>
              </a:rPr>
              <a:t>chọn</a:t>
            </a:r>
            <a:r>
              <a:rPr sz="1100" b="1">
                <a:solidFill>
                  <a:srgbClr val="00F5C6"/>
                </a:solidFill>
                <a:latin typeface="Segoe"/>
              </a:rPr>
              <a:t> </a:t>
            </a:r>
            <a:r>
              <a:rPr sz="1100" b="1" err="1">
                <a:solidFill>
                  <a:srgbClr val="00F5C6"/>
                </a:solidFill>
                <a:latin typeface="Segoe"/>
              </a:rPr>
              <a:t>công</a:t>
            </a:r>
            <a:r>
              <a:rPr sz="1100" b="1">
                <a:solidFill>
                  <a:srgbClr val="00F5C6"/>
                </a:solidFill>
                <a:latin typeface="Segoe"/>
              </a:rPr>
              <a:t> </a:t>
            </a:r>
            <a:r>
              <a:rPr sz="1100" b="1" err="1">
                <a:solidFill>
                  <a:srgbClr val="00F5C6"/>
                </a:solidFill>
                <a:latin typeface="Segoe"/>
              </a:rPr>
              <a:t>nghệ</a:t>
            </a:r>
            <a:endParaRPr lang="en-US" sz="1100">
              <a:latin typeface="Segoe"/>
            </a:endParaRPr>
          </a:p>
          <a:p>
            <a:pPr>
              <a:spcBef>
                <a:spcPts val="0"/>
              </a:spcBef>
              <a:spcAft>
                <a:spcPts val="0"/>
              </a:spcAft>
            </a:pPr>
            <a:r>
              <a:rPr lang="vi-VN" sz="1100">
                <a:solidFill>
                  <a:srgbClr val="FFFFFF"/>
                </a:solidFill>
                <a:latin typeface="Segoe"/>
              </a:rPr>
              <a:t>Stack gọn, dễ cài đặt và phù hợp demo local. FastAPI hỗ trợ xây dựng REST API nhanh; SQLite + SQLAlchemy phù hợp lưu trữ đơn giản; async/await kết hợp httpx hỗ trợ gọi dịch vụ AI bất đồng bộ; pathlib giúp quản lý đường dẫn database ổn định; Gemini API bổ sung trải nghiệm tư vấn và đặt sân bằng ngôn ngữ tự nhiên.</a:t>
            </a:r>
            <a:endParaRPr sz="1100" b="0">
              <a:solidFill>
                <a:srgbClr val="FFFFFF"/>
              </a:solidFill>
              <a:latin typeface="Segoe"/>
            </a:endParaRPr>
          </a:p>
        </p:txBody>
      </p:sp>
      <p:pic>
        <p:nvPicPr>
          <p:cNvPr id="11" name="Picture 10" descr="uit_symbol_only.png"/>
          <p:cNvPicPr>
            <a:picLocks noChangeAspect="1"/>
          </p:cNvPicPr>
          <p:nvPr/>
        </p:nvPicPr>
        <p:blipFill>
          <a:blip r:embed="rId3"/>
          <a:stretch>
            <a:fillRect/>
          </a:stretch>
        </p:blipFill>
        <p:spPr>
          <a:xfrm>
            <a:off x="100584" y="91440"/>
            <a:ext cx="420261" cy="310896"/>
          </a:xfrm>
          <a:prstGeom prst="rect">
            <a:avLst/>
          </a:prstGeom>
        </p:spPr>
      </p:pic>
      <p:pic>
        <p:nvPicPr>
          <p:cNvPr id="12" name="Picture 11" descr="image.png"/>
          <p:cNvPicPr>
            <a:picLocks noChangeAspect="1"/>
          </p:cNvPicPr>
          <p:nvPr/>
        </p:nvPicPr>
        <p:blipFill>
          <a:blip r:embed="rId4"/>
          <a:stretch>
            <a:fillRect/>
          </a:stretch>
        </p:blipFill>
        <p:spPr>
          <a:xfrm>
            <a:off x="10195560" y="91440"/>
            <a:ext cx="1783080" cy="594360"/>
          </a:xfrm>
          <a:prstGeom prst="rect">
            <a:avLst/>
          </a:prstGeom>
        </p:spPr>
      </p:pic>
      <p:sp>
        <p:nvSpPr>
          <p:cNvPr id="13" name="Text 4">
            <a:extLst>
              <a:ext uri="{FF2B5EF4-FFF2-40B4-BE49-F238E27FC236}">
                <a16:creationId xmlns:a16="http://schemas.microsoft.com/office/drawing/2014/main" id="{0BF9E0F0-AF4C-4094-946C-C19B3CA46B0A}"/>
              </a:ext>
            </a:extLst>
          </p:cNvPr>
          <p:cNvSpPr/>
          <p:nvPr/>
        </p:nvSpPr>
        <p:spPr>
          <a:xfrm>
            <a:off x="685800" y="3520440"/>
            <a:ext cx="4450080" cy="21488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r>
              <a:rPr lang="en-US" sz="1400" b="1">
                <a:solidFill>
                  <a:srgbClr val="38F2C0"/>
                </a:solidFill>
                <a:latin typeface="Segoe"/>
              </a:rPr>
              <a:t>Kỹ thuật lập trình Python áp dụng</a:t>
            </a:r>
          </a:p>
          <a:p>
            <a:pPr lvl="0"/>
            <a:r>
              <a:rPr lang="vi-VN" sz="1400">
                <a:solidFill>
                  <a:srgbClr val="FFFFFF"/>
                </a:solidFill>
                <a:latin typeface="Consolas" pitchFamily="34" charset="0"/>
                <a:ea typeface="Consolas" pitchFamily="34" charset="-122"/>
                <a:cs typeface="Consolas" pitchFamily="34" charset="-120"/>
              </a:rPr>
              <a:t>• </a:t>
            </a:r>
            <a:r>
              <a:rPr lang="vi-VN" sz="1400">
                <a:solidFill>
                  <a:srgbClr val="FFFFFF"/>
                </a:solidFill>
                <a:latin typeface="Segoe"/>
                <a:ea typeface="Consolas" pitchFamily="34" charset="-122"/>
                <a:cs typeface="Consolas" pitchFamily="34" charset="-120"/>
              </a:rPr>
              <a:t>async/await + httpx.AsyncClient: gọi Gemini API bất đồng bộ</a:t>
            </a:r>
            <a:endParaRPr lang="en-US" sz="1400">
              <a:solidFill>
                <a:srgbClr val="FFFFFF"/>
              </a:solidFill>
              <a:latin typeface="Segoe"/>
              <a:ea typeface="Consolas" pitchFamily="34" charset="-122"/>
              <a:cs typeface="Consolas" pitchFamily="34" charset="-120"/>
            </a:endParaRPr>
          </a:p>
          <a:p>
            <a:pPr lvl="0"/>
            <a:r>
              <a:rPr lang="vi-VN" sz="1400">
                <a:solidFill>
                  <a:srgbClr val="FFFFFF"/>
                </a:solidFill>
                <a:latin typeface="Segoe"/>
                <a:ea typeface="Consolas" pitchFamily="34" charset="-122"/>
                <a:cs typeface="Consolas" pitchFamily="34" charset="-120"/>
              </a:rPr>
              <a:t>• pathlib.Path:</a:t>
            </a:r>
            <a:r>
              <a:rPr lang="en-US" sz="1400">
                <a:solidFill>
                  <a:srgbClr val="FFFFFF"/>
                </a:solidFill>
                <a:latin typeface="Segoe"/>
                <a:ea typeface="Consolas" pitchFamily="34" charset="-122"/>
                <a:cs typeface="Consolas" pitchFamily="34" charset="-120"/>
              </a:rPr>
              <a:t> </a:t>
            </a:r>
            <a:r>
              <a:rPr lang="vi-VN" sz="1400">
                <a:solidFill>
                  <a:srgbClr val="FFFFFF"/>
                </a:solidFill>
                <a:latin typeface="Segoe"/>
                <a:ea typeface="Consolas" pitchFamily="34" charset="-122"/>
                <a:cs typeface="Consolas" pitchFamily="34" charset="-120"/>
              </a:rPr>
              <a:t>xác định và quản lý đường dẫn DB ổn định theo vị trí source code</a:t>
            </a:r>
            <a:endParaRPr lang="en-US" sz="1400">
              <a:solidFill>
                <a:srgbClr val="FFFFFF"/>
              </a:solidFill>
              <a:latin typeface="Segoe"/>
              <a:ea typeface="Consolas" pitchFamily="34" charset="-122"/>
              <a:cs typeface="Consolas" pitchFamily="34" charset="-120"/>
            </a:endParaRPr>
          </a:p>
          <a:p>
            <a:pPr lvl="0"/>
            <a:r>
              <a:rPr lang="vi-VN" sz="1400">
                <a:solidFill>
                  <a:srgbClr val="FFFFFF"/>
                </a:solidFill>
                <a:latin typeface="Segoe"/>
                <a:ea typeface="Consolas" pitchFamily="34" charset="-122"/>
                <a:cs typeface="Consolas" pitchFamily="34" charset="-120"/>
              </a:rPr>
              <a:t>• Tổ chức mã nguồn theo module: API – Model – Schema – Service</a:t>
            </a:r>
            <a:endParaRPr lang="en-US" sz="1400">
              <a:solidFill>
                <a:srgbClr val="FFFFFF"/>
              </a:solidFill>
              <a:latin typeface="Segoe"/>
              <a:ea typeface="Consolas" pitchFamily="34" charset="-122"/>
              <a:cs typeface="Consolas" pitchFamily="34" charset="-120"/>
            </a:endParaRPr>
          </a:p>
          <a:p>
            <a:endParaRPr lang="en-US" sz="1100" b="1">
              <a:solidFill>
                <a:srgbClr val="38F2C0"/>
              </a:solidFill>
              <a:latin typeface="Sego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pPr marL="0" indent="0">
              <a:buNone/>
            </a:pPr>
            <a:r>
              <a:rPr lang="en-US" sz="2400" b="1">
                <a:solidFill>
                  <a:srgbClr val="FFFFFF"/>
                </a:solidFill>
              </a:rPr>
              <a:t>DATA MODEL (DM) &amp; CƠ SỞ DỮ LIỆU</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02920"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06</a:t>
            </a:r>
            <a:endParaRPr lang="en-US" sz="850"/>
          </a:p>
        </p:txBody>
      </p:sp>
      <p:sp>
        <p:nvSpPr>
          <p:cNvPr id="6" name="Shape 4"/>
          <p:cNvSpPr/>
          <p:nvPr/>
        </p:nvSpPr>
        <p:spPr>
          <a:xfrm flipH="1">
            <a:off x="5602877" y="2321707"/>
            <a:ext cx="0" cy="298049"/>
          </a:xfrm>
          <a:prstGeom prst="line">
            <a:avLst/>
          </a:prstGeom>
          <a:noFill/>
          <a:ln w="22860">
            <a:solidFill>
              <a:srgbClr val="F3C04E"/>
            </a:solidFill>
            <a:prstDash val="solid"/>
            <a:tailEnd type="triangle"/>
          </a:ln>
        </p:spPr>
        <p:txBody>
          <a:bodyPr/>
          <a:lstStyle/>
          <a:p>
            <a:endParaRPr/>
          </a:p>
        </p:txBody>
      </p:sp>
      <p:sp>
        <p:nvSpPr>
          <p:cNvPr id="7" name="Shape 5"/>
          <p:cNvSpPr/>
          <p:nvPr/>
        </p:nvSpPr>
        <p:spPr>
          <a:xfrm flipV="1">
            <a:off x="7382687" y="1737360"/>
            <a:ext cx="693421" cy="0"/>
          </a:xfrm>
          <a:prstGeom prst="line">
            <a:avLst/>
          </a:prstGeom>
          <a:noFill/>
          <a:ln w="22860">
            <a:solidFill>
              <a:srgbClr val="F3C04E"/>
            </a:solidFill>
            <a:prstDash val="solid"/>
            <a:tailEnd type="triangle"/>
          </a:ln>
        </p:spPr>
        <p:txBody>
          <a:bodyPr/>
          <a:lstStyle/>
          <a:p>
            <a:endParaRPr/>
          </a:p>
        </p:txBody>
      </p:sp>
      <p:sp>
        <p:nvSpPr>
          <p:cNvPr id="8" name="Shape 6"/>
          <p:cNvSpPr/>
          <p:nvPr/>
        </p:nvSpPr>
        <p:spPr>
          <a:xfrm flipH="1" flipV="1">
            <a:off x="5256167" y="3141825"/>
            <a:ext cx="693421" cy="0"/>
          </a:xfrm>
          <a:prstGeom prst="line">
            <a:avLst/>
          </a:prstGeom>
          <a:noFill/>
          <a:ln w="22860">
            <a:solidFill>
              <a:srgbClr val="F3C04E"/>
            </a:solidFill>
            <a:prstDash val="solid"/>
            <a:tailEnd type="triangle"/>
          </a:ln>
        </p:spPr>
        <p:txBody>
          <a:bodyPr/>
          <a:lstStyle/>
          <a:p>
            <a:endParaRPr/>
          </a:p>
        </p:txBody>
      </p:sp>
      <p:sp>
        <p:nvSpPr>
          <p:cNvPr id="10" name="Text 8"/>
          <p:cNvSpPr/>
          <p:nvPr/>
        </p:nvSpPr>
        <p:spPr>
          <a:xfrm>
            <a:off x="685800" y="1234440"/>
            <a:ext cx="2194560" cy="10058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users
</a:t>
            </a:r>
            <a:r>
              <a:rPr lang="en-US" sz="1100">
                <a:solidFill>
                  <a:srgbClr val="E9F4FF"/>
                </a:solidFill>
                <a:latin typeface="Segoe"/>
              </a:rPr>
              <a:t>Tài khoản admin, mật khẩu đã hash, trạng thái và quyền quản trị.</a:t>
            </a:r>
            <a:endParaRPr lang="en-US" sz="1100">
              <a:latin typeface="Segoe"/>
            </a:endParaRPr>
          </a:p>
        </p:txBody>
      </p:sp>
      <p:sp>
        <p:nvSpPr>
          <p:cNvPr id="11" name="Text 9"/>
          <p:cNvSpPr/>
          <p:nvPr/>
        </p:nvSpPr>
        <p:spPr>
          <a:xfrm>
            <a:off x="4505597" y="1234440"/>
            <a:ext cx="2194560" cy="10058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courts
</a:t>
            </a:r>
            <a:r>
              <a:rPr lang="en-US" sz="1100">
                <a:solidFill>
                  <a:srgbClr val="E9F4FF"/>
                </a:solidFill>
                <a:latin typeface="Segoe"/>
              </a:rPr>
              <a:t>Sân, loại sân, giá/giờ, trạng thái hoạt động.</a:t>
            </a:r>
            <a:endParaRPr lang="en-US" sz="1100">
              <a:latin typeface="Segoe"/>
            </a:endParaRPr>
          </a:p>
        </p:txBody>
      </p:sp>
      <p:sp>
        <p:nvSpPr>
          <p:cNvPr id="12" name="Text 10"/>
          <p:cNvSpPr/>
          <p:nvPr/>
        </p:nvSpPr>
        <p:spPr>
          <a:xfrm>
            <a:off x="8829403" y="1214085"/>
            <a:ext cx="2194560" cy="10058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time_slots
</a:t>
            </a:r>
            <a:r>
              <a:rPr lang="en-US" sz="1100">
                <a:solidFill>
                  <a:srgbClr val="E9F4FF"/>
                </a:solidFill>
                <a:latin typeface="Segoe"/>
              </a:rPr>
              <a:t>Khung giờ bắt đầu/kết thúc phục vụ lịch đặt.</a:t>
            </a:r>
            <a:endParaRPr lang="en-US" sz="1100">
              <a:latin typeface="Segoe"/>
            </a:endParaRPr>
          </a:p>
        </p:txBody>
      </p:sp>
      <p:sp>
        <p:nvSpPr>
          <p:cNvPr id="13" name="Text 11"/>
          <p:cNvSpPr/>
          <p:nvPr/>
        </p:nvSpPr>
        <p:spPr>
          <a:xfrm>
            <a:off x="4505597" y="4324461"/>
            <a:ext cx="2194560" cy="10058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services
</a:t>
            </a:r>
            <a:r>
              <a:rPr lang="en-US" sz="1100">
                <a:solidFill>
                  <a:srgbClr val="E9F4FF"/>
                </a:solidFill>
                <a:latin typeface="Segoe"/>
              </a:rPr>
              <a:t>Dịch vụ, đơn vị tính, đơn giá, đang cung cấp.</a:t>
            </a:r>
            <a:endParaRPr lang="en-US" sz="1100">
              <a:latin typeface="Segoe"/>
            </a:endParaRPr>
          </a:p>
        </p:txBody>
      </p:sp>
      <p:sp>
        <p:nvSpPr>
          <p:cNvPr id="14" name="Text 12"/>
          <p:cNvSpPr/>
          <p:nvPr/>
        </p:nvSpPr>
        <p:spPr>
          <a:xfrm>
            <a:off x="8829403" y="2720340"/>
            <a:ext cx="2194562" cy="1028700"/>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bookings
</a:t>
            </a:r>
            <a:r>
              <a:rPr lang="en-US" sz="1100">
                <a:solidFill>
                  <a:srgbClr val="E9F4FF"/>
                </a:solidFill>
                <a:latin typeface="Segoe"/>
              </a:rPr>
              <a:t>Mã đơn, khách hàng, SĐT, ngày đặt, tổng tiền, trạng thái.</a:t>
            </a:r>
            <a:endParaRPr lang="en-US" sz="1100">
              <a:latin typeface="Segoe"/>
            </a:endParaRPr>
          </a:p>
        </p:txBody>
      </p:sp>
      <p:sp>
        <p:nvSpPr>
          <p:cNvPr id="15" name="Text 13"/>
          <p:cNvSpPr/>
          <p:nvPr/>
        </p:nvSpPr>
        <p:spPr>
          <a:xfrm>
            <a:off x="4505597" y="2720340"/>
            <a:ext cx="2194561" cy="1028700"/>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booking_slots
</a:t>
            </a:r>
            <a:r>
              <a:rPr lang="en-US" sz="1100">
                <a:solidFill>
                  <a:srgbClr val="E9F4FF"/>
                </a:solidFill>
                <a:latin typeface="Segoe"/>
              </a:rPr>
              <a:t>Liên kết booking </a:t>
            </a:r>
            <a:r>
              <a:rPr lang="en-US" sz="1100" err="1">
                <a:solidFill>
                  <a:srgbClr val="E9F4FF"/>
                </a:solidFill>
                <a:latin typeface="Segoe"/>
              </a:rPr>
              <a:t>với</a:t>
            </a:r>
            <a:r>
              <a:rPr lang="en-US" sz="1100">
                <a:solidFill>
                  <a:srgbClr val="E9F4FF"/>
                </a:solidFill>
                <a:latin typeface="Segoe"/>
              </a:rPr>
              <a:t> </a:t>
            </a:r>
            <a:r>
              <a:rPr lang="en-US" sz="1100" err="1">
                <a:solidFill>
                  <a:srgbClr val="E9F4FF"/>
                </a:solidFill>
                <a:latin typeface="Segoe"/>
              </a:rPr>
              <a:t>sân</a:t>
            </a:r>
            <a:r>
              <a:rPr lang="en-US" sz="1100">
                <a:solidFill>
                  <a:srgbClr val="E9F4FF"/>
                </a:solidFill>
                <a:latin typeface="Segoe"/>
              </a:rPr>
              <a:t>, </a:t>
            </a:r>
            <a:r>
              <a:rPr lang="en-US" sz="1100" err="1">
                <a:solidFill>
                  <a:srgbClr val="E9F4FF"/>
                </a:solidFill>
                <a:latin typeface="Segoe"/>
              </a:rPr>
              <a:t>ngày</a:t>
            </a:r>
            <a:r>
              <a:rPr lang="en-US" sz="1100">
                <a:solidFill>
                  <a:srgbClr val="E9F4FF"/>
                </a:solidFill>
                <a:latin typeface="Segoe"/>
              </a:rPr>
              <a:t> và </a:t>
            </a:r>
            <a:r>
              <a:rPr lang="en-US" sz="1100" err="1">
                <a:solidFill>
                  <a:srgbClr val="E9F4FF"/>
                </a:solidFill>
                <a:latin typeface="Segoe"/>
              </a:rPr>
              <a:t>khung</a:t>
            </a:r>
            <a:r>
              <a:rPr lang="en-US" sz="1100">
                <a:solidFill>
                  <a:srgbClr val="E9F4FF"/>
                </a:solidFill>
                <a:latin typeface="Segoe"/>
              </a:rPr>
              <a:t> </a:t>
            </a:r>
            <a:r>
              <a:rPr lang="en-US" sz="1100" err="1">
                <a:solidFill>
                  <a:srgbClr val="E9F4FF"/>
                </a:solidFill>
                <a:latin typeface="Segoe"/>
              </a:rPr>
              <a:t>giờ</a:t>
            </a:r>
            <a:r>
              <a:rPr lang="en-US" sz="1100">
                <a:solidFill>
                  <a:srgbClr val="E9F4FF"/>
                </a:solidFill>
                <a:latin typeface="Segoe"/>
              </a:rPr>
              <a:t> </a:t>
            </a:r>
            <a:r>
              <a:rPr lang="en-US" sz="1100" err="1">
                <a:solidFill>
                  <a:srgbClr val="E9F4FF"/>
                </a:solidFill>
                <a:latin typeface="Segoe"/>
              </a:rPr>
              <a:t>đặt</a:t>
            </a:r>
            <a:r>
              <a:rPr lang="en-US" sz="1100">
                <a:solidFill>
                  <a:srgbClr val="E9F4FF"/>
                </a:solidFill>
                <a:latin typeface="Segoe"/>
              </a:rPr>
              <a:t>.</a:t>
            </a:r>
            <a:endParaRPr lang="en-US" sz="1100">
              <a:latin typeface="Segoe"/>
            </a:endParaRPr>
          </a:p>
        </p:txBody>
      </p:sp>
      <p:sp>
        <p:nvSpPr>
          <p:cNvPr id="16" name="Text 14"/>
          <p:cNvSpPr/>
          <p:nvPr/>
        </p:nvSpPr>
        <p:spPr>
          <a:xfrm>
            <a:off x="8838108" y="4321393"/>
            <a:ext cx="2185857" cy="1005833"/>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booking_services
</a:t>
            </a:r>
            <a:r>
              <a:rPr lang="en-US" sz="1100">
                <a:solidFill>
                  <a:srgbClr val="E9F4FF"/>
                </a:solidFill>
                <a:latin typeface="Segoe"/>
              </a:rPr>
              <a:t>Lưu dịch vụ đi kèm, số lượng và thành tiền.</a:t>
            </a:r>
            <a:endParaRPr lang="en-US" sz="1100">
              <a:latin typeface="Segoe"/>
            </a:endParaRPr>
          </a:p>
        </p:txBody>
      </p:sp>
      <p:sp>
        <p:nvSpPr>
          <p:cNvPr id="17" name="Text 15"/>
          <p:cNvSpPr/>
          <p:nvPr/>
        </p:nvSpPr>
        <p:spPr>
          <a:xfrm>
            <a:off x="685800" y="5453745"/>
            <a:ext cx="10338163" cy="68580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a:spcBef>
                <a:spcPts val="0"/>
              </a:spcBef>
              <a:spcAft>
                <a:spcPts val="0"/>
              </a:spcAft>
            </a:pPr>
            <a:r>
              <a:rPr sz="1100" b="1" err="1">
                <a:solidFill>
                  <a:srgbClr val="00F5C6"/>
                </a:solidFill>
                <a:latin typeface="Segoe"/>
              </a:rPr>
              <a:t>Thiết</a:t>
            </a:r>
            <a:r>
              <a:rPr sz="1100" b="1">
                <a:solidFill>
                  <a:srgbClr val="00F5C6"/>
                </a:solidFill>
                <a:latin typeface="Segoe"/>
              </a:rPr>
              <a:t> </a:t>
            </a:r>
            <a:r>
              <a:rPr sz="1100" b="1" err="1">
                <a:solidFill>
                  <a:srgbClr val="00F5C6"/>
                </a:solidFill>
                <a:latin typeface="Segoe"/>
              </a:rPr>
              <a:t>kế</a:t>
            </a:r>
            <a:r>
              <a:rPr sz="1100" b="1">
                <a:solidFill>
                  <a:srgbClr val="00F5C6"/>
                </a:solidFill>
                <a:latin typeface="Segoe"/>
              </a:rPr>
              <a:t> </a:t>
            </a:r>
            <a:r>
              <a:rPr sz="1100" b="1" err="1">
                <a:solidFill>
                  <a:srgbClr val="00F5C6"/>
                </a:solidFill>
                <a:latin typeface="Segoe"/>
              </a:rPr>
              <a:t>dữ</a:t>
            </a:r>
            <a:r>
              <a:rPr sz="1100" b="1">
                <a:solidFill>
                  <a:srgbClr val="00F5C6"/>
                </a:solidFill>
                <a:latin typeface="Segoe"/>
              </a:rPr>
              <a:t> </a:t>
            </a:r>
            <a:r>
              <a:rPr sz="1100" b="1" err="1">
                <a:solidFill>
                  <a:srgbClr val="00F5C6"/>
                </a:solidFill>
                <a:latin typeface="Segoe"/>
              </a:rPr>
              <a:t>liệu</a:t>
            </a:r>
            <a:endParaRPr lang="en-US" sz="1100">
              <a:latin typeface="Segoe"/>
            </a:endParaRPr>
          </a:p>
          <a:p>
            <a:pPr>
              <a:spcBef>
                <a:spcPts val="0"/>
              </a:spcBef>
              <a:spcAft>
                <a:spcPts val="0"/>
              </a:spcAft>
            </a:pPr>
            <a:r>
              <a:rPr sz="1100" b="0" err="1">
                <a:solidFill>
                  <a:srgbClr val="FFFFFF"/>
                </a:solidFill>
                <a:latin typeface="Segoe"/>
              </a:rPr>
              <a:t>Tách</a:t>
            </a:r>
            <a:r>
              <a:rPr sz="1100" b="0">
                <a:solidFill>
                  <a:srgbClr val="FFFFFF"/>
                </a:solidFill>
                <a:latin typeface="Segoe"/>
              </a:rPr>
              <a:t> </a:t>
            </a:r>
            <a:r>
              <a:rPr sz="1100" b="0" err="1">
                <a:solidFill>
                  <a:srgbClr val="FFFFFF"/>
                </a:solidFill>
                <a:latin typeface="Segoe"/>
              </a:rPr>
              <a:t>danh</a:t>
            </a:r>
            <a:r>
              <a:rPr sz="1100" b="0">
                <a:solidFill>
                  <a:srgbClr val="FFFFFF"/>
                </a:solidFill>
                <a:latin typeface="Segoe"/>
              </a:rPr>
              <a:t> </a:t>
            </a:r>
            <a:r>
              <a:rPr sz="1100" b="0" err="1">
                <a:solidFill>
                  <a:srgbClr val="FFFFFF"/>
                </a:solidFill>
                <a:latin typeface="Segoe"/>
              </a:rPr>
              <a:t>mục</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a:t>
            </a:r>
            <a:r>
              <a:rPr sz="1100" b="0" err="1">
                <a:solidFill>
                  <a:srgbClr val="FFFFFF"/>
                </a:solidFill>
                <a:latin typeface="Segoe"/>
              </a:rPr>
              <a:t>khỏi</a:t>
            </a:r>
            <a:r>
              <a:rPr sz="1100" b="0">
                <a:solidFill>
                  <a:srgbClr val="FFFFFF"/>
                </a:solidFill>
                <a:latin typeface="Segoe"/>
              </a:rPr>
              <a:t> booking; </a:t>
            </a:r>
            <a:r>
              <a:rPr sz="1100" b="0" err="1">
                <a:solidFill>
                  <a:srgbClr val="FFFFFF"/>
                </a:solidFill>
                <a:latin typeface="Segoe"/>
              </a:rPr>
              <a:t>dùng</a:t>
            </a:r>
            <a:r>
              <a:rPr sz="1100" b="0">
                <a:solidFill>
                  <a:srgbClr val="FFFFFF"/>
                </a:solidFill>
                <a:latin typeface="Segoe"/>
              </a:rPr>
              <a:t> </a:t>
            </a:r>
            <a:r>
              <a:rPr sz="1100" b="0" err="1">
                <a:solidFill>
                  <a:srgbClr val="FFFFFF"/>
                </a:solidFill>
                <a:latin typeface="Segoe"/>
              </a:rPr>
              <a:t>booking_slots</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booking_services</a:t>
            </a:r>
            <a:r>
              <a:rPr sz="1100" b="0">
                <a:solidFill>
                  <a:srgbClr val="FFFFFF"/>
                </a:solidFill>
                <a:latin typeface="Segoe"/>
              </a:rPr>
              <a:t> </a:t>
            </a:r>
            <a:r>
              <a:rPr sz="1100" b="0" err="1">
                <a:solidFill>
                  <a:srgbClr val="FFFFFF"/>
                </a:solidFill>
                <a:latin typeface="Segoe"/>
              </a:rPr>
              <a:t>để</a:t>
            </a:r>
            <a:r>
              <a:rPr sz="1100" b="0">
                <a:solidFill>
                  <a:srgbClr val="FFFFFF"/>
                </a:solidFill>
                <a:latin typeface="Segoe"/>
              </a:rPr>
              <a:t> </a:t>
            </a:r>
            <a:r>
              <a:rPr sz="1100" b="0" err="1">
                <a:solidFill>
                  <a:srgbClr val="FFFFFF"/>
                </a:solidFill>
                <a:latin typeface="Segoe"/>
              </a:rPr>
              <a:t>một</a:t>
            </a:r>
            <a:r>
              <a:rPr sz="1100" b="0">
                <a:solidFill>
                  <a:srgbClr val="FFFFFF"/>
                </a:solidFill>
                <a:latin typeface="Segoe"/>
              </a:rPr>
              <a:t> booking </a:t>
            </a:r>
            <a:r>
              <a:rPr sz="1100" b="0" err="1">
                <a:solidFill>
                  <a:srgbClr val="FFFFFF"/>
                </a:solidFill>
                <a:latin typeface="Segoe"/>
              </a:rPr>
              <a:t>có</a:t>
            </a:r>
            <a:r>
              <a:rPr sz="1100" b="0">
                <a:solidFill>
                  <a:srgbClr val="FFFFFF"/>
                </a:solidFill>
                <a:latin typeface="Segoe"/>
              </a:rPr>
              <a:t> </a:t>
            </a:r>
            <a:r>
              <a:rPr sz="1100" b="0" err="1">
                <a:solidFill>
                  <a:srgbClr val="FFFFFF"/>
                </a:solidFill>
                <a:latin typeface="Segoe"/>
              </a:rPr>
              <a:t>thể</a:t>
            </a:r>
            <a:r>
              <a:rPr sz="1100" b="0">
                <a:solidFill>
                  <a:srgbClr val="FFFFFF"/>
                </a:solidFill>
                <a:latin typeface="Segoe"/>
              </a:rPr>
              <a:t> </a:t>
            </a:r>
            <a:r>
              <a:rPr sz="1100" b="0" err="1">
                <a:solidFill>
                  <a:srgbClr val="FFFFFF"/>
                </a:solidFill>
                <a:latin typeface="Segoe"/>
              </a:rPr>
              <a:t>gắn</a:t>
            </a:r>
            <a:r>
              <a:rPr sz="1100" b="0">
                <a:solidFill>
                  <a:srgbClr val="FFFFFF"/>
                </a:solidFill>
                <a:latin typeface="Segoe"/>
              </a:rPr>
              <a:t> </a:t>
            </a:r>
            <a:r>
              <a:rPr sz="1100" b="0" err="1">
                <a:solidFill>
                  <a:srgbClr val="FFFFFF"/>
                </a:solidFill>
                <a:latin typeface="Segoe"/>
              </a:rPr>
              <a:t>đúng</a:t>
            </a:r>
            <a:r>
              <a:rPr sz="1100" b="0">
                <a:solidFill>
                  <a:srgbClr val="FFFFFF"/>
                </a:solidFill>
                <a:latin typeface="Segoe"/>
              </a:rPr>
              <a:t> </a:t>
            </a:r>
            <a:r>
              <a:rPr sz="1100" b="0" err="1">
                <a:solidFill>
                  <a:srgbClr val="FFFFFF"/>
                </a:solidFill>
                <a:latin typeface="Segoe"/>
              </a:rPr>
              <a:t>khung</a:t>
            </a:r>
            <a:r>
              <a:rPr sz="1100" b="0">
                <a:solidFill>
                  <a:srgbClr val="FFFFFF"/>
                </a:solidFill>
                <a:latin typeface="Segoe"/>
              </a:rPr>
              <a:t> </a:t>
            </a:r>
            <a:r>
              <a:rPr sz="1100" b="0" err="1">
                <a:solidFill>
                  <a:srgbClr val="FFFFFF"/>
                </a:solidFill>
                <a:latin typeface="Segoe"/>
              </a:rPr>
              <a:t>giờ</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nhiều</a:t>
            </a:r>
            <a:r>
              <a:rPr sz="1100" b="0">
                <a:solidFill>
                  <a:srgbClr val="FFFFFF"/>
                </a:solidFill>
                <a:latin typeface="Segoe"/>
              </a:rPr>
              <a:t> </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a:t>
            </a:r>
            <a:r>
              <a:rPr sz="1100" b="0" err="1">
                <a:solidFill>
                  <a:srgbClr val="FFFFFF"/>
                </a:solidFill>
                <a:latin typeface="Segoe"/>
              </a:rPr>
              <a:t>đi</a:t>
            </a:r>
            <a:r>
              <a:rPr sz="1100" b="0">
                <a:solidFill>
                  <a:srgbClr val="FFFFFF"/>
                </a:solidFill>
                <a:latin typeface="Segoe"/>
              </a:rPr>
              <a:t> </a:t>
            </a:r>
            <a:r>
              <a:rPr sz="1100" b="0" err="1">
                <a:solidFill>
                  <a:srgbClr val="FFFFFF"/>
                </a:solidFill>
                <a:latin typeface="Segoe"/>
              </a:rPr>
              <a:t>kèm</a:t>
            </a:r>
            <a:r>
              <a:rPr sz="1100" b="0">
                <a:solidFill>
                  <a:srgbClr val="FFFFFF"/>
                </a:solidFill>
                <a:latin typeface="Segoe"/>
              </a:rPr>
              <a:t>, </a:t>
            </a:r>
            <a:r>
              <a:rPr sz="1100" b="0" err="1">
                <a:solidFill>
                  <a:srgbClr val="FFFFFF"/>
                </a:solidFill>
                <a:latin typeface="Segoe"/>
              </a:rPr>
              <a:t>đồng</a:t>
            </a:r>
            <a:r>
              <a:rPr sz="1100" b="0">
                <a:solidFill>
                  <a:srgbClr val="FFFFFF"/>
                </a:solidFill>
                <a:latin typeface="Segoe"/>
              </a:rPr>
              <a:t> </a:t>
            </a:r>
            <a:r>
              <a:rPr sz="1100" b="0" err="1">
                <a:solidFill>
                  <a:srgbClr val="FFFFFF"/>
                </a:solidFill>
                <a:latin typeface="Segoe"/>
              </a:rPr>
              <a:t>thời</a:t>
            </a:r>
            <a:r>
              <a:rPr sz="1100" b="0">
                <a:solidFill>
                  <a:srgbClr val="FFFFFF"/>
                </a:solidFill>
                <a:latin typeface="Segoe"/>
              </a:rPr>
              <a:t> </a:t>
            </a:r>
            <a:r>
              <a:rPr sz="1100" b="0" err="1">
                <a:solidFill>
                  <a:srgbClr val="FFFFFF"/>
                </a:solidFill>
                <a:latin typeface="Segoe"/>
              </a:rPr>
              <a:t>tính</a:t>
            </a:r>
            <a:r>
              <a:rPr sz="1100" b="0">
                <a:solidFill>
                  <a:srgbClr val="FFFFFF"/>
                </a:solidFill>
                <a:latin typeface="Segoe"/>
              </a:rPr>
              <a:t> </a:t>
            </a:r>
            <a:r>
              <a:rPr sz="1100" b="0" err="1">
                <a:solidFill>
                  <a:srgbClr val="FFFFFF"/>
                </a:solidFill>
                <a:latin typeface="Segoe"/>
              </a:rPr>
              <a:t>tổng</a:t>
            </a:r>
            <a:r>
              <a:rPr sz="1100" b="0">
                <a:solidFill>
                  <a:srgbClr val="FFFFFF"/>
                </a:solidFill>
                <a:latin typeface="Segoe"/>
              </a:rPr>
              <a:t> </a:t>
            </a:r>
            <a:r>
              <a:rPr sz="1100" b="0" err="1">
                <a:solidFill>
                  <a:srgbClr val="FFFFFF"/>
                </a:solidFill>
                <a:latin typeface="Segoe"/>
              </a:rPr>
              <a:t>tiền</a:t>
            </a:r>
            <a:r>
              <a:rPr sz="1100" b="0">
                <a:solidFill>
                  <a:srgbClr val="FFFFFF"/>
                </a:solidFill>
                <a:latin typeface="Segoe"/>
              </a:rPr>
              <a:t> </a:t>
            </a:r>
            <a:r>
              <a:rPr sz="1100" b="0" err="1">
                <a:solidFill>
                  <a:srgbClr val="FFFFFF"/>
                </a:solidFill>
                <a:latin typeface="Segoe"/>
              </a:rPr>
              <a:t>chính</a:t>
            </a:r>
            <a:r>
              <a:rPr sz="1100" b="0">
                <a:solidFill>
                  <a:srgbClr val="FFFFFF"/>
                </a:solidFill>
                <a:latin typeface="Segoe"/>
              </a:rPr>
              <a:t> </a:t>
            </a:r>
            <a:r>
              <a:rPr sz="1100" b="0" err="1">
                <a:solidFill>
                  <a:srgbClr val="FFFFFF"/>
                </a:solidFill>
                <a:latin typeface="Segoe"/>
              </a:rPr>
              <a:t>xác</a:t>
            </a:r>
            <a:r>
              <a:rPr sz="1100" b="0">
                <a:solidFill>
                  <a:srgbClr val="FFFFFF"/>
                </a:solidFill>
                <a:latin typeface="Segoe"/>
              </a:rPr>
              <a:t>.</a:t>
            </a:r>
          </a:p>
        </p:txBody>
      </p:sp>
      <p:pic>
        <p:nvPicPr>
          <p:cNvPr id="18" name="Picture 17" descr="uit_symbol_only.png"/>
          <p:cNvPicPr>
            <a:picLocks noChangeAspect="1"/>
          </p:cNvPicPr>
          <p:nvPr/>
        </p:nvPicPr>
        <p:blipFill>
          <a:blip r:embed="rId3"/>
          <a:stretch>
            <a:fillRect/>
          </a:stretch>
        </p:blipFill>
        <p:spPr>
          <a:xfrm>
            <a:off x="100584" y="91440"/>
            <a:ext cx="420261" cy="310896"/>
          </a:xfrm>
          <a:prstGeom prst="rect">
            <a:avLst/>
          </a:prstGeom>
        </p:spPr>
      </p:pic>
      <p:pic>
        <p:nvPicPr>
          <p:cNvPr id="19" name="Picture 18" descr="image.png"/>
          <p:cNvPicPr>
            <a:picLocks noChangeAspect="1"/>
          </p:cNvPicPr>
          <p:nvPr/>
        </p:nvPicPr>
        <p:blipFill>
          <a:blip r:embed="rId4"/>
          <a:stretch>
            <a:fillRect/>
          </a:stretch>
        </p:blipFill>
        <p:spPr>
          <a:xfrm>
            <a:off x="10195560" y="91440"/>
            <a:ext cx="1783080" cy="594360"/>
          </a:xfrm>
          <a:prstGeom prst="rect">
            <a:avLst/>
          </a:prstGeom>
        </p:spPr>
      </p:pic>
      <p:sp>
        <p:nvSpPr>
          <p:cNvPr id="21" name="Shape 6">
            <a:extLst>
              <a:ext uri="{FF2B5EF4-FFF2-40B4-BE49-F238E27FC236}">
                <a16:creationId xmlns:a16="http://schemas.microsoft.com/office/drawing/2014/main" id="{67919859-612E-48C0-9C38-0601991F693E}"/>
              </a:ext>
            </a:extLst>
          </p:cNvPr>
          <p:cNvSpPr/>
          <p:nvPr/>
        </p:nvSpPr>
        <p:spPr>
          <a:xfrm rot="10800000" flipH="1" flipV="1">
            <a:off x="7371804" y="4751604"/>
            <a:ext cx="693421" cy="0"/>
          </a:xfrm>
          <a:prstGeom prst="line">
            <a:avLst/>
          </a:prstGeom>
          <a:noFill/>
          <a:ln w="22860">
            <a:solidFill>
              <a:srgbClr val="F3C04E"/>
            </a:solidFill>
            <a:prstDash val="solid"/>
            <a:tailEnd type="triangle"/>
          </a:ln>
        </p:spPr>
        <p:txBody>
          <a:bodyPr/>
          <a:lstStyle/>
          <a:p>
            <a:endParaRPr lang="en-US"/>
          </a:p>
        </p:txBody>
      </p:sp>
      <p:sp>
        <p:nvSpPr>
          <p:cNvPr id="22" name="Shape 6">
            <a:extLst>
              <a:ext uri="{FF2B5EF4-FFF2-40B4-BE49-F238E27FC236}">
                <a16:creationId xmlns:a16="http://schemas.microsoft.com/office/drawing/2014/main" id="{72369555-D9F9-479F-9E33-7B1BDF494841}"/>
              </a:ext>
            </a:extLst>
          </p:cNvPr>
          <p:cNvSpPr/>
          <p:nvPr/>
        </p:nvSpPr>
        <p:spPr>
          <a:xfrm flipH="1" flipV="1">
            <a:off x="7371804" y="3234690"/>
            <a:ext cx="693421" cy="0"/>
          </a:xfrm>
          <a:prstGeom prst="line">
            <a:avLst/>
          </a:prstGeom>
          <a:noFill/>
          <a:ln w="22860">
            <a:solidFill>
              <a:srgbClr val="F3C04E"/>
            </a:solidFill>
            <a:prstDash val="solid"/>
            <a:tailEnd type="triangle"/>
          </a:ln>
        </p:spPr>
        <p:txBody>
          <a:bodyPr/>
          <a:lstStyle/>
          <a:p>
            <a:endParaRPr lang="en-US"/>
          </a:p>
        </p:txBody>
      </p:sp>
      <p:sp>
        <p:nvSpPr>
          <p:cNvPr id="23" name="Shape 5">
            <a:extLst>
              <a:ext uri="{FF2B5EF4-FFF2-40B4-BE49-F238E27FC236}">
                <a16:creationId xmlns:a16="http://schemas.microsoft.com/office/drawing/2014/main" id="{18AA655E-E242-447C-888F-E2C5FD37D66E}"/>
              </a:ext>
            </a:extLst>
          </p:cNvPr>
          <p:cNvSpPr/>
          <p:nvPr/>
        </p:nvSpPr>
        <p:spPr>
          <a:xfrm flipH="1">
            <a:off x="9934303" y="3900127"/>
            <a:ext cx="0" cy="315241"/>
          </a:xfrm>
          <a:prstGeom prst="line">
            <a:avLst/>
          </a:prstGeom>
          <a:noFill/>
          <a:ln w="22860">
            <a:solidFill>
              <a:srgbClr val="F3C04E"/>
            </a:solidFill>
            <a:prstDash val="solid"/>
            <a:tailEnd type="triangle"/>
          </a:ln>
        </p:spPr>
        <p:txBody>
          <a:bodyPr/>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pPr marL="0" indent="0">
              <a:buNone/>
            </a:pPr>
            <a:r>
              <a:rPr lang="en-US" sz="2400" b="1">
                <a:solidFill>
                  <a:srgbClr val="FFFFFF"/>
                </a:solidFill>
              </a:rPr>
              <a:t>KHAI BÁO API, AI, PROMPT &amp; SKILL</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02920"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07</a:t>
            </a:r>
            <a:endParaRPr lang="en-US" sz="850"/>
          </a:p>
        </p:txBody>
      </p:sp>
      <p:sp>
        <p:nvSpPr>
          <p:cNvPr id="6" name="Text 4"/>
          <p:cNvSpPr/>
          <p:nvPr/>
        </p:nvSpPr>
        <p:spPr>
          <a:xfrm>
            <a:off x="685800" y="1051560"/>
            <a:ext cx="3474720" cy="19202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r>
              <a:rPr lang="en-US" sz="1100" b="1">
                <a:solidFill>
                  <a:srgbClr val="38F2C0"/>
                </a:solidFill>
              </a:rPr>
              <a:t>Khai báo API
</a:t>
            </a:r>
            <a:r>
              <a:rPr lang="en-US" sz="1100">
                <a:solidFill>
                  <a:srgbClr val="E9F4FF"/>
                </a:solidFill>
              </a:rPr>
              <a:t>main.py </a:t>
            </a:r>
            <a:r>
              <a:rPr lang="en-US" sz="1100" err="1">
                <a:solidFill>
                  <a:srgbClr val="E9F4FF"/>
                </a:solidFill>
              </a:rPr>
              <a:t>khởi</a:t>
            </a:r>
            <a:r>
              <a:rPr lang="en-US" sz="1100">
                <a:solidFill>
                  <a:srgbClr val="E9F4FF"/>
                </a:solidFill>
              </a:rPr>
              <a:t> </a:t>
            </a:r>
            <a:r>
              <a:rPr lang="en-US" sz="1100" err="1">
                <a:solidFill>
                  <a:srgbClr val="E9F4FF"/>
                </a:solidFill>
              </a:rPr>
              <a:t>tạo</a:t>
            </a:r>
            <a:r>
              <a:rPr lang="en-US" sz="1100">
                <a:solidFill>
                  <a:srgbClr val="E9F4FF"/>
                </a:solidFill>
              </a:rPr>
              <a:t> </a:t>
            </a:r>
            <a:r>
              <a:rPr lang="en-US" sz="1100" err="1">
                <a:solidFill>
                  <a:srgbClr val="E9F4FF"/>
                </a:solidFill>
              </a:rPr>
              <a:t>FastAPI</a:t>
            </a:r>
            <a:r>
              <a:rPr lang="en-US" sz="1100">
                <a:solidFill>
                  <a:srgbClr val="E9F4FF"/>
                </a:solidFill>
              </a:rPr>
              <a:t> app, </a:t>
            </a:r>
            <a:r>
              <a:rPr lang="en-US" sz="1100" err="1">
                <a:solidFill>
                  <a:srgbClr val="E9F4FF"/>
                </a:solidFill>
              </a:rPr>
              <a:t>cấu</a:t>
            </a:r>
            <a:r>
              <a:rPr lang="en-US" sz="1100">
                <a:solidFill>
                  <a:srgbClr val="E9F4FF"/>
                </a:solidFill>
              </a:rPr>
              <a:t> </a:t>
            </a:r>
            <a:r>
              <a:rPr lang="en-US" sz="1100" err="1">
                <a:solidFill>
                  <a:srgbClr val="E9F4FF"/>
                </a:solidFill>
              </a:rPr>
              <a:t>hình</a:t>
            </a:r>
            <a:r>
              <a:rPr lang="en-US" sz="1100">
                <a:solidFill>
                  <a:srgbClr val="E9F4FF"/>
                </a:solidFill>
              </a:rPr>
              <a:t> CORS </a:t>
            </a:r>
            <a:r>
              <a:rPr lang="en-US" sz="1100" err="1">
                <a:solidFill>
                  <a:srgbClr val="E9F4FF"/>
                </a:solidFill>
              </a:rPr>
              <a:t>cho</a:t>
            </a:r>
            <a:r>
              <a:rPr lang="en-US" sz="1100">
                <a:solidFill>
                  <a:srgbClr val="E9F4FF"/>
                </a:solidFill>
              </a:rPr>
              <a:t> localhost, </a:t>
            </a:r>
            <a:r>
              <a:rPr lang="en-US" sz="1100" err="1">
                <a:solidFill>
                  <a:srgbClr val="E9F4FF"/>
                </a:solidFill>
              </a:rPr>
              <a:t>gắn</a:t>
            </a:r>
            <a:r>
              <a:rPr lang="en-US" sz="1100">
                <a:solidFill>
                  <a:srgbClr val="E9F4FF"/>
                </a:solidFill>
              </a:rPr>
              <a:t> router </a:t>
            </a:r>
            <a:r>
              <a:rPr lang="en-US" sz="1100" err="1">
                <a:solidFill>
                  <a:srgbClr val="E9F4FF"/>
                </a:solidFill>
              </a:rPr>
              <a:t>với</a:t>
            </a:r>
            <a:r>
              <a:rPr lang="en-US" sz="1100">
                <a:solidFill>
                  <a:srgbClr val="E9F4FF"/>
                </a:solidFill>
              </a:rPr>
              <a:t> prefix /</a:t>
            </a:r>
            <a:r>
              <a:rPr lang="en-US" sz="1100" err="1">
                <a:solidFill>
                  <a:srgbClr val="E9F4FF"/>
                </a:solidFill>
              </a:rPr>
              <a:t>api</a:t>
            </a:r>
            <a:r>
              <a:rPr lang="en-US" sz="1100">
                <a:solidFill>
                  <a:srgbClr val="E9F4FF"/>
                </a:solidFill>
              </a:rPr>
              <a:t>/v1, </a:t>
            </a:r>
            <a:r>
              <a:rPr lang="en-US" sz="1100" err="1">
                <a:solidFill>
                  <a:srgbClr val="E9F4FF"/>
                </a:solidFill>
              </a:rPr>
              <a:t>tạo</a:t>
            </a:r>
            <a:r>
              <a:rPr lang="en-US" sz="1100">
                <a:solidFill>
                  <a:srgbClr val="E9F4FF"/>
                </a:solidFill>
              </a:rPr>
              <a:t> </a:t>
            </a:r>
            <a:r>
              <a:rPr lang="en-US" sz="1100" err="1">
                <a:solidFill>
                  <a:srgbClr val="E9F4FF"/>
                </a:solidFill>
              </a:rPr>
              <a:t>tài</a:t>
            </a:r>
            <a:r>
              <a:rPr lang="en-US" sz="1100">
                <a:solidFill>
                  <a:srgbClr val="E9F4FF"/>
                </a:solidFill>
              </a:rPr>
              <a:t> </a:t>
            </a:r>
            <a:r>
              <a:rPr lang="en-US" sz="1100" err="1">
                <a:solidFill>
                  <a:srgbClr val="E9F4FF"/>
                </a:solidFill>
              </a:rPr>
              <a:t>khoản</a:t>
            </a:r>
            <a:r>
              <a:rPr lang="en-US" sz="1100">
                <a:solidFill>
                  <a:srgbClr val="E9F4FF"/>
                </a:solidFill>
              </a:rPr>
              <a:t> admin </a:t>
            </a:r>
            <a:r>
              <a:rPr lang="en-US" sz="1100" err="1">
                <a:solidFill>
                  <a:srgbClr val="E9F4FF"/>
                </a:solidFill>
              </a:rPr>
              <a:t>mặc</a:t>
            </a:r>
            <a:r>
              <a:rPr lang="en-US" sz="1100">
                <a:solidFill>
                  <a:srgbClr val="E9F4FF"/>
                </a:solidFill>
              </a:rPr>
              <a:t> </a:t>
            </a:r>
            <a:r>
              <a:rPr lang="en-US" sz="1100" err="1">
                <a:solidFill>
                  <a:srgbClr val="E9F4FF"/>
                </a:solidFill>
              </a:rPr>
              <a:t>định</a:t>
            </a:r>
            <a:r>
              <a:rPr lang="en-US" sz="1100">
                <a:solidFill>
                  <a:srgbClr val="E9F4FF"/>
                </a:solidFill>
              </a:rPr>
              <a:t> </a:t>
            </a:r>
            <a:r>
              <a:rPr lang="en-US" sz="1100" err="1">
                <a:solidFill>
                  <a:srgbClr val="E9F4FF"/>
                </a:solidFill>
              </a:rPr>
              <a:t>và</a:t>
            </a:r>
            <a:r>
              <a:rPr lang="en-US" sz="1100">
                <a:solidFill>
                  <a:srgbClr val="E9F4FF"/>
                </a:solidFill>
              </a:rPr>
              <a:t> </a:t>
            </a:r>
            <a:r>
              <a:rPr lang="en-US" sz="1100" err="1">
                <a:solidFill>
                  <a:srgbClr val="E9F4FF"/>
                </a:solidFill>
              </a:rPr>
              <a:t>cung</a:t>
            </a:r>
            <a:r>
              <a:rPr lang="en-US" sz="1100">
                <a:solidFill>
                  <a:srgbClr val="E9F4FF"/>
                </a:solidFill>
              </a:rPr>
              <a:t> </a:t>
            </a:r>
            <a:r>
              <a:rPr lang="en-US" sz="1100" err="1">
                <a:solidFill>
                  <a:srgbClr val="E9F4FF"/>
                </a:solidFill>
              </a:rPr>
              <a:t>cấp</a:t>
            </a:r>
            <a:r>
              <a:rPr lang="en-US" sz="1100">
                <a:solidFill>
                  <a:srgbClr val="E9F4FF"/>
                </a:solidFill>
              </a:rPr>
              <a:t> Swagger </a:t>
            </a:r>
            <a:r>
              <a:rPr lang="en-US" sz="1100" err="1">
                <a:solidFill>
                  <a:srgbClr val="E9F4FF"/>
                </a:solidFill>
              </a:rPr>
              <a:t>tại</a:t>
            </a:r>
            <a:r>
              <a:rPr lang="en-US" sz="1100">
                <a:solidFill>
                  <a:srgbClr val="E9F4FF"/>
                </a:solidFill>
              </a:rPr>
              <a:t> /docs.</a:t>
            </a:r>
            <a:endParaRPr lang="en-US" sz="1100"/>
          </a:p>
        </p:txBody>
      </p:sp>
      <p:sp>
        <p:nvSpPr>
          <p:cNvPr id="7" name="Text 5"/>
          <p:cNvSpPr/>
          <p:nvPr/>
        </p:nvSpPr>
        <p:spPr>
          <a:xfrm>
            <a:off x="4480560" y="1051560"/>
            <a:ext cx="3474720" cy="19202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r>
              <a:rPr lang="en-US" sz="1100" b="1">
                <a:solidFill>
                  <a:srgbClr val="38F2C0"/>
                </a:solidFill>
              </a:rPr>
              <a:t>Khai báo AI
</a:t>
            </a:r>
            <a:r>
              <a:rPr lang="en-US" sz="1100">
                <a:solidFill>
                  <a:srgbClr val="E9F4FF"/>
                </a:solidFill>
              </a:rPr>
              <a:t>confi</a:t>
            </a:r>
            <a:r>
              <a:rPr lang="vi-VN" sz="1100">
                <a:solidFill>
                  <a:srgbClr val="E9F4FF"/>
                </a:solidFill>
                <a:latin typeface="Aptos (Body)"/>
              </a:rPr>
              <a:t>g.py khai báo GEMINI_API_KEY và GEMINI_MODEL</a:t>
            </a:r>
            <a:r>
              <a:rPr lang="en-US" sz="1100">
                <a:solidFill>
                  <a:srgbClr val="E9F4FF"/>
                </a:solidFill>
                <a:latin typeface="Aptos (Body)"/>
              </a:rPr>
              <a:t>. </a:t>
            </a:r>
            <a:r>
              <a:rPr lang="vi-VN" sz="1100">
                <a:solidFill>
                  <a:srgbClr val="E9F4FF"/>
                </a:solidFill>
                <a:latin typeface="Aptos (Body)"/>
              </a:rPr>
              <a:t>AI được tách riêng trong ai_service.py và gọi Gemini API</a:t>
            </a:r>
          </a:p>
          <a:p>
            <a:r>
              <a:rPr lang="vi-VN" sz="1100">
                <a:solidFill>
                  <a:srgbClr val="E9F4FF"/>
                </a:solidFill>
                <a:latin typeface="Aptos (Body)"/>
              </a:rPr>
              <a:t>bằng httpx.AsyncClient theo cơ chế bất đồng bộ.</a:t>
            </a:r>
            <a:r>
              <a:rPr lang="en-US" sz="1100">
                <a:solidFill>
                  <a:srgbClr val="E9F4FF"/>
                </a:solidFill>
                <a:latin typeface="Aptos (Body)"/>
              </a:rPr>
              <a:t> </a:t>
            </a:r>
          </a:p>
        </p:txBody>
      </p:sp>
      <p:sp>
        <p:nvSpPr>
          <p:cNvPr id="8" name="Text 6"/>
          <p:cNvSpPr/>
          <p:nvPr/>
        </p:nvSpPr>
        <p:spPr>
          <a:xfrm>
            <a:off x="8275320" y="1051560"/>
            <a:ext cx="3246120" cy="19202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a:spcBef>
                <a:spcPts val="0"/>
              </a:spcBef>
              <a:spcAft>
                <a:spcPts val="0"/>
              </a:spcAft>
            </a:pPr>
            <a:r>
              <a:rPr sz="1100" b="1">
                <a:solidFill>
                  <a:srgbClr val="00F5C6"/>
                </a:solidFill>
                <a:latin typeface="Aptos (Body)"/>
              </a:rPr>
              <a:t>Prompt</a:t>
            </a:r>
            <a:endParaRPr lang="en-US" sz="1100">
              <a:latin typeface="Aptos (Body)"/>
            </a:endParaRPr>
          </a:p>
          <a:p>
            <a:pPr>
              <a:spcBef>
                <a:spcPts val="0"/>
              </a:spcBef>
              <a:spcAft>
                <a:spcPts val="0"/>
              </a:spcAft>
            </a:pPr>
            <a:r>
              <a:rPr sz="1100" b="0" err="1">
                <a:solidFill>
                  <a:srgbClr val="FFFFFF"/>
                </a:solidFill>
                <a:latin typeface="Aptos (Body)"/>
              </a:rPr>
              <a:t>Hiểu</a:t>
            </a:r>
            <a:r>
              <a:rPr sz="1100" b="0">
                <a:solidFill>
                  <a:srgbClr val="FFFFFF"/>
                </a:solidFill>
                <a:latin typeface="Aptos (Body)"/>
              </a:rPr>
              <a:t> </a:t>
            </a:r>
            <a:r>
              <a:rPr sz="1100" b="0" err="1">
                <a:solidFill>
                  <a:srgbClr val="FFFFFF"/>
                </a:solidFill>
                <a:latin typeface="Aptos (Body)"/>
              </a:rPr>
              <a:t>yêu</a:t>
            </a:r>
            <a:r>
              <a:rPr sz="1100" b="0">
                <a:solidFill>
                  <a:srgbClr val="FFFFFF"/>
                </a:solidFill>
                <a:latin typeface="Aptos (Body)"/>
              </a:rPr>
              <a:t> </a:t>
            </a:r>
            <a:r>
              <a:rPr sz="1100" b="0" err="1">
                <a:solidFill>
                  <a:srgbClr val="FFFFFF"/>
                </a:solidFill>
                <a:latin typeface="Aptos (Body)"/>
              </a:rPr>
              <a:t>cầu</a:t>
            </a:r>
            <a:r>
              <a:rPr sz="1100" b="0">
                <a:solidFill>
                  <a:srgbClr val="FFFFFF"/>
                </a:solidFill>
                <a:latin typeface="Aptos (Body)"/>
              </a:rPr>
              <a:t> </a:t>
            </a:r>
            <a:r>
              <a:rPr sz="1100" b="0" err="1">
                <a:solidFill>
                  <a:srgbClr val="FFFFFF"/>
                </a:solidFill>
                <a:latin typeface="Aptos (Body)"/>
              </a:rPr>
              <a:t>đặt</a:t>
            </a:r>
            <a:r>
              <a:rPr sz="1100" b="0">
                <a:solidFill>
                  <a:srgbClr val="FFFFFF"/>
                </a:solidFill>
                <a:latin typeface="Aptos (Body)"/>
              </a:rPr>
              <a:t> </a:t>
            </a:r>
            <a:r>
              <a:rPr sz="1100" b="0" err="1">
                <a:solidFill>
                  <a:srgbClr val="FFFFFF"/>
                </a:solidFill>
                <a:latin typeface="Aptos (Body)"/>
              </a:rPr>
              <a:t>sân</a:t>
            </a:r>
            <a:r>
              <a:rPr sz="1100" b="0">
                <a:solidFill>
                  <a:srgbClr val="FFFFFF"/>
                </a:solidFill>
                <a:latin typeface="Aptos (Body)"/>
              </a:rPr>
              <a:t> </a:t>
            </a:r>
            <a:r>
              <a:rPr sz="1100" b="0" err="1">
                <a:solidFill>
                  <a:srgbClr val="FFFFFF"/>
                </a:solidFill>
                <a:latin typeface="Aptos (Body)"/>
              </a:rPr>
              <a:t>bằng</a:t>
            </a:r>
            <a:r>
              <a:rPr sz="1100" b="0">
                <a:solidFill>
                  <a:srgbClr val="FFFFFF"/>
                </a:solidFill>
                <a:latin typeface="Aptos (Body)"/>
              </a:rPr>
              <a:t> </a:t>
            </a:r>
            <a:r>
              <a:rPr sz="1100" b="0" err="1">
                <a:solidFill>
                  <a:srgbClr val="FFFFFF"/>
                </a:solidFill>
                <a:latin typeface="Aptos (Body)"/>
              </a:rPr>
              <a:t>tiếng</a:t>
            </a:r>
            <a:r>
              <a:rPr sz="1100" b="0">
                <a:solidFill>
                  <a:srgbClr val="FFFFFF"/>
                </a:solidFill>
                <a:latin typeface="Aptos (Body)"/>
              </a:rPr>
              <a:t> </a:t>
            </a:r>
            <a:r>
              <a:rPr sz="1100" b="0" err="1">
                <a:solidFill>
                  <a:srgbClr val="FFFFFF"/>
                </a:solidFill>
                <a:latin typeface="Aptos (Body)"/>
              </a:rPr>
              <a:t>Việt</a:t>
            </a:r>
            <a:r>
              <a:rPr sz="1100" b="0">
                <a:solidFill>
                  <a:srgbClr val="FFFFFF"/>
                </a:solidFill>
                <a:latin typeface="Aptos (Body)"/>
              </a:rPr>
              <a:t>; </a:t>
            </a:r>
            <a:r>
              <a:rPr sz="1100" b="0" err="1">
                <a:solidFill>
                  <a:srgbClr val="FFFFFF"/>
                </a:solidFill>
                <a:latin typeface="Aptos (Body)"/>
              </a:rPr>
              <a:t>xác</a:t>
            </a:r>
            <a:r>
              <a:rPr sz="1100" b="0">
                <a:solidFill>
                  <a:srgbClr val="FFFFFF"/>
                </a:solidFill>
                <a:latin typeface="Aptos (Body)"/>
              </a:rPr>
              <a:t> </a:t>
            </a:r>
            <a:r>
              <a:rPr sz="1100" b="0" err="1">
                <a:solidFill>
                  <a:srgbClr val="FFFFFF"/>
                </a:solidFill>
                <a:latin typeface="Aptos (Body)"/>
              </a:rPr>
              <a:t>định</a:t>
            </a:r>
            <a:r>
              <a:rPr sz="1100" b="0">
                <a:solidFill>
                  <a:srgbClr val="FFFFFF"/>
                </a:solidFill>
                <a:latin typeface="Aptos (Body)"/>
              </a:rPr>
              <a:t> </a:t>
            </a:r>
            <a:r>
              <a:rPr sz="1100" b="0" err="1">
                <a:solidFill>
                  <a:srgbClr val="FFFFFF"/>
                </a:solidFill>
                <a:latin typeface="Aptos (Body)"/>
              </a:rPr>
              <a:t>loại</a:t>
            </a:r>
            <a:r>
              <a:rPr sz="1100" b="0">
                <a:solidFill>
                  <a:srgbClr val="FFFFFF"/>
                </a:solidFill>
                <a:latin typeface="Aptos (Body)"/>
              </a:rPr>
              <a:t> </a:t>
            </a:r>
            <a:r>
              <a:rPr sz="1100" b="0" err="1">
                <a:solidFill>
                  <a:srgbClr val="FFFFFF"/>
                </a:solidFill>
                <a:latin typeface="Aptos (Body)"/>
              </a:rPr>
              <a:t>sân</a:t>
            </a:r>
            <a:r>
              <a:rPr sz="1100" b="0">
                <a:solidFill>
                  <a:srgbClr val="FFFFFF"/>
                </a:solidFill>
                <a:latin typeface="Aptos (Body)"/>
              </a:rPr>
              <a:t>, </a:t>
            </a:r>
            <a:r>
              <a:rPr sz="1100" b="0" err="1">
                <a:solidFill>
                  <a:srgbClr val="FFFFFF"/>
                </a:solidFill>
                <a:latin typeface="Aptos (Body)"/>
              </a:rPr>
              <a:t>ngày</a:t>
            </a:r>
            <a:r>
              <a:rPr sz="1100" b="0">
                <a:solidFill>
                  <a:srgbClr val="FFFFFF"/>
                </a:solidFill>
                <a:latin typeface="Aptos (Body)"/>
              </a:rPr>
              <a:t>, </a:t>
            </a:r>
            <a:r>
              <a:rPr sz="1100" b="0" err="1">
                <a:solidFill>
                  <a:srgbClr val="FFFFFF"/>
                </a:solidFill>
                <a:latin typeface="Aptos (Body)"/>
              </a:rPr>
              <a:t>giờ</a:t>
            </a:r>
            <a:r>
              <a:rPr sz="1100" b="0">
                <a:solidFill>
                  <a:srgbClr val="FFFFFF"/>
                </a:solidFill>
                <a:latin typeface="Aptos (Body)"/>
              </a:rPr>
              <a:t> </a:t>
            </a:r>
            <a:r>
              <a:rPr sz="1100" b="0" err="1">
                <a:solidFill>
                  <a:srgbClr val="FFFFFF"/>
                </a:solidFill>
                <a:latin typeface="Aptos (Body)"/>
              </a:rPr>
              <a:t>và</a:t>
            </a:r>
            <a:r>
              <a:rPr sz="1100" b="0">
                <a:solidFill>
                  <a:srgbClr val="FFFFFF"/>
                </a:solidFill>
                <a:latin typeface="Aptos (Body)"/>
              </a:rPr>
              <a:t> </a:t>
            </a:r>
            <a:r>
              <a:rPr sz="1100" b="0" err="1">
                <a:solidFill>
                  <a:srgbClr val="FFFFFF"/>
                </a:solidFill>
                <a:latin typeface="Aptos (Body)"/>
              </a:rPr>
              <a:t>dịch</a:t>
            </a:r>
            <a:r>
              <a:rPr sz="1100" b="0">
                <a:solidFill>
                  <a:srgbClr val="FFFFFF"/>
                </a:solidFill>
                <a:latin typeface="Aptos (Body)"/>
              </a:rPr>
              <a:t> </a:t>
            </a:r>
            <a:r>
              <a:rPr sz="1100" b="0" err="1">
                <a:solidFill>
                  <a:srgbClr val="FFFFFF"/>
                </a:solidFill>
                <a:latin typeface="Aptos (Body)"/>
              </a:rPr>
              <a:t>vụ</a:t>
            </a:r>
            <a:r>
              <a:rPr sz="1100" b="0">
                <a:solidFill>
                  <a:srgbClr val="FFFFFF"/>
                </a:solidFill>
                <a:latin typeface="Aptos (Body)"/>
              </a:rPr>
              <a:t>; </a:t>
            </a:r>
            <a:r>
              <a:rPr sz="1100" b="0" err="1">
                <a:solidFill>
                  <a:srgbClr val="FFFFFF"/>
                </a:solidFill>
                <a:latin typeface="Aptos (Body)"/>
              </a:rPr>
              <a:t>hỏi</a:t>
            </a:r>
            <a:r>
              <a:rPr sz="1100" b="0">
                <a:solidFill>
                  <a:srgbClr val="FFFFFF"/>
                </a:solidFill>
                <a:latin typeface="Aptos (Body)"/>
              </a:rPr>
              <a:t> </a:t>
            </a:r>
            <a:r>
              <a:rPr sz="1100" b="0" err="1">
                <a:solidFill>
                  <a:srgbClr val="FFFFFF"/>
                </a:solidFill>
                <a:latin typeface="Aptos (Body)"/>
              </a:rPr>
              <a:t>bổ</a:t>
            </a:r>
            <a:r>
              <a:rPr sz="1100" b="0">
                <a:solidFill>
                  <a:srgbClr val="FFFFFF"/>
                </a:solidFill>
                <a:latin typeface="Aptos (Body)"/>
              </a:rPr>
              <a:t> sung </a:t>
            </a:r>
            <a:r>
              <a:rPr sz="1100" b="0" err="1">
                <a:solidFill>
                  <a:srgbClr val="FFFFFF"/>
                </a:solidFill>
                <a:latin typeface="Aptos (Body)"/>
              </a:rPr>
              <a:t>khi</a:t>
            </a:r>
            <a:r>
              <a:rPr sz="1100" b="0">
                <a:solidFill>
                  <a:srgbClr val="FFFFFF"/>
                </a:solidFill>
                <a:latin typeface="Aptos (Body)"/>
              </a:rPr>
              <a:t> </a:t>
            </a:r>
            <a:r>
              <a:rPr sz="1100" b="0" err="1">
                <a:solidFill>
                  <a:srgbClr val="FFFFFF"/>
                </a:solidFill>
                <a:latin typeface="Aptos (Body)"/>
              </a:rPr>
              <a:t>thiếu</a:t>
            </a:r>
            <a:r>
              <a:rPr sz="1100" b="0">
                <a:solidFill>
                  <a:srgbClr val="FFFFFF"/>
                </a:solidFill>
                <a:latin typeface="Aptos (Body)"/>
              </a:rPr>
              <a:t> </a:t>
            </a:r>
            <a:r>
              <a:rPr sz="1100" b="0" err="1">
                <a:solidFill>
                  <a:srgbClr val="FFFFFF"/>
                </a:solidFill>
                <a:latin typeface="Aptos (Body)"/>
              </a:rPr>
              <a:t>thông</a:t>
            </a:r>
            <a:r>
              <a:rPr sz="1100" b="0">
                <a:solidFill>
                  <a:srgbClr val="FFFFFF"/>
                </a:solidFill>
                <a:latin typeface="Aptos (Body)"/>
              </a:rPr>
              <a:t> tin; </a:t>
            </a:r>
            <a:r>
              <a:rPr sz="1100" b="0" err="1">
                <a:solidFill>
                  <a:srgbClr val="FFFFFF"/>
                </a:solidFill>
                <a:latin typeface="Aptos (Body)"/>
              </a:rPr>
              <a:t>kiểm</a:t>
            </a:r>
            <a:r>
              <a:rPr sz="1100" b="0">
                <a:solidFill>
                  <a:srgbClr val="FFFFFF"/>
                </a:solidFill>
                <a:latin typeface="Aptos (Body)"/>
              </a:rPr>
              <a:t> </a:t>
            </a:r>
            <a:r>
              <a:rPr sz="1100" b="0" err="1">
                <a:solidFill>
                  <a:srgbClr val="FFFFFF"/>
                </a:solidFill>
                <a:latin typeface="Aptos (Body)"/>
              </a:rPr>
              <a:t>tra</a:t>
            </a:r>
            <a:r>
              <a:rPr sz="1100" b="0">
                <a:solidFill>
                  <a:srgbClr val="FFFFFF"/>
                </a:solidFill>
                <a:latin typeface="Aptos (Body)"/>
              </a:rPr>
              <a:t> </a:t>
            </a:r>
            <a:r>
              <a:rPr sz="1100" b="0" err="1">
                <a:solidFill>
                  <a:srgbClr val="FFFFFF"/>
                </a:solidFill>
                <a:latin typeface="Aptos (Body)"/>
              </a:rPr>
              <a:t>sân</a:t>
            </a:r>
            <a:r>
              <a:rPr sz="1100" b="0">
                <a:solidFill>
                  <a:srgbClr val="FFFFFF"/>
                </a:solidFill>
                <a:latin typeface="Aptos (Body)"/>
              </a:rPr>
              <a:t> </a:t>
            </a:r>
            <a:r>
              <a:rPr sz="1100" b="0" err="1">
                <a:solidFill>
                  <a:srgbClr val="FFFFFF"/>
                </a:solidFill>
                <a:latin typeface="Aptos (Body)"/>
              </a:rPr>
              <a:t>trống</a:t>
            </a:r>
            <a:r>
              <a:rPr sz="1100" b="0">
                <a:solidFill>
                  <a:srgbClr val="FFFFFF"/>
                </a:solidFill>
                <a:latin typeface="Aptos (Body)"/>
              </a:rPr>
              <a:t> </a:t>
            </a:r>
            <a:r>
              <a:rPr sz="1100" b="0" err="1">
                <a:solidFill>
                  <a:srgbClr val="FFFFFF"/>
                </a:solidFill>
                <a:latin typeface="Aptos (Body)"/>
              </a:rPr>
              <a:t>trước</a:t>
            </a:r>
            <a:r>
              <a:rPr sz="1100" b="0">
                <a:solidFill>
                  <a:srgbClr val="FFFFFF"/>
                </a:solidFill>
                <a:latin typeface="Aptos (Body)"/>
              </a:rPr>
              <a:t> </a:t>
            </a:r>
            <a:r>
              <a:rPr sz="1100" b="0" err="1">
                <a:solidFill>
                  <a:srgbClr val="FFFFFF"/>
                </a:solidFill>
                <a:latin typeface="Aptos (Body)"/>
              </a:rPr>
              <a:t>khi</a:t>
            </a:r>
            <a:r>
              <a:rPr sz="1100" b="0">
                <a:solidFill>
                  <a:srgbClr val="FFFFFF"/>
                </a:solidFill>
                <a:latin typeface="Aptos (Body)"/>
              </a:rPr>
              <a:t> </a:t>
            </a:r>
            <a:r>
              <a:rPr sz="1100" b="0" err="1">
                <a:solidFill>
                  <a:srgbClr val="FFFFFF"/>
                </a:solidFill>
                <a:latin typeface="Aptos (Body)"/>
              </a:rPr>
              <a:t>cho</a:t>
            </a:r>
            <a:r>
              <a:rPr sz="1100" b="0">
                <a:solidFill>
                  <a:srgbClr val="FFFFFF"/>
                </a:solidFill>
                <a:latin typeface="Aptos (Body)"/>
              </a:rPr>
              <a:t> </a:t>
            </a:r>
            <a:r>
              <a:rPr sz="1100" b="0" err="1">
                <a:solidFill>
                  <a:srgbClr val="FFFFFF"/>
                </a:solidFill>
                <a:latin typeface="Aptos (Body)"/>
              </a:rPr>
              <a:t>xác</a:t>
            </a:r>
            <a:r>
              <a:rPr sz="1100" b="0">
                <a:solidFill>
                  <a:srgbClr val="FFFFFF"/>
                </a:solidFill>
                <a:latin typeface="Aptos (Body)"/>
              </a:rPr>
              <a:t> </a:t>
            </a:r>
            <a:r>
              <a:rPr sz="1100" b="0" err="1">
                <a:solidFill>
                  <a:srgbClr val="FFFFFF"/>
                </a:solidFill>
                <a:latin typeface="Aptos (Body)"/>
              </a:rPr>
              <a:t>nhận</a:t>
            </a:r>
            <a:r>
              <a:rPr sz="1100" b="0">
                <a:solidFill>
                  <a:srgbClr val="FFFFFF"/>
                </a:solidFill>
                <a:latin typeface="Aptos (Body)"/>
              </a:rPr>
              <a:t>.</a:t>
            </a:r>
          </a:p>
        </p:txBody>
      </p:sp>
      <p:sp>
        <p:nvSpPr>
          <p:cNvPr id="9" name="Text 7"/>
          <p:cNvSpPr/>
          <p:nvPr/>
        </p:nvSpPr>
        <p:spPr>
          <a:xfrm>
            <a:off x="822960" y="3520440"/>
            <a:ext cx="5029200" cy="1965960"/>
          </a:xfrm>
          <a:prstGeom prst="rect">
            <a:avLst/>
          </a:prstGeom>
          <a:solidFill>
            <a:srgbClr val="04121F"/>
          </a:solidFill>
          <a:ln w="12700">
            <a:solidFill>
              <a:srgbClr val="24445C"/>
            </a:solidFill>
          </a:ln>
        </p:spPr>
        <p:txBody>
          <a:bodyPr wrap="square" lIns="1524" tIns="1524" rIns="1524" bIns="1524" rtlCol="0" anchor="ctr">
            <a:normAutofit/>
          </a:bodyPr>
          <a:lstStyle/>
          <a:p>
            <a:pPr>
              <a:spcBef>
                <a:spcPts val="0"/>
              </a:spcBef>
              <a:spcAft>
                <a:spcPts val="0"/>
              </a:spcAft>
            </a:pPr>
            <a:r>
              <a:rPr sz="850" b="0">
                <a:solidFill>
                  <a:srgbClr val="FFFFFF"/>
                </a:solidFill>
                <a:latin typeface="Consolas"/>
              </a:rPr>
              <a:t>1 app = FastAPI(...)</a:t>
            </a:r>
          </a:p>
          <a:p>
            <a:pPr>
              <a:spcBef>
                <a:spcPts val="0"/>
              </a:spcBef>
              <a:spcAft>
                <a:spcPts val="0"/>
              </a:spcAft>
            </a:pPr>
            <a:r>
              <a:rPr sz="850" b="0">
                <a:solidFill>
                  <a:srgbClr val="FFFFFF"/>
                </a:solidFill>
                <a:latin typeface="Consolas"/>
              </a:rPr>
              <a:t>2 app.add_middleware(CORSMiddleware, ...)</a:t>
            </a:r>
          </a:p>
          <a:p>
            <a:pPr>
              <a:spcBef>
                <a:spcPts val="0"/>
              </a:spcBef>
              <a:spcAft>
                <a:spcPts val="0"/>
              </a:spcAft>
            </a:pPr>
            <a:r>
              <a:rPr sz="850" b="0">
                <a:solidFill>
                  <a:srgbClr val="FFFFFF"/>
                </a:solidFill>
                <a:latin typeface="Consolas"/>
              </a:rPr>
              <a:t>3 app.include_router(api_router, prefix="/api/v1")</a:t>
            </a:r>
          </a:p>
          <a:p>
            <a:pPr>
              <a:spcBef>
                <a:spcPts val="0"/>
              </a:spcBef>
              <a:spcAft>
                <a:spcPts val="0"/>
              </a:spcAft>
            </a:pPr>
            <a:r>
              <a:rPr sz="850" b="0">
                <a:solidFill>
                  <a:srgbClr val="FFFFFF"/>
                </a:solidFill>
                <a:latin typeface="Consolas"/>
              </a:rPr>
              <a:t>4 GEMINI_API_KEY = os.getenv(...)</a:t>
            </a:r>
          </a:p>
          <a:p>
            <a:pPr>
              <a:spcBef>
                <a:spcPts val="0"/>
              </a:spcBef>
              <a:spcAft>
                <a:spcPts val="0"/>
              </a:spcAft>
            </a:pPr>
            <a:r>
              <a:rPr sz="850" b="0">
                <a:solidFill>
                  <a:srgbClr val="FFFFFF"/>
                </a:solidFill>
                <a:latin typeface="Consolas"/>
              </a:rPr>
              <a:t>5 response = </a:t>
            </a:r>
            <a:r>
              <a:rPr lang="en-US" sz="850">
                <a:solidFill>
                  <a:srgbClr val="FFFFFF"/>
                </a:solidFill>
                <a:latin typeface="Consolas"/>
              </a:rPr>
              <a:t>await client</a:t>
            </a:r>
            <a:r>
              <a:rPr sz="850" b="0">
                <a:solidFill>
                  <a:srgbClr val="FFFFFF"/>
                </a:solidFill>
                <a:latin typeface="Consolas"/>
              </a:rPr>
              <a:t>.post(...)</a:t>
            </a:r>
          </a:p>
          <a:p>
            <a:pPr>
              <a:spcBef>
                <a:spcPts val="0"/>
              </a:spcBef>
              <a:spcAft>
                <a:spcPts val="0"/>
              </a:spcAft>
            </a:pPr>
            <a:r>
              <a:rPr sz="850" b="0">
                <a:solidFill>
                  <a:srgbClr val="FFFFFF"/>
                </a:solidFill>
                <a:latin typeface="Consolas"/>
              </a:rPr>
              <a:t>6 kiểm tra sân trống → tạo booking qua API</a:t>
            </a:r>
          </a:p>
        </p:txBody>
      </p:sp>
      <p:sp>
        <p:nvSpPr>
          <p:cNvPr id="10" name="Text 8"/>
          <p:cNvSpPr/>
          <p:nvPr/>
        </p:nvSpPr>
        <p:spPr>
          <a:xfrm>
            <a:off x="6263640" y="3520440"/>
            <a:ext cx="5105400" cy="1965960"/>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a:spcBef>
                <a:spcPts val="0"/>
              </a:spcBef>
              <a:spcAft>
                <a:spcPts val="0"/>
              </a:spcAft>
            </a:pPr>
            <a:r>
              <a:rPr sz="1100" b="1" err="1">
                <a:solidFill>
                  <a:srgbClr val="00F5C6"/>
                </a:solidFill>
                <a:latin typeface="Aptos (Body)"/>
              </a:rPr>
              <a:t>Năng</a:t>
            </a:r>
            <a:r>
              <a:rPr sz="1100" b="1">
                <a:solidFill>
                  <a:srgbClr val="00F5C6"/>
                </a:solidFill>
                <a:latin typeface="Aptos (Body)"/>
              </a:rPr>
              <a:t> </a:t>
            </a:r>
            <a:r>
              <a:rPr sz="1100" b="1" err="1">
                <a:solidFill>
                  <a:srgbClr val="00F5C6"/>
                </a:solidFill>
                <a:latin typeface="Aptos (Body)"/>
              </a:rPr>
              <a:t>lực</a:t>
            </a:r>
            <a:r>
              <a:rPr sz="1100" b="1">
                <a:solidFill>
                  <a:srgbClr val="00F5C6"/>
                </a:solidFill>
                <a:latin typeface="Aptos (Body)"/>
              </a:rPr>
              <a:t> </a:t>
            </a:r>
            <a:r>
              <a:rPr sz="1100" b="1" err="1">
                <a:solidFill>
                  <a:srgbClr val="00F5C6"/>
                </a:solidFill>
                <a:latin typeface="Aptos (Body)"/>
              </a:rPr>
              <a:t>nghiệp</a:t>
            </a:r>
            <a:r>
              <a:rPr sz="1100" b="1">
                <a:solidFill>
                  <a:srgbClr val="00F5C6"/>
                </a:solidFill>
                <a:latin typeface="Aptos (Body)"/>
              </a:rPr>
              <a:t> </a:t>
            </a:r>
            <a:r>
              <a:rPr sz="1100" b="1" err="1">
                <a:solidFill>
                  <a:srgbClr val="00F5C6"/>
                </a:solidFill>
                <a:latin typeface="Aptos (Body)"/>
              </a:rPr>
              <a:t>vụ</a:t>
            </a:r>
            <a:r>
              <a:rPr sz="1100" b="1">
                <a:solidFill>
                  <a:srgbClr val="00F5C6"/>
                </a:solidFill>
                <a:latin typeface="Aptos (Body)"/>
              </a:rPr>
              <a:t> AI</a:t>
            </a:r>
            <a:endParaRPr lang="en-US" sz="1100">
              <a:latin typeface="Aptos (Body)"/>
            </a:endParaRPr>
          </a:p>
          <a:p>
            <a:pPr>
              <a:spcBef>
                <a:spcPts val="0"/>
              </a:spcBef>
              <a:spcAft>
                <a:spcPts val="0"/>
              </a:spcAft>
            </a:pPr>
            <a:r>
              <a:rPr sz="1100" b="0" err="1">
                <a:solidFill>
                  <a:srgbClr val="FFFFFF"/>
                </a:solidFill>
                <a:latin typeface="Aptos (Body)"/>
              </a:rPr>
              <a:t>Nhận</a:t>
            </a:r>
            <a:r>
              <a:rPr sz="1100" b="0">
                <a:solidFill>
                  <a:srgbClr val="FFFFFF"/>
                </a:solidFill>
                <a:latin typeface="Aptos (Body)"/>
              </a:rPr>
              <a:t> </a:t>
            </a:r>
            <a:r>
              <a:rPr sz="1100" b="0" err="1">
                <a:solidFill>
                  <a:srgbClr val="FFFFFF"/>
                </a:solidFill>
                <a:latin typeface="Aptos (Body)"/>
              </a:rPr>
              <a:t>diện</a:t>
            </a:r>
            <a:r>
              <a:rPr sz="1100" b="0">
                <a:solidFill>
                  <a:srgbClr val="FFFFFF"/>
                </a:solidFill>
                <a:latin typeface="Aptos (Body)"/>
              </a:rPr>
              <a:t> ý </a:t>
            </a:r>
            <a:r>
              <a:rPr sz="1100" b="0" err="1">
                <a:solidFill>
                  <a:srgbClr val="FFFFFF"/>
                </a:solidFill>
                <a:latin typeface="Aptos (Body)"/>
              </a:rPr>
              <a:t>định</a:t>
            </a:r>
            <a:r>
              <a:rPr sz="1100" b="0">
                <a:solidFill>
                  <a:srgbClr val="FFFFFF"/>
                </a:solidFill>
                <a:latin typeface="Aptos (Body)"/>
              </a:rPr>
              <a:t> </a:t>
            </a:r>
            <a:r>
              <a:rPr sz="1100" b="0" err="1">
                <a:solidFill>
                  <a:srgbClr val="FFFFFF"/>
                </a:solidFill>
                <a:latin typeface="Aptos (Body)"/>
              </a:rPr>
              <a:t>người</a:t>
            </a:r>
            <a:r>
              <a:rPr sz="1100" b="0">
                <a:solidFill>
                  <a:srgbClr val="FFFFFF"/>
                </a:solidFill>
                <a:latin typeface="Aptos (Body)"/>
              </a:rPr>
              <a:t> </a:t>
            </a:r>
            <a:r>
              <a:rPr sz="1100" b="0" err="1">
                <a:solidFill>
                  <a:srgbClr val="FFFFFF"/>
                </a:solidFill>
                <a:latin typeface="Aptos (Body)"/>
              </a:rPr>
              <a:t>dùng</a:t>
            </a:r>
            <a:r>
              <a:rPr sz="1100" b="0">
                <a:solidFill>
                  <a:srgbClr val="FFFFFF"/>
                </a:solidFill>
                <a:latin typeface="Aptos (Body)"/>
              </a:rPr>
              <a:t>, </a:t>
            </a:r>
            <a:r>
              <a:rPr sz="1100" b="0" err="1">
                <a:solidFill>
                  <a:srgbClr val="FFFFFF"/>
                </a:solidFill>
                <a:latin typeface="Aptos (Body)"/>
              </a:rPr>
              <a:t>tư</a:t>
            </a:r>
            <a:r>
              <a:rPr sz="1100" b="0">
                <a:solidFill>
                  <a:srgbClr val="FFFFFF"/>
                </a:solidFill>
                <a:latin typeface="Aptos (Body)"/>
              </a:rPr>
              <a:t> </a:t>
            </a:r>
            <a:r>
              <a:rPr sz="1100" b="0" err="1">
                <a:solidFill>
                  <a:srgbClr val="FFFFFF"/>
                </a:solidFill>
                <a:latin typeface="Aptos (Body)"/>
              </a:rPr>
              <a:t>vấn</a:t>
            </a:r>
            <a:r>
              <a:rPr sz="1100" b="0">
                <a:solidFill>
                  <a:srgbClr val="FFFFFF"/>
                </a:solidFill>
                <a:latin typeface="Aptos (Body)"/>
              </a:rPr>
              <a:t> </a:t>
            </a:r>
            <a:r>
              <a:rPr sz="1100" b="0" err="1">
                <a:solidFill>
                  <a:srgbClr val="FFFFFF"/>
                </a:solidFill>
                <a:latin typeface="Aptos (Body)"/>
              </a:rPr>
              <a:t>giá</a:t>
            </a:r>
            <a:r>
              <a:rPr sz="1100" b="0">
                <a:solidFill>
                  <a:srgbClr val="FFFFFF"/>
                </a:solidFill>
                <a:latin typeface="Aptos (Body)"/>
              </a:rPr>
              <a:t>/</a:t>
            </a:r>
            <a:r>
              <a:rPr sz="1100" b="0" err="1">
                <a:solidFill>
                  <a:srgbClr val="FFFFFF"/>
                </a:solidFill>
                <a:latin typeface="Aptos (Body)"/>
              </a:rPr>
              <a:t>dịch</a:t>
            </a:r>
            <a:r>
              <a:rPr sz="1100" b="0">
                <a:solidFill>
                  <a:srgbClr val="FFFFFF"/>
                </a:solidFill>
                <a:latin typeface="Aptos (Body)"/>
              </a:rPr>
              <a:t> </a:t>
            </a:r>
            <a:r>
              <a:rPr sz="1100" b="0" err="1">
                <a:solidFill>
                  <a:srgbClr val="FFFFFF"/>
                </a:solidFill>
                <a:latin typeface="Aptos (Body)"/>
              </a:rPr>
              <a:t>vụ</a:t>
            </a:r>
            <a:r>
              <a:rPr sz="1100" b="0">
                <a:solidFill>
                  <a:srgbClr val="FFFFFF"/>
                </a:solidFill>
                <a:latin typeface="Aptos (Body)"/>
              </a:rPr>
              <a:t>, </a:t>
            </a:r>
            <a:r>
              <a:rPr sz="1100" b="0" err="1">
                <a:solidFill>
                  <a:srgbClr val="FFFFFF"/>
                </a:solidFill>
                <a:latin typeface="Aptos (Body)"/>
              </a:rPr>
              <a:t>gợi</a:t>
            </a:r>
            <a:r>
              <a:rPr sz="1100" b="0">
                <a:solidFill>
                  <a:srgbClr val="FFFFFF"/>
                </a:solidFill>
                <a:latin typeface="Aptos (Body)"/>
              </a:rPr>
              <a:t> ý </a:t>
            </a:r>
            <a:r>
              <a:rPr sz="1100" b="0" err="1">
                <a:solidFill>
                  <a:srgbClr val="FFFFFF"/>
                </a:solidFill>
                <a:latin typeface="Aptos (Body)"/>
              </a:rPr>
              <a:t>sân</a:t>
            </a:r>
            <a:r>
              <a:rPr sz="1100" b="0">
                <a:solidFill>
                  <a:srgbClr val="FFFFFF"/>
                </a:solidFill>
                <a:latin typeface="Aptos (Body)"/>
              </a:rPr>
              <a:t> </a:t>
            </a:r>
            <a:r>
              <a:rPr sz="1100" b="0" err="1">
                <a:solidFill>
                  <a:srgbClr val="FFFFFF"/>
                </a:solidFill>
                <a:latin typeface="Aptos (Body)"/>
              </a:rPr>
              <a:t>hoặc</a:t>
            </a:r>
            <a:r>
              <a:rPr sz="1100" b="0">
                <a:solidFill>
                  <a:srgbClr val="FFFFFF"/>
                </a:solidFill>
                <a:latin typeface="Aptos (Body)"/>
              </a:rPr>
              <a:t> </a:t>
            </a:r>
            <a:r>
              <a:rPr sz="1100" b="0" err="1">
                <a:solidFill>
                  <a:srgbClr val="FFFFFF"/>
                </a:solidFill>
                <a:latin typeface="Aptos (Body)"/>
              </a:rPr>
              <a:t>khung</a:t>
            </a:r>
            <a:r>
              <a:rPr sz="1100" b="0">
                <a:solidFill>
                  <a:srgbClr val="FFFFFF"/>
                </a:solidFill>
                <a:latin typeface="Aptos (Body)"/>
              </a:rPr>
              <a:t> </a:t>
            </a:r>
            <a:r>
              <a:rPr sz="1100" b="0" err="1">
                <a:solidFill>
                  <a:srgbClr val="FFFFFF"/>
                </a:solidFill>
                <a:latin typeface="Aptos (Body)"/>
              </a:rPr>
              <a:t>giờ</a:t>
            </a:r>
            <a:r>
              <a:rPr sz="1100" b="0">
                <a:solidFill>
                  <a:srgbClr val="FFFFFF"/>
                </a:solidFill>
                <a:latin typeface="Aptos (Body)"/>
              </a:rPr>
              <a:t> </a:t>
            </a:r>
            <a:r>
              <a:rPr sz="1100" b="0" err="1">
                <a:solidFill>
                  <a:srgbClr val="FFFFFF"/>
                </a:solidFill>
                <a:latin typeface="Aptos (Body)"/>
              </a:rPr>
              <a:t>còn</a:t>
            </a:r>
            <a:r>
              <a:rPr sz="1100" b="0">
                <a:solidFill>
                  <a:srgbClr val="FFFFFF"/>
                </a:solidFill>
                <a:latin typeface="Aptos (Body)"/>
              </a:rPr>
              <a:t> </a:t>
            </a:r>
            <a:r>
              <a:rPr sz="1100" b="0" err="1">
                <a:solidFill>
                  <a:srgbClr val="FFFFFF"/>
                </a:solidFill>
                <a:latin typeface="Aptos (Body)"/>
              </a:rPr>
              <a:t>trống</a:t>
            </a:r>
            <a:r>
              <a:rPr sz="1100" b="0">
                <a:solidFill>
                  <a:srgbClr val="FFFFFF"/>
                </a:solidFill>
                <a:latin typeface="Aptos (Body)"/>
              </a:rPr>
              <a:t>, </a:t>
            </a:r>
            <a:r>
              <a:rPr sz="1100" b="0" err="1">
                <a:solidFill>
                  <a:srgbClr val="FFFFFF"/>
                </a:solidFill>
                <a:latin typeface="Aptos (Body)"/>
              </a:rPr>
              <a:t>từ</a:t>
            </a:r>
            <a:r>
              <a:rPr sz="1100" b="0">
                <a:solidFill>
                  <a:srgbClr val="FFFFFF"/>
                </a:solidFill>
                <a:latin typeface="Aptos (Body)"/>
              </a:rPr>
              <a:t> </a:t>
            </a:r>
            <a:r>
              <a:rPr sz="1100" b="0" err="1">
                <a:solidFill>
                  <a:srgbClr val="FFFFFF"/>
                </a:solidFill>
                <a:latin typeface="Aptos (Body)"/>
              </a:rPr>
              <a:t>chối</a:t>
            </a:r>
            <a:r>
              <a:rPr sz="1100" b="0">
                <a:solidFill>
                  <a:srgbClr val="FFFFFF"/>
                </a:solidFill>
                <a:latin typeface="Aptos (Body)"/>
              </a:rPr>
              <a:t> </a:t>
            </a:r>
            <a:r>
              <a:rPr sz="1100" b="0" err="1">
                <a:solidFill>
                  <a:srgbClr val="FFFFFF"/>
                </a:solidFill>
                <a:latin typeface="Aptos (Body)"/>
              </a:rPr>
              <a:t>sân</a:t>
            </a:r>
            <a:r>
              <a:rPr sz="1100" b="0">
                <a:solidFill>
                  <a:srgbClr val="FFFFFF"/>
                </a:solidFill>
                <a:latin typeface="Aptos (Body)"/>
              </a:rPr>
              <a:t> </a:t>
            </a:r>
            <a:r>
              <a:rPr sz="1100" b="0" err="1">
                <a:solidFill>
                  <a:srgbClr val="FFFFFF"/>
                </a:solidFill>
                <a:latin typeface="Aptos (Body)"/>
              </a:rPr>
              <a:t>đã</a:t>
            </a:r>
            <a:r>
              <a:rPr sz="1100" b="0">
                <a:solidFill>
                  <a:srgbClr val="FFFFFF"/>
                </a:solidFill>
                <a:latin typeface="Aptos (Body)"/>
              </a:rPr>
              <a:t> </a:t>
            </a:r>
            <a:r>
              <a:rPr sz="1100" b="0" err="1">
                <a:solidFill>
                  <a:srgbClr val="FFFFFF"/>
                </a:solidFill>
                <a:latin typeface="Aptos (Body)"/>
              </a:rPr>
              <a:t>có</a:t>
            </a:r>
            <a:r>
              <a:rPr sz="1100" b="0">
                <a:solidFill>
                  <a:srgbClr val="FFFFFF"/>
                </a:solidFill>
                <a:latin typeface="Aptos (Body)"/>
              </a:rPr>
              <a:t> </a:t>
            </a:r>
            <a:r>
              <a:rPr sz="1100" b="0" err="1">
                <a:solidFill>
                  <a:srgbClr val="FFFFFF"/>
                </a:solidFill>
                <a:latin typeface="Aptos (Body)"/>
              </a:rPr>
              <a:t>khách</a:t>
            </a:r>
            <a:r>
              <a:rPr sz="1100" b="0">
                <a:solidFill>
                  <a:srgbClr val="FFFFFF"/>
                </a:solidFill>
                <a:latin typeface="Aptos (Body)"/>
              </a:rPr>
              <a:t> </a:t>
            </a:r>
            <a:r>
              <a:rPr sz="1100" b="0" err="1">
                <a:solidFill>
                  <a:srgbClr val="FFFFFF"/>
                </a:solidFill>
                <a:latin typeface="Aptos (Body)"/>
              </a:rPr>
              <a:t>và</a:t>
            </a:r>
            <a:r>
              <a:rPr sz="1100" b="0">
                <a:solidFill>
                  <a:srgbClr val="FFFFFF"/>
                </a:solidFill>
                <a:latin typeface="Aptos (Body)"/>
              </a:rPr>
              <a:t> </a:t>
            </a:r>
            <a:r>
              <a:rPr sz="1100" b="0" err="1">
                <a:solidFill>
                  <a:srgbClr val="FFFFFF"/>
                </a:solidFill>
                <a:latin typeface="Aptos (Body)"/>
              </a:rPr>
              <a:t>hỗ</a:t>
            </a:r>
            <a:r>
              <a:rPr sz="1100" b="0">
                <a:solidFill>
                  <a:srgbClr val="FFFFFF"/>
                </a:solidFill>
                <a:latin typeface="Aptos (Body)"/>
              </a:rPr>
              <a:t> </a:t>
            </a:r>
            <a:r>
              <a:rPr sz="1100" b="0" err="1">
                <a:solidFill>
                  <a:srgbClr val="FFFFFF"/>
                </a:solidFill>
                <a:latin typeface="Aptos (Body)"/>
              </a:rPr>
              <a:t>trợ</a:t>
            </a:r>
            <a:r>
              <a:rPr sz="1100" b="0">
                <a:solidFill>
                  <a:srgbClr val="FFFFFF"/>
                </a:solidFill>
                <a:latin typeface="Aptos (Body)"/>
              </a:rPr>
              <a:t> </a:t>
            </a:r>
            <a:r>
              <a:rPr sz="1100" b="0" err="1">
                <a:solidFill>
                  <a:srgbClr val="FFFFFF"/>
                </a:solidFill>
                <a:latin typeface="Aptos (Body)"/>
              </a:rPr>
              <a:t>tạo</a:t>
            </a:r>
            <a:r>
              <a:rPr sz="1100" b="0">
                <a:solidFill>
                  <a:srgbClr val="FFFFFF"/>
                </a:solidFill>
                <a:latin typeface="Aptos (Body)"/>
              </a:rPr>
              <a:t> booking </a:t>
            </a:r>
            <a:r>
              <a:rPr sz="1100" b="0" err="1">
                <a:solidFill>
                  <a:srgbClr val="FFFFFF"/>
                </a:solidFill>
                <a:latin typeface="Aptos (Body)"/>
              </a:rPr>
              <a:t>sau</a:t>
            </a:r>
            <a:r>
              <a:rPr sz="1100" b="0">
                <a:solidFill>
                  <a:srgbClr val="FFFFFF"/>
                </a:solidFill>
                <a:latin typeface="Aptos (Body)"/>
              </a:rPr>
              <a:t> </a:t>
            </a:r>
            <a:r>
              <a:rPr sz="1100" b="0" err="1">
                <a:solidFill>
                  <a:srgbClr val="FFFFFF"/>
                </a:solidFill>
                <a:latin typeface="Aptos (Body)"/>
              </a:rPr>
              <a:t>khi</a:t>
            </a:r>
            <a:r>
              <a:rPr sz="1100" b="0">
                <a:solidFill>
                  <a:srgbClr val="FFFFFF"/>
                </a:solidFill>
                <a:latin typeface="Aptos (Body)"/>
              </a:rPr>
              <a:t> </a:t>
            </a:r>
            <a:r>
              <a:rPr sz="1100" b="0" err="1">
                <a:solidFill>
                  <a:srgbClr val="FFFFFF"/>
                </a:solidFill>
                <a:latin typeface="Aptos (Body)"/>
              </a:rPr>
              <a:t>khách</a:t>
            </a:r>
            <a:r>
              <a:rPr sz="1100" b="0">
                <a:solidFill>
                  <a:srgbClr val="FFFFFF"/>
                </a:solidFill>
                <a:latin typeface="Aptos (Body)"/>
              </a:rPr>
              <a:t> </a:t>
            </a:r>
            <a:r>
              <a:rPr sz="1100" b="0" err="1">
                <a:solidFill>
                  <a:srgbClr val="FFFFFF"/>
                </a:solidFill>
                <a:latin typeface="Aptos (Body)"/>
              </a:rPr>
              <a:t>xác</a:t>
            </a:r>
            <a:r>
              <a:rPr sz="1100" b="0">
                <a:solidFill>
                  <a:srgbClr val="FFFFFF"/>
                </a:solidFill>
                <a:latin typeface="Aptos (Body)"/>
              </a:rPr>
              <a:t> </a:t>
            </a:r>
            <a:r>
              <a:rPr sz="1100" b="0" err="1">
                <a:solidFill>
                  <a:srgbClr val="FFFFFF"/>
                </a:solidFill>
                <a:latin typeface="Aptos (Body)"/>
              </a:rPr>
              <a:t>nhận</a:t>
            </a:r>
            <a:r>
              <a:rPr sz="1100" b="0">
                <a:solidFill>
                  <a:srgbClr val="FFFFFF"/>
                </a:solidFill>
                <a:latin typeface="Aptos (Body)"/>
              </a:rPr>
              <a:t>.</a:t>
            </a:r>
          </a:p>
        </p:txBody>
      </p:sp>
      <p:sp>
        <p:nvSpPr>
          <p:cNvPr id="11" name="Text 9"/>
          <p:cNvSpPr/>
          <p:nvPr/>
        </p:nvSpPr>
        <p:spPr>
          <a:xfrm>
            <a:off x="822960" y="5897880"/>
            <a:ext cx="10546080" cy="292608"/>
          </a:xfrm>
          <a:prstGeom prst="roundRect">
            <a:avLst/>
          </a:prstGeom>
          <a:solidFill>
            <a:srgbClr val="F3C04E"/>
          </a:solidFill>
          <a:ln>
            <a:solidFill>
              <a:srgbClr val="F3C04E">
                <a:alpha val="90000"/>
              </a:srgbClr>
            </a:solidFill>
          </a:ln>
        </p:spPr>
        <p:txBody>
          <a:bodyPr wrap="square" lIns="254" tIns="254" rIns="254" bIns="254" rtlCol="0" anchor="ctr">
            <a:noAutofit/>
          </a:bodyPr>
          <a:lstStyle/>
          <a:p>
            <a:pPr marL="0" indent="0" algn="ctr">
              <a:buNone/>
            </a:pPr>
            <a:r>
              <a:rPr sz="1100" b="1">
                <a:solidFill>
                  <a:srgbClr val="051424"/>
                </a:solidFill>
                <a:latin typeface="Segoe"/>
              </a:rPr>
              <a:t>AI </a:t>
            </a:r>
            <a:r>
              <a:rPr sz="1100" b="1" err="1">
                <a:solidFill>
                  <a:srgbClr val="051424"/>
                </a:solidFill>
                <a:latin typeface="Segoe"/>
              </a:rPr>
              <a:t>hỗ</a:t>
            </a:r>
            <a:r>
              <a:rPr sz="1100" b="1">
                <a:solidFill>
                  <a:srgbClr val="051424"/>
                </a:solidFill>
                <a:latin typeface="Segoe"/>
              </a:rPr>
              <a:t> </a:t>
            </a:r>
            <a:r>
              <a:rPr sz="1100" b="1" err="1">
                <a:solidFill>
                  <a:srgbClr val="051424"/>
                </a:solidFill>
                <a:latin typeface="Segoe"/>
              </a:rPr>
              <a:t>trợ</a:t>
            </a:r>
            <a:r>
              <a:rPr sz="1100" b="1">
                <a:solidFill>
                  <a:srgbClr val="051424"/>
                </a:solidFill>
                <a:latin typeface="Segoe"/>
              </a:rPr>
              <a:t> </a:t>
            </a:r>
            <a:r>
              <a:rPr sz="1100" b="1" err="1">
                <a:solidFill>
                  <a:srgbClr val="051424"/>
                </a:solidFill>
                <a:latin typeface="Segoe"/>
              </a:rPr>
              <a:t>giao</a:t>
            </a:r>
            <a:r>
              <a:rPr sz="1100" b="1">
                <a:solidFill>
                  <a:srgbClr val="051424"/>
                </a:solidFill>
                <a:latin typeface="Segoe"/>
              </a:rPr>
              <a:t> </a:t>
            </a:r>
            <a:r>
              <a:rPr sz="1100" b="1" err="1">
                <a:solidFill>
                  <a:srgbClr val="051424"/>
                </a:solidFill>
                <a:latin typeface="Segoe"/>
              </a:rPr>
              <a:t>tiếp</a:t>
            </a:r>
            <a:r>
              <a:rPr sz="1100" b="1">
                <a:solidFill>
                  <a:srgbClr val="051424"/>
                </a:solidFill>
                <a:latin typeface="Segoe"/>
              </a:rPr>
              <a:t> </a:t>
            </a:r>
            <a:r>
              <a:rPr sz="1100" b="1" err="1">
                <a:solidFill>
                  <a:srgbClr val="051424"/>
                </a:solidFill>
                <a:latin typeface="Segoe"/>
              </a:rPr>
              <a:t>và</a:t>
            </a:r>
            <a:r>
              <a:rPr sz="1100" b="1">
                <a:solidFill>
                  <a:srgbClr val="051424"/>
                </a:solidFill>
                <a:latin typeface="Segoe"/>
              </a:rPr>
              <a:t> </a:t>
            </a:r>
            <a:r>
              <a:rPr sz="1100" b="1" err="1">
                <a:solidFill>
                  <a:srgbClr val="051424"/>
                </a:solidFill>
                <a:latin typeface="Segoe"/>
              </a:rPr>
              <a:t>đề</a:t>
            </a:r>
            <a:r>
              <a:rPr sz="1100" b="1">
                <a:solidFill>
                  <a:srgbClr val="051424"/>
                </a:solidFill>
                <a:latin typeface="Segoe"/>
              </a:rPr>
              <a:t> </a:t>
            </a:r>
            <a:r>
              <a:rPr sz="1100" b="1" err="1">
                <a:solidFill>
                  <a:srgbClr val="051424"/>
                </a:solidFill>
                <a:latin typeface="Segoe"/>
              </a:rPr>
              <a:t>xuất</a:t>
            </a:r>
            <a:r>
              <a:rPr sz="1100" b="1">
                <a:solidFill>
                  <a:srgbClr val="051424"/>
                </a:solidFill>
                <a:latin typeface="Segoe"/>
              </a:rPr>
              <a:t>; </a:t>
            </a:r>
            <a:r>
              <a:rPr sz="1100" b="1" err="1">
                <a:solidFill>
                  <a:srgbClr val="051424"/>
                </a:solidFill>
                <a:latin typeface="Segoe"/>
              </a:rPr>
              <a:t>thao</a:t>
            </a:r>
            <a:r>
              <a:rPr sz="1100" b="1">
                <a:solidFill>
                  <a:srgbClr val="051424"/>
                </a:solidFill>
                <a:latin typeface="Segoe"/>
              </a:rPr>
              <a:t> </a:t>
            </a:r>
            <a:r>
              <a:rPr sz="1100" b="1" err="1">
                <a:solidFill>
                  <a:srgbClr val="051424"/>
                </a:solidFill>
                <a:latin typeface="Segoe"/>
              </a:rPr>
              <a:t>tác</a:t>
            </a:r>
            <a:r>
              <a:rPr sz="1100" b="1">
                <a:solidFill>
                  <a:srgbClr val="051424"/>
                </a:solidFill>
                <a:latin typeface="Segoe"/>
              </a:rPr>
              <a:t> </a:t>
            </a:r>
            <a:r>
              <a:rPr sz="1100" b="1" err="1">
                <a:solidFill>
                  <a:srgbClr val="051424"/>
                </a:solidFill>
                <a:latin typeface="Segoe"/>
              </a:rPr>
              <a:t>tạo</a:t>
            </a:r>
            <a:r>
              <a:rPr sz="1100" b="1">
                <a:solidFill>
                  <a:srgbClr val="051424"/>
                </a:solidFill>
                <a:latin typeface="Segoe"/>
              </a:rPr>
              <a:t> booking </a:t>
            </a:r>
            <a:r>
              <a:rPr sz="1100" b="1" err="1">
                <a:solidFill>
                  <a:srgbClr val="051424"/>
                </a:solidFill>
                <a:latin typeface="Segoe"/>
              </a:rPr>
              <a:t>vẫn</a:t>
            </a:r>
            <a:r>
              <a:rPr sz="1100" b="1">
                <a:solidFill>
                  <a:srgbClr val="051424"/>
                </a:solidFill>
                <a:latin typeface="Segoe"/>
              </a:rPr>
              <a:t> </a:t>
            </a:r>
            <a:r>
              <a:rPr sz="1100" b="1" err="1">
                <a:solidFill>
                  <a:srgbClr val="051424"/>
                </a:solidFill>
                <a:latin typeface="Segoe"/>
              </a:rPr>
              <a:t>đi</a:t>
            </a:r>
            <a:r>
              <a:rPr sz="1100" b="1">
                <a:solidFill>
                  <a:srgbClr val="051424"/>
                </a:solidFill>
                <a:latin typeface="Segoe"/>
              </a:rPr>
              <a:t> qua API </a:t>
            </a:r>
            <a:r>
              <a:rPr sz="1100" b="1" err="1">
                <a:solidFill>
                  <a:srgbClr val="051424"/>
                </a:solidFill>
                <a:latin typeface="Segoe"/>
              </a:rPr>
              <a:t>để</a:t>
            </a:r>
            <a:r>
              <a:rPr sz="1100" b="1">
                <a:solidFill>
                  <a:srgbClr val="051424"/>
                </a:solidFill>
                <a:latin typeface="Segoe"/>
              </a:rPr>
              <a:t> </a:t>
            </a:r>
            <a:r>
              <a:rPr sz="1100" b="1" err="1">
                <a:solidFill>
                  <a:srgbClr val="051424"/>
                </a:solidFill>
                <a:latin typeface="Segoe"/>
              </a:rPr>
              <a:t>kiểm</a:t>
            </a:r>
            <a:r>
              <a:rPr sz="1100" b="1">
                <a:solidFill>
                  <a:srgbClr val="051424"/>
                </a:solidFill>
                <a:latin typeface="Segoe"/>
              </a:rPr>
              <a:t> </a:t>
            </a:r>
            <a:r>
              <a:rPr sz="1100" b="1" err="1">
                <a:solidFill>
                  <a:srgbClr val="051424"/>
                </a:solidFill>
                <a:latin typeface="Segoe"/>
              </a:rPr>
              <a:t>tra</a:t>
            </a:r>
            <a:r>
              <a:rPr sz="1100" b="1">
                <a:solidFill>
                  <a:srgbClr val="051424"/>
                </a:solidFill>
                <a:latin typeface="Segoe"/>
              </a:rPr>
              <a:t> </a:t>
            </a:r>
            <a:r>
              <a:rPr sz="1100" b="1" err="1">
                <a:solidFill>
                  <a:srgbClr val="051424"/>
                </a:solidFill>
                <a:latin typeface="Segoe"/>
              </a:rPr>
              <a:t>dữ</a:t>
            </a:r>
            <a:r>
              <a:rPr sz="1100" b="1">
                <a:solidFill>
                  <a:srgbClr val="051424"/>
                </a:solidFill>
                <a:latin typeface="Segoe"/>
              </a:rPr>
              <a:t> </a:t>
            </a:r>
            <a:r>
              <a:rPr sz="1100" b="1" err="1">
                <a:solidFill>
                  <a:srgbClr val="051424"/>
                </a:solidFill>
                <a:latin typeface="Segoe"/>
              </a:rPr>
              <a:t>liệu</a:t>
            </a:r>
            <a:r>
              <a:rPr sz="1100" b="1">
                <a:solidFill>
                  <a:srgbClr val="051424"/>
                </a:solidFill>
                <a:latin typeface="Segoe"/>
              </a:rPr>
              <a:t>, </a:t>
            </a:r>
            <a:r>
              <a:rPr sz="1100" b="1" err="1">
                <a:solidFill>
                  <a:srgbClr val="051424"/>
                </a:solidFill>
                <a:latin typeface="Segoe"/>
              </a:rPr>
              <a:t>chống</a:t>
            </a:r>
            <a:r>
              <a:rPr sz="1100" b="1">
                <a:solidFill>
                  <a:srgbClr val="051424"/>
                </a:solidFill>
                <a:latin typeface="Segoe"/>
              </a:rPr>
              <a:t> </a:t>
            </a:r>
            <a:r>
              <a:rPr sz="1100" b="1" err="1">
                <a:solidFill>
                  <a:srgbClr val="051424"/>
                </a:solidFill>
                <a:latin typeface="Segoe"/>
              </a:rPr>
              <a:t>đặt</a:t>
            </a:r>
            <a:r>
              <a:rPr sz="1100" b="1">
                <a:solidFill>
                  <a:srgbClr val="051424"/>
                </a:solidFill>
                <a:latin typeface="Segoe"/>
              </a:rPr>
              <a:t> </a:t>
            </a:r>
            <a:r>
              <a:rPr sz="1100" b="1" err="1">
                <a:solidFill>
                  <a:srgbClr val="051424"/>
                </a:solidFill>
                <a:latin typeface="Segoe"/>
              </a:rPr>
              <a:t>trùng</a:t>
            </a:r>
            <a:r>
              <a:rPr sz="1100" b="1">
                <a:solidFill>
                  <a:srgbClr val="051424"/>
                </a:solidFill>
                <a:latin typeface="Segoe"/>
              </a:rPr>
              <a:t> </a:t>
            </a:r>
            <a:r>
              <a:rPr sz="1100" b="1" err="1">
                <a:solidFill>
                  <a:srgbClr val="051424"/>
                </a:solidFill>
                <a:latin typeface="Segoe"/>
              </a:rPr>
              <a:t>và</a:t>
            </a:r>
            <a:r>
              <a:rPr sz="1100" b="1">
                <a:solidFill>
                  <a:srgbClr val="051424"/>
                </a:solidFill>
                <a:latin typeface="Segoe"/>
              </a:rPr>
              <a:t> </a:t>
            </a:r>
            <a:r>
              <a:rPr sz="1100" b="1" err="1">
                <a:solidFill>
                  <a:srgbClr val="051424"/>
                </a:solidFill>
                <a:latin typeface="Segoe"/>
              </a:rPr>
              <a:t>lưu</a:t>
            </a:r>
            <a:r>
              <a:rPr sz="1100" b="1">
                <a:solidFill>
                  <a:srgbClr val="051424"/>
                </a:solidFill>
                <a:latin typeface="Segoe"/>
              </a:rPr>
              <a:t> </a:t>
            </a:r>
            <a:r>
              <a:rPr sz="1100" b="1" err="1">
                <a:solidFill>
                  <a:srgbClr val="051424"/>
                </a:solidFill>
                <a:latin typeface="Segoe"/>
              </a:rPr>
              <a:t>vào</a:t>
            </a:r>
            <a:r>
              <a:rPr sz="1100" b="1">
                <a:solidFill>
                  <a:srgbClr val="051424"/>
                </a:solidFill>
                <a:latin typeface="Segoe"/>
              </a:rPr>
              <a:t> database.</a:t>
            </a:r>
            <a:endParaRPr lang="en-US" sz="1100">
              <a:latin typeface="Segoe"/>
            </a:endParaRPr>
          </a:p>
        </p:txBody>
      </p:sp>
      <p:pic>
        <p:nvPicPr>
          <p:cNvPr id="12" name="Picture 11" descr="uit_symbol_only.png"/>
          <p:cNvPicPr>
            <a:picLocks noChangeAspect="1"/>
          </p:cNvPicPr>
          <p:nvPr/>
        </p:nvPicPr>
        <p:blipFill>
          <a:blip r:embed="rId3"/>
          <a:stretch>
            <a:fillRect/>
          </a:stretch>
        </p:blipFill>
        <p:spPr>
          <a:xfrm>
            <a:off x="100584" y="91440"/>
            <a:ext cx="420261" cy="310896"/>
          </a:xfrm>
          <a:prstGeom prst="rect">
            <a:avLst/>
          </a:prstGeom>
        </p:spPr>
      </p:pic>
      <p:pic>
        <p:nvPicPr>
          <p:cNvPr id="13" name="Picture 12" descr="image.png"/>
          <p:cNvPicPr>
            <a:picLocks noChangeAspect="1"/>
          </p:cNvPicPr>
          <p:nvPr/>
        </p:nvPicPr>
        <p:blipFill>
          <a:blip r:embed="rId4"/>
          <a:stretch>
            <a:fillRect/>
          </a:stretch>
        </p:blipFill>
        <p:spPr>
          <a:xfrm>
            <a:off x="10195560" y="91440"/>
            <a:ext cx="1783080" cy="594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r>
              <a:rPr lang="en-US" sz="2400" b="1">
                <a:solidFill>
                  <a:srgbClr val="FFFFFF"/>
                </a:solidFill>
              </a:rPr>
              <a:t>WEB CLIENT &amp; WEB ADMIN – CHỨC NĂNG CHÍNH </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02920"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08</a:t>
            </a:r>
            <a:endParaRPr lang="en-US" sz="850"/>
          </a:p>
        </p:txBody>
      </p:sp>
      <p:sp>
        <p:nvSpPr>
          <p:cNvPr id="8" name="Text 5"/>
          <p:cNvSpPr/>
          <p:nvPr/>
        </p:nvSpPr>
        <p:spPr>
          <a:xfrm>
            <a:off x="612955" y="4166148"/>
            <a:ext cx="4800600" cy="1396453"/>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Tính</a:t>
            </a:r>
            <a:r>
              <a:rPr sz="1100" b="1">
                <a:solidFill>
                  <a:srgbClr val="00F5C6"/>
                </a:solidFill>
                <a:latin typeface="Segoe"/>
              </a:rPr>
              <a:t> </a:t>
            </a:r>
            <a:r>
              <a:rPr sz="1100" b="1" err="1">
                <a:solidFill>
                  <a:srgbClr val="00F5C6"/>
                </a:solidFill>
                <a:latin typeface="Segoe"/>
              </a:rPr>
              <a:t>năng</a:t>
            </a:r>
            <a:r>
              <a:rPr sz="1100" b="1">
                <a:solidFill>
                  <a:srgbClr val="00F5C6"/>
                </a:solidFill>
                <a:latin typeface="Segoe"/>
              </a:rPr>
              <a:t> </a:t>
            </a:r>
            <a:r>
              <a:rPr sz="1100" b="1" err="1">
                <a:solidFill>
                  <a:srgbClr val="00F5C6"/>
                </a:solidFill>
                <a:latin typeface="Segoe"/>
              </a:rPr>
              <a:t>nổi</a:t>
            </a:r>
            <a:r>
              <a:rPr sz="1100" b="1">
                <a:solidFill>
                  <a:srgbClr val="00F5C6"/>
                </a:solidFill>
                <a:latin typeface="Segoe"/>
              </a:rPr>
              <a:t> </a:t>
            </a:r>
            <a:r>
              <a:rPr sz="1100" b="1" err="1">
                <a:solidFill>
                  <a:srgbClr val="00F5C6"/>
                </a:solidFill>
                <a:latin typeface="Segoe"/>
              </a:rPr>
              <a:t>bật</a:t>
            </a:r>
            <a:endParaRPr lang="en-US" sz="1100">
              <a:latin typeface="Segoe"/>
            </a:endParaRPr>
          </a:p>
          <a:p>
            <a:pPr marL="171450" indent="-171450">
              <a:spcBef>
                <a:spcPts val="0"/>
              </a:spcBef>
              <a:spcAft>
                <a:spcPts val="0"/>
              </a:spcAft>
              <a:buFont typeface="Arial" panose="020B0604020202020204" pitchFamily="34" charset="0"/>
              <a:buChar char="•"/>
            </a:pPr>
            <a:r>
              <a:rPr lang="en-US" sz="1100">
                <a:solidFill>
                  <a:srgbClr val="FFFFFF"/>
                </a:solidFill>
                <a:latin typeface="Segoe"/>
              </a:rPr>
              <a:t>Xem sân, ngày và khung giờ.</a:t>
            </a:r>
          </a:p>
          <a:p>
            <a:pPr marL="171450" indent="-171450">
              <a:spcBef>
                <a:spcPts val="0"/>
              </a:spcBef>
              <a:spcAft>
                <a:spcPts val="0"/>
              </a:spcAft>
              <a:buFont typeface="Arial" panose="020B0604020202020204" pitchFamily="34" charset="0"/>
              <a:buChar char="•"/>
            </a:pPr>
            <a:r>
              <a:rPr lang="en-US" sz="1100">
                <a:solidFill>
                  <a:srgbClr val="FFFFFF"/>
                </a:solidFill>
                <a:latin typeface="Segoe"/>
              </a:rPr>
              <a:t>Chọn dịch vụ và tính tổng tiền.</a:t>
            </a:r>
          </a:p>
          <a:p>
            <a:pPr marL="171450" indent="-171450">
              <a:spcBef>
                <a:spcPts val="0"/>
              </a:spcBef>
              <a:spcAft>
                <a:spcPts val="0"/>
              </a:spcAft>
              <a:buFont typeface="Arial" panose="020B0604020202020204" pitchFamily="34" charset="0"/>
              <a:buChar char="•"/>
            </a:pPr>
            <a:r>
              <a:rPr lang="en-US" sz="1100">
                <a:solidFill>
                  <a:srgbClr val="FFFFFF"/>
                </a:solidFill>
                <a:latin typeface="Segoe"/>
              </a:rPr>
              <a:t>Kiểm tra dữ liệu khách hàng.</a:t>
            </a:r>
          </a:p>
          <a:p>
            <a:pPr marL="171450" indent="-171450">
              <a:spcBef>
                <a:spcPts val="0"/>
              </a:spcBef>
              <a:spcAft>
                <a:spcPts val="0"/>
              </a:spcAft>
              <a:buFont typeface="Arial" panose="020B0604020202020204" pitchFamily="34" charset="0"/>
              <a:buChar char="•"/>
            </a:pPr>
            <a:r>
              <a:rPr lang="en-US" sz="1100">
                <a:solidFill>
                  <a:srgbClr val="FFFFFF"/>
                </a:solidFill>
                <a:latin typeface="Segoe"/>
              </a:rPr>
              <a:t>Đặt sân thủ công hoặc qua AI.</a:t>
            </a:r>
          </a:p>
          <a:p>
            <a:pPr marL="171450" indent="-171450">
              <a:spcBef>
                <a:spcPts val="0"/>
              </a:spcBef>
              <a:spcAft>
                <a:spcPts val="0"/>
              </a:spcAft>
              <a:buFont typeface="Arial" panose="020B0604020202020204" pitchFamily="34" charset="0"/>
              <a:buChar char="•"/>
            </a:pPr>
            <a:r>
              <a:rPr lang="en-US" sz="1100">
                <a:solidFill>
                  <a:srgbClr val="FFFFFF"/>
                </a:solidFill>
                <a:latin typeface="Segoe"/>
              </a:rPr>
              <a:t>Đồng bộ booking sang Admin.</a:t>
            </a:r>
            <a:endParaRPr sz="1100" b="0">
              <a:solidFill>
                <a:srgbClr val="FFFFFF"/>
              </a:solidFill>
              <a:latin typeface="Segoe"/>
            </a:endParaRPr>
          </a:p>
        </p:txBody>
      </p:sp>
      <p:sp>
        <p:nvSpPr>
          <p:cNvPr id="9" name="Text 6"/>
          <p:cNvSpPr/>
          <p:nvPr/>
        </p:nvSpPr>
        <p:spPr>
          <a:xfrm>
            <a:off x="612955" y="5915297"/>
            <a:ext cx="10776857" cy="292608"/>
          </a:xfrm>
          <a:prstGeom prst="roundRect">
            <a:avLst/>
          </a:prstGeom>
          <a:solidFill>
            <a:srgbClr val="08C391"/>
          </a:solidFill>
          <a:ln>
            <a:solidFill>
              <a:srgbClr val="08C391">
                <a:alpha val="90000"/>
              </a:srgbClr>
            </a:solidFill>
          </a:ln>
        </p:spPr>
        <p:txBody>
          <a:bodyPr wrap="square" lIns="254" tIns="254" rIns="254" bIns="254" rtlCol="0" anchor="ctr">
            <a:noAutofit/>
          </a:bodyPr>
          <a:lstStyle/>
          <a:p>
            <a:pPr algn="ctr"/>
            <a:r>
              <a:rPr lang="en-US" sz="1100" b="1">
                <a:latin typeface="Segoe"/>
              </a:rPr>
              <a:t>Client hỗ trợ đặt sân thủ công/AI; Admin quản lý và đồng bộ booking, lịch sân, dịch vụ.</a:t>
            </a:r>
          </a:p>
        </p:txBody>
      </p:sp>
      <p:pic>
        <p:nvPicPr>
          <p:cNvPr id="10" name="Picture 9" descr="uit_symbol_only.png"/>
          <p:cNvPicPr>
            <a:picLocks noChangeAspect="1"/>
          </p:cNvPicPr>
          <p:nvPr/>
        </p:nvPicPr>
        <p:blipFill>
          <a:blip r:embed="rId3"/>
          <a:stretch>
            <a:fillRect/>
          </a:stretch>
        </p:blipFill>
        <p:spPr>
          <a:xfrm>
            <a:off x="100584" y="91440"/>
            <a:ext cx="420261" cy="310896"/>
          </a:xfrm>
          <a:prstGeom prst="rect">
            <a:avLst/>
          </a:prstGeom>
        </p:spPr>
      </p:pic>
      <p:pic>
        <p:nvPicPr>
          <p:cNvPr id="11" name="Picture 10" descr="image.png"/>
          <p:cNvPicPr>
            <a:picLocks noChangeAspect="1"/>
          </p:cNvPicPr>
          <p:nvPr/>
        </p:nvPicPr>
        <p:blipFill>
          <a:blip r:embed="rId4"/>
          <a:stretch>
            <a:fillRect/>
          </a:stretch>
        </p:blipFill>
        <p:spPr>
          <a:xfrm>
            <a:off x="10195560" y="91440"/>
            <a:ext cx="1783080" cy="594360"/>
          </a:xfrm>
          <a:prstGeom prst="rect">
            <a:avLst/>
          </a:prstGeom>
        </p:spPr>
      </p:pic>
      <p:pic>
        <p:nvPicPr>
          <p:cNvPr id="6" name="Picture 5">
            <a:extLst>
              <a:ext uri="{FF2B5EF4-FFF2-40B4-BE49-F238E27FC236}">
                <a16:creationId xmlns:a16="http://schemas.microsoft.com/office/drawing/2014/main" id="{B1508354-F18F-4D25-871C-B26071CF8044}"/>
              </a:ext>
            </a:extLst>
          </p:cNvPr>
          <p:cNvPicPr>
            <a:picLocks noChangeAspect="1"/>
          </p:cNvPicPr>
          <p:nvPr/>
        </p:nvPicPr>
        <p:blipFill rotWithShape="1">
          <a:blip r:embed="rId5"/>
          <a:srcRect l="14684"/>
          <a:stretch/>
        </p:blipFill>
        <p:spPr>
          <a:xfrm>
            <a:off x="504098" y="999276"/>
            <a:ext cx="5210902" cy="2832495"/>
          </a:xfrm>
          <a:prstGeom prst="rect">
            <a:avLst/>
          </a:prstGeom>
        </p:spPr>
      </p:pic>
      <p:pic>
        <p:nvPicPr>
          <p:cNvPr id="13" name="Image 0" descr="/mnt/data/es8_extract/word/media/image43.png">
            <a:extLst>
              <a:ext uri="{FF2B5EF4-FFF2-40B4-BE49-F238E27FC236}">
                <a16:creationId xmlns:a16="http://schemas.microsoft.com/office/drawing/2014/main" id="{233BF61E-2A66-4F36-968A-A4BD8AC2C52D}"/>
              </a:ext>
            </a:extLst>
          </p:cNvPr>
          <p:cNvPicPr>
            <a:picLocks noChangeAspect="1"/>
          </p:cNvPicPr>
          <p:nvPr/>
        </p:nvPicPr>
        <p:blipFill>
          <a:blip r:embed="rId6"/>
          <a:srcRect l="925" r="925"/>
          <a:stretch/>
        </p:blipFill>
        <p:spPr>
          <a:xfrm>
            <a:off x="6477002" y="999275"/>
            <a:ext cx="4958226" cy="2832495"/>
          </a:xfrm>
          <a:prstGeom prst="rect">
            <a:avLst/>
          </a:prstGeom>
        </p:spPr>
      </p:pic>
      <p:sp>
        <p:nvSpPr>
          <p:cNvPr id="14" name="Text 5">
            <a:extLst>
              <a:ext uri="{FF2B5EF4-FFF2-40B4-BE49-F238E27FC236}">
                <a16:creationId xmlns:a16="http://schemas.microsoft.com/office/drawing/2014/main" id="{16D60EAD-44F5-4E8D-BED1-748EEF52CF39}"/>
              </a:ext>
            </a:extLst>
          </p:cNvPr>
          <p:cNvSpPr/>
          <p:nvPr/>
        </p:nvSpPr>
        <p:spPr>
          <a:xfrm>
            <a:off x="6589212" y="4177032"/>
            <a:ext cx="4800600" cy="1396453"/>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Tính</a:t>
            </a:r>
            <a:r>
              <a:rPr sz="1100" b="1">
                <a:solidFill>
                  <a:srgbClr val="00F5C6"/>
                </a:solidFill>
                <a:latin typeface="Segoe"/>
              </a:rPr>
              <a:t> </a:t>
            </a:r>
            <a:r>
              <a:rPr sz="1100" b="1" err="1">
                <a:solidFill>
                  <a:srgbClr val="00F5C6"/>
                </a:solidFill>
                <a:latin typeface="Segoe"/>
              </a:rPr>
              <a:t>năng</a:t>
            </a:r>
            <a:r>
              <a:rPr sz="1100" b="1">
                <a:solidFill>
                  <a:srgbClr val="00F5C6"/>
                </a:solidFill>
                <a:latin typeface="Segoe"/>
              </a:rPr>
              <a:t> </a:t>
            </a:r>
            <a:r>
              <a:rPr sz="1100" b="1" err="1">
                <a:solidFill>
                  <a:srgbClr val="00F5C6"/>
                </a:solidFill>
                <a:latin typeface="Segoe"/>
              </a:rPr>
              <a:t>nổi</a:t>
            </a:r>
            <a:r>
              <a:rPr sz="1100" b="1">
                <a:solidFill>
                  <a:srgbClr val="00F5C6"/>
                </a:solidFill>
                <a:latin typeface="Segoe"/>
              </a:rPr>
              <a:t> bật</a:t>
            </a:r>
            <a:endParaRPr lang="en-US" sz="1100" b="1">
              <a:solidFill>
                <a:srgbClr val="00F5C6"/>
              </a:solidFill>
              <a:latin typeface="Segoe"/>
            </a:endParaRPr>
          </a:p>
          <a:p>
            <a:pPr marL="171450" indent="-171450">
              <a:buFont typeface="Arial" panose="020B0604020202020204" pitchFamily="34" charset="0"/>
              <a:buChar char="•"/>
            </a:pPr>
            <a:r>
              <a:rPr lang="vi-VN" sz="1100">
                <a:solidFill>
                  <a:schemeClr val="bg1"/>
                </a:solidFill>
                <a:latin typeface="Segoe"/>
              </a:rPr>
              <a:t>Quản lý lịch sân và trạng thái booking.</a:t>
            </a:r>
            <a:endParaRPr lang="en-US" sz="1100">
              <a:solidFill>
                <a:schemeClr val="bg1"/>
              </a:solidFill>
              <a:latin typeface="Segoe"/>
            </a:endParaRPr>
          </a:p>
          <a:p>
            <a:pPr marL="171450" indent="-171450">
              <a:buFont typeface="Arial" panose="020B0604020202020204" pitchFamily="34" charset="0"/>
              <a:buChar char="•"/>
            </a:pPr>
            <a:r>
              <a:rPr lang="vi-VN" sz="1100">
                <a:solidFill>
                  <a:schemeClr val="bg1"/>
                </a:solidFill>
                <a:latin typeface="Segoe"/>
              </a:rPr>
              <a:t>Quản lý đơn đặt, sân và dịch vụ.</a:t>
            </a:r>
            <a:endParaRPr lang="en-US" sz="1100">
              <a:solidFill>
                <a:schemeClr val="bg1"/>
              </a:solidFill>
              <a:latin typeface="Segoe"/>
            </a:endParaRPr>
          </a:p>
          <a:p>
            <a:pPr marL="171450" indent="-171450">
              <a:buFont typeface="Arial" panose="020B0604020202020204" pitchFamily="34" charset="0"/>
              <a:buChar char="•"/>
            </a:pPr>
            <a:r>
              <a:rPr lang="vi-VN" sz="1100">
                <a:solidFill>
                  <a:schemeClr val="bg1"/>
                </a:solidFill>
                <a:latin typeface="Segoe"/>
              </a:rPr>
              <a:t>Validation và chống đặt trùng.</a:t>
            </a:r>
            <a:endParaRPr lang="en-US" sz="1100">
              <a:solidFill>
                <a:schemeClr val="bg1"/>
              </a:solidFill>
              <a:latin typeface="Segoe"/>
            </a:endParaRPr>
          </a:p>
          <a:p>
            <a:pPr marL="171450" indent="-171450">
              <a:buFont typeface="Arial" panose="020B0604020202020204" pitchFamily="34" charset="0"/>
              <a:buChar char="•"/>
            </a:pPr>
            <a:r>
              <a:rPr lang="vi-VN" sz="1100">
                <a:solidFill>
                  <a:schemeClr val="bg1"/>
                </a:solidFill>
                <a:latin typeface="Segoe"/>
              </a:rPr>
              <a:t>Theo dõi thông báo và thống kê.</a:t>
            </a:r>
            <a:endParaRPr lang="en-US" sz="1100">
              <a:solidFill>
                <a:schemeClr val="bg1"/>
              </a:solidFill>
              <a:latin typeface="Segoe"/>
            </a:endParaRPr>
          </a:p>
          <a:p>
            <a:pPr marL="171450" indent="-171450">
              <a:buFont typeface="Arial" panose="020B0604020202020204" pitchFamily="34" charset="0"/>
              <a:buChar char="•"/>
            </a:pPr>
            <a:r>
              <a:rPr lang="vi-VN" sz="1100">
                <a:solidFill>
                  <a:schemeClr val="bg1"/>
                </a:solidFill>
                <a:latin typeface="Segoe"/>
              </a:rPr>
              <a:t>Đồng bộ dữ liệu với Client.</a:t>
            </a:r>
            <a:endParaRPr lang="en-US" sz="1100">
              <a:solidFill>
                <a:schemeClr val="bg1"/>
              </a:solidFill>
              <a:latin typeface="Sego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r>
              <a:rPr lang="en-US" sz="2400" b="1">
                <a:solidFill>
                  <a:srgbClr val="FFFFFF"/>
                </a:solidFill>
              </a:rPr>
              <a:t>LUỒNG VẬN HÀNH &amp; QUẢN LÝ PHÁT TRIỂN HỆ THỐNG</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02920"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09</a:t>
            </a:r>
            <a:endParaRPr lang="en-US" sz="850"/>
          </a:p>
        </p:txBody>
      </p:sp>
      <p:sp>
        <p:nvSpPr>
          <p:cNvPr id="12" name="Text 8"/>
          <p:cNvSpPr/>
          <p:nvPr/>
        </p:nvSpPr>
        <p:spPr>
          <a:xfrm>
            <a:off x="770709" y="5715000"/>
            <a:ext cx="10650583" cy="292608"/>
          </a:xfrm>
          <a:prstGeom prst="roundRect">
            <a:avLst/>
          </a:prstGeom>
          <a:solidFill>
            <a:srgbClr val="F3C04E"/>
          </a:solidFill>
          <a:ln>
            <a:solidFill>
              <a:srgbClr val="F3C04E">
                <a:alpha val="90000"/>
              </a:srgbClr>
            </a:solidFill>
          </a:ln>
        </p:spPr>
        <p:txBody>
          <a:bodyPr wrap="square" lIns="254" tIns="254" rIns="254" bIns="254" rtlCol="0" anchor="ctr">
            <a:normAutofit/>
          </a:bodyPr>
          <a:lstStyle/>
          <a:p>
            <a:pPr algn="ctr"/>
            <a:r>
              <a:rPr lang="en-US" sz="1100" b="1">
                <a:solidFill>
                  <a:srgbClr val="051424"/>
                </a:solidFill>
                <a:latin typeface="Segoe"/>
              </a:rPr>
              <a:t>Client → Backend → Database → Admin; Git hỗ trợ quản lý phiên bản và phối hợp phát triển nhóm.</a:t>
            </a:r>
            <a:endParaRPr lang="en-US" sz="1400">
              <a:latin typeface="Segoe"/>
            </a:endParaRPr>
          </a:p>
        </p:txBody>
      </p:sp>
      <p:pic>
        <p:nvPicPr>
          <p:cNvPr id="13" name="Picture 12" descr="uit_symbol_only.png"/>
          <p:cNvPicPr>
            <a:picLocks noChangeAspect="1"/>
          </p:cNvPicPr>
          <p:nvPr/>
        </p:nvPicPr>
        <p:blipFill>
          <a:blip r:embed="rId3"/>
          <a:stretch>
            <a:fillRect/>
          </a:stretch>
        </p:blipFill>
        <p:spPr>
          <a:xfrm>
            <a:off x="100584" y="91440"/>
            <a:ext cx="420261" cy="310896"/>
          </a:xfrm>
          <a:prstGeom prst="rect">
            <a:avLst/>
          </a:prstGeom>
        </p:spPr>
      </p:pic>
      <p:pic>
        <p:nvPicPr>
          <p:cNvPr id="14" name="Picture 13" descr="image.png"/>
          <p:cNvPicPr>
            <a:picLocks noChangeAspect="1"/>
          </p:cNvPicPr>
          <p:nvPr/>
        </p:nvPicPr>
        <p:blipFill>
          <a:blip r:embed="rId4"/>
          <a:stretch>
            <a:fillRect/>
          </a:stretch>
        </p:blipFill>
        <p:spPr>
          <a:xfrm>
            <a:off x="10195560" y="91440"/>
            <a:ext cx="1783080" cy="594360"/>
          </a:xfrm>
          <a:prstGeom prst="rect">
            <a:avLst/>
          </a:prstGeom>
        </p:spPr>
      </p:pic>
      <p:pic>
        <p:nvPicPr>
          <p:cNvPr id="15" name="Picture 14">
            <a:extLst>
              <a:ext uri="{FF2B5EF4-FFF2-40B4-BE49-F238E27FC236}">
                <a16:creationId xmlns:a16="http://schemas.microsoft.com/office/drawing/2014/main" id="{9DBC8286-7DA2-4862-A503-71001C8E4425}"/>
              </a:ext>
            </a:extLst>
          </p:cNvPr>
          <p:cNvPicPr>
            <a:picLocks noChangeAspect="1"/>
          </p:cNvPicPr>
          <p:nvPr/>
        </p:nvPicPr>
        <p:blipFill>
          <a:blip r:embed="rId5"/>
          <a:stretch>
            <a:fillRect/>
          </a:stretch>
        </p:blipFill>
        <p:spPr>
          <a:xfrm>
            <a:off x="714103" y="978407"/>
            <a:ext cx="3400396" cy="2820707"/>
          </a:xfrm>
          <a:prstGeom prst="rect">
            <a:avLst/>
          </a:prstGeom>
        </p:spPr>
      </p:pic>
      <p:sp>
        <p:nvSpPr>
          <p:cNvPr id="10" name="Text 5">
            <a:extLst>
              <a:ext uri="{FF2B5EF4-FFF2-40B4-BE49-F238E27FC236}">
                <a16:creationId xmlns:a16="http://schemas.microsoft.com/office/drawing/2014/main" id="{E85EDEBB-B645-4BFE-A048-3199717AF20A}"/>
              </a:ext>
            </a:extLst>
          </p:cNvPr>
          <p:cNvSpPr/>
          <p:nvPr/>
        </p:nvSpPr>
        <p:spPr>
          <a:xfrm>
            <a:off x="714103" y="3981992"/>
            <a:ext cx="3400396" cy="1396453"/>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lang="en-US" sz="1100" b="1">
                <a:solidFill>
                  <a:srgbClr val="00F5C6"/>
                </a:solidFill>
                <a:latin typeface="Segoe"/>
              </a:rPr>
              <a:t>Quản lý mã nguồn</a:t>
            </a:r>
            <a:endParaRPr lang="en-US" sz="1100">
              <a:solidFill>
                <a:srgbClr val="FFFFFF"/>
              </a:solidFill>
              <a:latin typeface="Segoe"/>
            </a:endParaRPr>
          </a:p>
          <a:p>
            <a:pPr marL="171450" indent="-171450">
              <a:spcBef>
                <a:spcPts val="0"/>
              </a:spcBef>
              <a:spcAft>
                <a:spcPts val="0"/>
              </a:spcAft>
              <a:buFont typeface="Arial" panose="020B0604020202020204" pitchFamily="34" charset="0"/>
              <a:buChar char="•"/>
            </a:pPr>
            <a:r>
              <a:rPr lang="en-US" sz="1100">
                <a:solidFill>
                  <a:srgbClr val="FFFFFF"/>
                </a:solidFill>
                <a:latin typeface="Segoe"/>
              </a:rPr>
              <a:t>Git/SourceTree quản lý phiên bản</a:t>
            </a:r>
          </a:p>
          <a:p>
            <a:pPr marL="171450" indent="-171450">
              <a:spcBef>
                <a:spcPts val="0"/>
              </a:spcBef>
              <a:spcAft>
                <a:spcPts val="0"/>
              </a:spcAft>
              <a:buFont typeface="Arial" panose="020B0604020202020204" pitchFamily="34" charset="0"/>
              <a:buChar char="•"/>
            </a:pPr>
            <a:r>
              <a:rPr lang="en-US" sz="1100">
                <a:solidFill>
                  <a:srgbClr val="FFFFFF"/>
                </a:solidFill>
                <a:latin typeface="Segoe"/>
              </a:rPr>
              <a:t>Làm việc theo commit, branch và merge</a:t>
            </a:r>
          </a:p>
          <a:p>
            <a:pPr marL="171450" indent="-171450">
              <a:spcBef>
                <a:spcPts val="0"/>
              </a:spcBef>
              <a:spcAft>
                <a:spcPts val="0"/>
              </a:spcAft>
              <a:buFont typeface="Arial" panose="020B0604020202020204" pitchFamily="34" charset="0"/>
              <a:buChar char="•"/>
            </a:pPr>
            <a:r>
              <a:rPr lang="en-US" sz="1100">
                <a:solidFill>
                  <a:srgbClr val="FFFFFF"/>
                </a:solidFill>
                <a:latin typeface="Segoe"/>
              </a:rPr>
              <a:t>Theo dõi thay đổi và đóng góp nhóm </a:t>
            </a:r>
          </a:p>
        </p:txBody>
      </p:sp>
      <p:sp>
        <p:nvSpPr>
          <p:cNvPr id="11" name="Shape 4">
            <a:extLst>
              <a:ext uri="{FF2B5EF4-FFF2-40B4-BE49-F238E27FC236}">
                <a16:creationId xmlns:a16="http://schemas.microsoft.com/office/drawing/2014/main" id="{25DCCF86-B998-4353-8874-524F583E1998}"/>
              </a:ext>
            </a:extLst>
          </p:cNvPr>
          <p:cNvSpPr/>
          <p:nvPr/>
        </p:nvSpPr>
        <p:spPr>
          <a:xfrm flipH="1">
            <a:off x="8716729" y="2032316"/>
            <a:ext cx="0" cy="732928"/>
          </a:xfrm>
          <a:prstGeom prst="line">
            <a:avLst/>
          </a:prstGeom>
          <a:noFill/>
          <a:ln w="22860">
            <a:solidFill>
              <a:srgbClr val="F3C04E"/>
            </a:solidFill>
            <a:prstDash val="solid"/>
            <a:tailEnd type="triangle"/>
          </a:ln>
        </p:spPr>
        <p:txBody>
          <a:bodyPr/>
          <a:lstStyle/>
          <a:p>
            <a:endParaRPr/>
          </a:p>
        </p:txBody>
      </p:sp>
      <p:sp>
        <p:nvSpPr>
          <p:cNvPr id="16" name="Shape 5">
            <a:extLst>
              <a:ext uri="{FF2B5EF4-FFF2-40B4-BE49-F238E27FC236}">
                <a16:creationId xmlns:a16="http://schemas.microsoft.com/office/drawing/2014/main" id="{9EC99995-E411-4607-B130-2BA87009623D}"/>
              </a:ext>
            </a:extLst>
          </p:cNvPr>
          <p:cNvSpPr/>
          <p:nvPr/>
        </p:nvSpPr>
        <p:spPr>
          <a:xfrm flipV="1">
            <a:off x="7395198" y="1443446"/>
            <a:ext cx="693421" cy="0"/>
          </a:xfrm>
          <a:prstGeom prst="line">
            <a:avLst/>
          </a:prstGeom>
          <a:noFill/>
          <a:ln w="22860">
            <a:solidFill>
              <a:srgbClr val="F3C04E"/>
            </a:solidFill>
            <a:prstDash val="solid"/>
            <a:tailEnd type="triangle"/>
          </a:ln>
        </p:spPr>
        <p:txBody>
          <a:bodyPr/>
          <a:lstStyle/>
          <a:p>
            <a:endParaRPr/>
          </a:p>
        </p:txBody>
      </p:sp>
      <p:sp>
        <p:nvSpPr>
          <p:cNvPr id="17" name="Shape 6">
            <a:extLst>
              <a:ext uri="{FF2B5EF4-FFF2-40B4-BE49-F238E27FC236}">
                <a16:creationId xmlns:a16="http://schemas.microsoft.com/office/drawing/2014/main" id="{6DA4CAEF-5A78-4C89-A64D-8A635EAD954C}"/>
              </a:ext>
            </a:extLst>
          </p:cNvPr>
          <p:cNvSpPr/>
          <p:nvPr/>
        </p:nvSpPr>
        <p:spPr>
          <a:xfrm flipH="1" flipV="1">
            <a:off x="7395198" y="3280734"/>
            <a:ext cx="693421" cy="0"/>
          </a:xfrm>
          <a:prstGeom prst="line">
            <a:avLst/>
          </a:prstGeom>
          <a:noFill/>
          <a:ln w="22860">
            <a:solidFill>
              <a:srgbClr val="F3C04E"/>
            </a:solidFill>
            <a:prstDash val="solid"/>
            <a:tailEnd type="triangle"/>
          </a:ln>
        </p:spPr>
        <p:txBody>
          <a:bodyPr/>
          <a:lstStyle/>
          <a:p>
            <a:endParaRPr/>
          </a:p>
        </p:txBody>
      </p:sp>
      <p:sp>
        <p:nvSpPr>
          <p:cNvPr id="18" name="Text 9">
            <a:extLst>
              <a:ext uri="{FF2B5EF4-FFF2-40B4-BE49-F238E27FC236}">
                <a16:creationId xmlns:a16="http://schemas.microsoft.com/office/drawing/2014/main" id="{E19079D6-3D84-4285-AC77-45B68C0BE948}"/>
              </a:ext>
            </a:extLst>
          </p:cNvPr>
          <p:cNvSpPr/>
          <p:nvPr/>
        </p:nvSpPr>
        <p:spPr>
          <a:xfrm>
            <a:off x="4650913" y="917659"/>
            <a:ext cx="2352399" cy="10058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r>
              <a:rPr lang="en-US" sz="1100" b="1">
                <a:solidFill>
                  <a:srgbClr val="38F2C0"/>
                </a:solidFill>
                <a:latin typeface="Segoe"/>
              </a:rPr>
              <a:t>1. Khách hàng chọn sân</a:t>
            </a:r>
          </a:p>
          <a:p>
            <a:r>
              <a:rPr lang="en-US" sz="1100">
                <a:solidFill>
                  <a:srgbClr val="E9F4FF"/>
                </a:solidFill>
                <a:latin typeface="Segoe"/>
              </a:rPr>
              <a:t>Chọn môn, sân, ngày và khung giờ </a:t>
            </a:r>
            <a:endParaRPr lang="en-US" sz="1100">
              <a:latin typeface="Segoe"/>
            </a:endParaRPr>
          </a:p>
        </p:txBody>
      </p:sp>
      <p:sp>
        <p:nvSpPr>
          <p:cNvPr id="19" name="Text 10">
            <a:extLst>
              <a:ext uri="{FF2B5EF4-FFF2-40B4-BE49-F238E27FC236}">
                <a16:creationId xmlns:a16="http://schemas.microsoft.com/office/drawing/2014/main" id="{C0601564-693E-4F45-AA7C-BA275D194EB4}"/>
              </a:ext>
            </a:extLst>
          </p:cNvPr>
          <p:cNvSpPr/>
          <p:nvPr/>
        </p:nvSpPr>
        <p:spPr>
          <a:xfrm>
            <a:off x="8460912" y="920171"/>
            <a:ext cx="2352398" cy="10058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r>
              <a:rPr lang="en-US" sz="1100" b="1">
                <a:solidFill>
                  <a:srgbClr val="38F2C0"/>
                </a:solidFill>
                <a:latin typeface="Segoe"/>
              </a:rPr>
              <a:t>2. Chọn dịch vụ &amp; nhập thông tin</a:t>
            </a:r>
            <a:endParaRPr lang="en-US" sz="1100" b="1">
              <a:solidFill>
                <a:srgbClr val="E9F4FF"/>
              </a:solidFill>
              <a:latin typeface="Segoe"/>
            </a:endParaRPr>
          </a:p>
          <a:p>
            <a:r>
              <a:rPr lang="en-US" sz="1100">
                <a:solidFill>
                  <a:srgbClr val="E9F4FF"/>
                </a:solidFill>
                <a:latin typeface="Segoe"/>
              </a:rPr>
              <a:t>Hệ thống kiểm tra dữ liệu đầu vào</a:t>
            </a:r>
            <a:endParaRPr lang="en-US" sz="1100">
              <a:latin typeface="Segoe"/>
            </a:endParaRPr>
          </a:p>
        </p:txBody>
      </p:sp>
      <p:sp>
        <p:nvSpPr>
          <p:cNvPr id="20" name="Text 11">
            <a:extLst>
              <a:ext uri="{FF2B5EF4-FFF2-40B4-BE49-F238E27FC236}">
                <a16:creationId xmlns:a16="http://schemas.microsoft.com/office/drawing/2014/main" id="{C7F6350C-F313-47D4-B846-4507646F8CAB}"/>
              </a:ext>
            </a:extLst>
          </p:cNvPr>
          <p:cNvSpPr/>
          <p:nvPr/>
        </p:nvSpPr>
        <p:spPr>
          <a:xfrm>
            <a:off x="4672687" y="4364938"/>
            <a:ext cx="2363282" cy="10058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r>
              <a:rPr lang="en-US" sz="1100" b="1">
                <a:solidFill>
                  <a:srgbClr val="38F2C0"/>
                </a:solidFill>
                <a:latin typeface="Segoe"/>
              </a:rPr>
              <a:t>5. Web Admin tiếp nhận
</a:t>
            </a:r>
            <a:r>
              <a:rPr lang="en-US" sz="1100">
                <a:solidFill>
                  <a:srgbClr val="E9F4FF"/>
                </a:solidFill>
                <a:latin typeface="Segoe"/>
              </a:rPr>
              <a:t>Theo dõi booking và lịch sân</a:t>
            </a:r>
            <a:endParaRPr lang="en-US" sz="1100">
              <a:latin typeface="Segoe"/>
            </a:endParaRPr>
          </a:p>
        </p:txBody>
      </p:sp>
      <p:sp>
        <p:nvSpPr>
          <p:cNvPr id="21" name="Text 12">
            <a:extLst>
              <a:ext uri="{FF2B5EF4-FFF2-40B4-BE49-F238E27FC236}">
                <a16:creationId xmlns:a16="http://schemas.microsoft.com/office/drawing/2014/main" id="{8FB7BF23-CA60-4EF8-946E-8E5BF7679E81}"/>
              </a:ext>
            </a:extLst>
          </p:cNvPr>
          <p:cNvSpPr/>
          <p:nvPr/>
        </p:nvSpPr>
        <p:spPr>
          <a:xfrm>
            <a:off x="4650915" y="2766384"/>
            <a:ext cx="2352397" cy="1028700"/>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r>
              <a:rPr lang="en-US" sz="1100" b="1">
                <a:solidFill>
                  <a:srgbClr val="38F2C0"/>
                </a:solidFill>
                <a:latin typeface="Segoe"/>
              </a:rPr>
              <a:t>4. L</a:t>
            </a:r>
            <a:r>
              <a:rPr lang="vi-VN" sz="1100" b="1">
                <a:solidFill>
                  <a:srgbClr val="38F2C0"/>
                </a:solidFill>
                <a:latin typeface="Segoe"/>
              </a:rPr>
              <a:t>ư</a:t>
            </a:r>
            <a:r>
              <a:rPr lang="en-US" sz="1100" b="1">
                <a:solidFill>
                  <a:srgbClr val="38F2C0"/>
                </a:solidFill>
                <a:latin typeface="Segoe"/>
              </a:rPr>
              <a:t>u booking</a:t>
            </a:r>
          </a:p>
          <a:p>
            <a:r>
              <a:rPr lang="en-US" sz="1100">
                <a:solidFill>
                  <a:srgbClr val="E9F4FF"/>
                </a:solidFill>
                <a:latin typeface="Segoe"/>
              </a:rPr>
              <a:t>SQLAlchemy ORM → SQLite</a:t>
            </a:r>
            <a:endParaRPr lang="en-US" sz="1100">
              <a:latin typeface="Segoe"/>
            </a:endParaRPr>
          </a:p>
        </p:txBody>
      </p:sp>
      <p:sp>
        <p:nvSpPr>
          <p:cNvPr id="22" name="Text 13">
            <a:extLst>
              <a:ext uri="{FF2B5EF4-FFF2-40B4-BE49-F238E27FC236}">
                <a16:creationId xmlns:a16="http://schemas.microsoft.com/office/drawing/2014/main" id="{0ECA8687-2DB3-4F44-9B81-46ED1036C7FD}"/>
              </a:ext>
            </a:extLst>
          </p:cNvPr>
          <p:cNvSpPr/>
          <p:nvPr/>
        </p:nvSpPr>
        <p:spPr>
          <a:xfrm>
            <a:off x="8469616" y="2783431"/>
            <a:ext cx="2343691" cy="1028700"/>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r>
              <a:rPr lang="en-US" sz="1100" b="1">
                <a:solidFill>
                  <a:srgbClr val="38F2C0"/>
                </a:solidFill>
                <a:latin typeface="Segoe"/>
              </a:rPr>
              <a:t>3. Backend xử lý</a:t>
            </a:r>
          </a:p>
          <a:p>
            <a:r>
              <a:rPr lang="sv-SE" sz="1100">
                <a:solidFill>
                  <a:srgbClr val="E9F4FF"/>
                </a:solidFill>
                <a:latin typeface="Segoe"/>
              </a:rPr>
              <a:t>Validation + kiểm tra trùng lịch</a:t>
            </a:r>
            <a:endParaRPr lang="en-US" sz="1100">
              <a:latin typeface="Segoe"/>
            </a:endParaRPr>
          </a:p>
        </p:txBody>
      </p:sp>
      <p:sp>
        <p:nvSpPr>
          <p:cNvPr id="23" name="Text 14">
            <a:extLst>
              <a:ext uri="{FF2B5EF4-FFF2-40B4-BE49-F238E27FC236}">
                <a16:creationId xmlns:a16="http://schemas.microsoft.com/office/drawing/2014/main" id="{431EF017-C54B-4101-85F3-8A27D20D26FD}"/>
              </a:ext>
            </a:extLst>
          </p:cNvPr>
          <p:cNvSpPr/>
          <p:nvPr/>
        </p:nvSpPr>
        <p:spPr>
          <a:xfrm>
            <a:off x="8469617" y="4364938"/>
            <a:ext cx="2343691" cy="1005833"/>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r>
              <a:rPr lang="en-US" sz="1100" b="1">
                <a:solidFill>
                  <a:srgbClr val="38F2C0"/>
                </a:solidFill>
                <a:latin typeface="Segoe"/>
              </a:rPr>
              <a:t>6. Cập nhật trạng thái &amp; thống kê 
</a:t>
            </a:r>
            <a:r>
              <a:rPr lang="vi-VN" sz="1100">
                <a:solidFill>
                  <a:srgbClr val="E9F4FF"/>
                </a:solidFill>
                <a:latin typeface="Segoe"/>
              </a:rPr>
              <a:t>Dữ liệu tiếp tục được đồng bộ trong hệ thống</a:t>
            </a:r>
            <a:endParaRPr lang="en-US" sz="1100">
              <a:latin typeface="Segoe"/>
            </a:endParaRPr>
          </a:p>
        </p:txBody>
      </p:sp>
      <p:sp>
        <p:nvSpPr>
          <p:cNvPr id="25" name="Shape 6">
            <a:extLst>
              <a:ext uri="{FF2B5EF4-FFF2-40B4-BE49-F238E27FC236}">
                <a16:creationId xmlns:a16="http://schemas.microsoft.com/office/drawing/2014/main" id="{2760951C-3DD6-42A7-B99E-BEEB99F1BAC9}"/>
              </a:ext>
            </a:extLst>
          </p:cNvPr>
          <p:cNvSpPr/>
          <p:nvPr/>
        </p:nvSpPr>
        <p:spPr>
          <a:xfrm flipV="1">
            <a:off x="7395197" y="4849136"/>
            <a:ext cx="693422" cy="0"/>
          </a:xfrm>
          <a:prstGeom prst="line">
            <a:avLst/>
          </a:prstGeom>
          <a:noFill/>
          <a:ln w="22860">
            <a:solidFill>
              <a:srgbClr val="F3C04E"/>
            </a:solidFill>
            <a:prstDash val="solid"/>
            <a:tailEnd type="triangle"/>
          </a:ln>
        </p:spPr>
        <p:txBody>
          <a:bodyPr/>
          <a:lstStyle/>
          <a:p>
            <a:endParaRPr lang="en-US"/>
          </a:p>
        </p:txBody>
      </p:sp>
      <p:sp>
        <p:nvSpPr>
          <p:cNvPr id="26" name="Shape 5">
            <a:extLst>
              <a:ext uri="{FF2B5EF4-FFF2-40B4-BE49-F238E27FC236}">
                <a16:creationId xmlns:a16="http://schemas.microsoft.com/office/drawing/2014/main" id="{B5E87A77-E0BD-441D-8222-BE7C0F245FBF}"/>
              </a:ext>
            </a:extLst>
          </p:cNvPr>
          <p:cNvSpPr/>
          <p:nvPr/>
        </p:nvSpPr>
        <p:spPr>
          <a:xfrm flipH="1">
            <a:off x="5832014" y="3875080"/>
            <a:ext cx="0" cy="411713"/>
          </a:xfrm>
          <a:prstGeom prst="line">
            <a:avLst/>
          </a:prstGeom>
          <a:noFill/>
          <a:ln w="22860">
            <a:solidFill>
              <a:srgbClr val="F3C04E"/>
            </a:solidFill>
            <a:prstDash val="solid"/>
            <a:tailEnd type="triangle"/>
          </a:ln>
        </p:spPr>
        <p:txBody>
          <a:bodyPr/>
          <a:lstStyle/>
          <a:p>
            <a:endParaRPr/>
          </a:p>
        </p:txBody>
      </p:sp>
      <p:sp>
        <p:nvSpPr>
          <p:cNvPr id="27" name="Text 12">
            <a:extLst>
              <a:ext uri="{FF2B5EF4-FFF2-40B4-BE49-F238E27FC236}">
                <a16:creationId xmlns:a16="http://schemas.microsoft.com/office/drawing/2014/main" id="{4F544E81-8F35-4F35-A8C4-0B0952C9DCB9}"/>
              </a:ext>
            </a:extLst>
          </p:cNvPr>
          <p:cNvSpPr/>
          <p:nvPr/>
        </p:nvSpPr>
        <p:spPr>
          <a:xfrm>
            <a:off x="9537083" y="1949690"/>
            <a:ext cx="1780327" cy="505449"/>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fontScale="85000" lnSpcReduction="10000"/>
          </a:bodyPr>
          <a:lstStyle/>
          <a:p>
            <a:r>
              <a:rPr lang="en-US" sz="1100" b="1">
                <a:solidFill>
                  <a:srgbClr val="38F2C0"/>
                </a:solidFill>
                <a:latin typeface="Segoe"/>
              </a:rPr>
              <a:t>AI Assistant</a:t>
            </a:r>
            <a:endParaRPr lang="en-US" sz="1100">
              <a:solidFill>
                <a:srgbClr val="E9F4FF"/>
              </a:solidFill>
              <a:latin typeface="Segoe"/>
            </a:endParaRPr>
          </a:p>
          <a:p>
            <a:r>
              <a:rPr lang="en-US" sz="1100">
                <a:solidFill>
                  <a:srgbClr val="E9F4FF"/>
                </a:solidFill>
                <a:latin typeface="Segoe"/>
              </a:rPr>
              <a:t>Hiểu yêu cầu → gợi ý sân/giờ → xác nhận→ quay về Backend API</a:t>
            </a:r>
            <a:endParaRPr lang="en-US" sz="1100">
              <a:latin typeface="Segoe"/>
            </a:endParaRPr>
          </a:p>
        </p:txBody>
      </p:sp>
      <p:sp>
        <p:nvSpPr>
          <p:cNvPr id="50" name="Shape 4">
            <a:extLst>
              <a:ext uri="{FF2B5EF4-FFF2-40B4-BE49-F238E27FC236}">
                <a16:creationId xmlns:a16="http://schemas.microsoft.com/office/drawing/2014/main" id="{9CA4E9FE-1AC1-4B5E-A971-CC6A5B650076}"/>
              </a:ext>
            </a:extLst>
          </p:cNvPr>
          <p:cNvSpPr/>
          <p:nvPr/>
        </p:nvSpPr>
        <p:spPr>
          <a:xfrm flipH="1">
            <a:off x="9769881" y="2489329"/>
            <a:ext cx="0" cy="294102"/>
          </a:xfrm>
          <a:prstGeom prst="line">
            <a:avLst/>
          </a:prstGeom>
          <a:noFill/>
          <a:ln w="22860">
            <a:solidFill>
              <a:srgbClr val="F3C04E"/>
            </a:solidFill>
            <a:prstDash val="solid"/>
            <a:tailEnd type="triangle"/>
          </a:ln>
        </p:spPr>
        <p:txBody>
          <a:bodyPr/>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pPr marL="0" indent="0">
              <a:buNone/>
            </a:pPr>
            <a:r>
              <a:rPr lang="en-US" sz="2400" b="1">
                <a:solidFill>
                  <a:srgbClr val="FFFFFF"/>
                </a:solidFill>
              </a:rPr>
              <a:t>KẾT QUẢ THỰC HIỆN, KIỂM THỬ &amp; THÀNH VIÊN NHÓM</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02920"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10</a:t>
            </a:r>
            <a:endParaRPr lang="en-US" sz="850"/>
          </a:p>
        </p:txBody>
      </p:sp>
      <p:sp>
        <p:nvSpPr>
          <p:cNvPr id="6" name="Text 4"/>
          <p:cNvSpPr/>
          <p:nvPr/>
        </p:nvSpPr>
        <p:spPr>
          <a:xfrm>
            <a:off x="685800" y="1005840"/>
            <a:ext cx="5303520" cy="224028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Kết</a:t>
            </a:r>
            <a:r>
              <a:rPr sz="1100" b="1">
                <a:solidFill>
                  <a:srgbClr val="00F5C6"/>
                </a:solidFill>
                <a:latin typeface="Segoe"/>
              </a:rPr>
              <a:t> </a:t>
            </a:r>
            <a:r>
              <a:rPr sz="1100" b="1" err="1">
                <a:solidFill>
                  <a:srgbClr val="00F5C6"/>
                </a:solidFill>
                <a:latin typeface="Segoe"/>
              </a:rPr>
              <a:t>quả</a:t>
            </a:r>
            <a:r>
              <a:rPr sz="1100" b="1">
                <a:solidFill>
                  <a:srgbClr val="00F5C6"/>
                </a:solidFill>
                <a:latin typeface="Segoe"/>
              </a:rPr>
              <a:t> </a:t>
            </a:r>
            <a:r>
              <a:rPr sz="1100" b="1" err="1">
                <a:solidFill>
                  <a:srgbClr val="00F5C6"/>
                </a:solidFill>
                <a:latin typeface="Segoe"/>
              </a:rPr>
              <a:t>đạt</a:t>
            </a:r>
            <a:r>
              <a:rPr sz="1100" b="1">
                <a:solidFill>
                  <a:srgbClr val="00F5C6"/>
                </a:solidFill>
                <a:latin typeface="Segoe"/>
              </a:rPr>
              <a:t> </a:t>
            </a:r>
            <a:r>
              <a:rPr sz="1100" b="1" err="1">
                <a:solidFill>
                  <a:srgbClr val="00F5C6"/>
                </a:solidFill>
                <a:latin typeface="Segoe"/>
              </a:rPr>
              <a:t>được</a:t>
            </a:r>
            <a:endParaRPr lang="en-US" sz="1100">
              <a:latin typeface="Segoe"/>
            </a:endParaRPr>
          </a:p>
          <a:p>
            <a:pPr>
              <a:spcBef>
                <a:spcPts val="0"/>
              </a:spcBef>
              <a:spcAft>
                <a:spcPts val="0"/>
              </a:spcAft>
            </a:pPr>
            <a:r>
              <a:rPr sz="1100" b="0">
                <a:solidFill>
                  <a:srgbClr val="FFFFFF"/>
                </a:solidFill>
                <a:latin typeface="Segoe"/>
              </a:rPr>
              <a:t>• </a:t>
            </a:r>
            <a:r>
              <a:rPr lang="en-US" sz="1100" err="1">
                <a:solidFill>
                  <a:srgbClr val="FFFFFF"/>
                </a:solidFill>
                <a:latin typeface="Segoe"/>
              </a:rPr>
              <a:t>Hoàn</a:t>
            </a:r>
            <a:r>
              <a:rPr lang="en-US" sz="1100">
                <a:solidFill>
                  <a:srgbClr val="FFFFFF"/>
                </a:solidFill>
                <a:latin typeface="Segoe"/>
              </a:rPr>
              <a:t> </a:t>
            </a:r>
            <a:r>
              <a:rPr lang="en-US" sz="1100" err="1">
                <a:solidFill>
                  <a:srgbClr val="FFFFFF"/>
                </a:solidFill>
                <a:latin typeface="Segoe"/>
              </a:rPr>
              <a:t>thiện</a:t>
            </a:r>
            <a:r>
              <a:rPr lang="en-US" sz="1100">
                <a:solidFill>
                  <a:srgbClr val="FFFFFF"/>
                </a:solidFill>
                <a:latin typeface="Segoe"/>
              </a:rPr>
              <a:t> Web Client, Web Admin, Backend API </a:t>
            </a:r>
            <a:r>
              <a:rPr lang="en-US" sz="1100" err="1">
                <a:solidFill>
                  <a:srgbClr val="FFFFFF"/>
                </a:solidFill>
                <a:latin typeface="Segoe"/>
              </a:rPr>
              <a:t>và</a:t>
            </a:r>
            <a:r>
              <a:rPr lang="en-US" sz="1100">
                <a:solidFill>
                  <a:srgbClr val="FFFFFF"/>
                </a:solidFill>
                <a:latin typeface="Segoe"/>
              </a:rPr>
              <a:t> AI Assistant.</a:t>
            </a:r>
            <a:r>
              <a:rPr lang="en-US" sz="1100" b="0">
                <a:solidFill>
                  <a:srgbClr val="FFFFFF"/>
                </a:solidFill>
                <a:latin typeface="Segoe"/>
              </a:rPr>
              <a:t>
</a:t>
            </a:r>
            <a:r>
              <a:rPr lang="vi-VN" sz="1100">
                <a:solidFill>
                  <a:srgbClr val="FFFFFF"/>
                </a:solidFill>
                <a:latin typeface="Segoe"/>
              </a:rPr>
              <a:t>• Đồng bộ booking, sân, dịch vụ và trạng thái giữa Client/Admin</a:t>
            </a:r>
            <a:r>
              <a:rPr lang="vi-VN" sz="1100" b="0">
                <a:solidFill>
                  <a:srgbClr val="FFFFFF"/>
                </a:solidFill>
                <a:latin typeface="Segoe"/>
              </a:rPr>
              <a:t>
</a:t>
            </a:r>
            <a:r>
              <a:rPr lang="vi-VN" sz="1100">
                <a:solidFill>
                  <a:srgbClr val="FFFFFF"/>
                </a:solidFill>
                <a:latin typeface="Segoe"/>
              </a:rPr>
              <a:t>• Hỗ trợ đặt sân thủ công và qua AI</a:t>
            </a:r>
            <a:r>
              <a:rPr lang="en-US" sz="1100">
                <a:solidFill>
                  <a:srgbClr val="FFFFFF"/>
                </a:solidFill>
                <a:latin typeface="Segoe"/>
              </a:rPr>
              <a:t>.</a:t>
            </a:r>
            <a:r>
              <a:rPr lang="vi-VN" sz="1100" b="0">
                <a:solidFill>
                  <a:srgbClr val="FFFFFF"/>
                </a:solidFill>
                <a:latin typeface="Segoe"/>
              </a:rPr>
              <a:t>
</a:t>
            </a:r>
            <a:r>
              <a:rPr lang="vi-VN" sz="1100">
                <a:solidFill>
                  <a:srgbClr val="FFFFFF"/>
                </a:solidFill>
                <a:latin typeface="Segoe"/>
              </a:rPr>
              <a:t>• Quản lý lịch sân, đơn đặt, sân, dịch vụ và thống kê</a:t>
            </a:r>
            <a:r>
              <a:rPr lang="en-US" sz="1100">
                <a:solidFill>
                  <a:srgbClr val="FFFFFF"/>
                </a:solidFill>
                <a:latin typeface="Segoe"/>
              </a:rPr>
              <a:t>.</a:t>
            </a:r>
            <a:endParaRPr sz="1100" b="0">
              <a:solidFill>
                <a:srgbClr val="FFFFFF"/>
              </a:solidFill>
              <a:latin typeface="Segoe"/>
            </a:endParaRPr>
          </a:p>
        </p:txBody>
      </p:sp>
      <p:sp>
        <p:nvSpPr>
          <p:cNvPr id="7" name="Text 5"/>
          <p:cNvSpPr/>
          <p:nvPr/>
        </p:nvSpPr>
        <p:spPr>
          <a:xfrm>
            <a:off x="6355080" y="1005840"/>
            <a:ext cx="5120640" cy="224028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K</a:t>
            </a:r>
            <a:r>
              <a:rPr lang="en-US" sz="1100" b="1" err="1">
                <a:solidFill>
                  <a:srgbClr val="00F5C6"/>
                </a:solidFill>
                <a:latin typeface="Segoe"/>
              </a:rPr>
              <a:t>iểm</a:t>
            </a:r>
            <a:r>
              <a:rPr lang="en-US" sz="1100" b="1">
                <a:solidFill>
                  <a:srgbClr val="00F5C6"/>
                </a:solidFill>
                <a:latin typeface="Segoe"/>
              </a:rPr>
              <a:t> </a:t>
            </a:r>
            <a:r>
              <a:rPr lang="en-US" sz="1100" b="1" err="1">
                <a:solidFill>
                  <a:srgbClr val="00F5C6"/>
                </a:solidFill>
                <a:latin typeface="Segoe"/>
              </a:rPr>
              <a:t>thử</a:t>
            </a:r>
            <a:r>
              <a:rPr lang="en-US" sz="1100" b="1">
                <a:solidFill>
                  <a:srgbClr val="00F5C6"/>
                </a:solidFill>
                <a:latin typeface="Segoe"/>
              </a:rPr>
              <a:t> </a:t>
            </a:r>
            <a:r>
              <a:rPr lang="en-US" sz="1100" b="1" err="1">
                <a:solidFill>
                  <a:srgbClr val="00F5C6"/>
                </a:solidFill>
                <a:latin typeface="Segoe"/>
              </a:rPr>
              <a:t>hệ</a:t>
            </a:r>
            <a:r>
              <a:rPr lang="en-US" sz="1100" b="1">
                <a:solidFill>
                  <a:srgbClr val="00F5C6"/>
                </a:solidFill>
                <a:latin typeface="Segoe"/>
              </a:rPr>
              <a:t> </a:t>
            </a:r>
            <a:r>
              <a:rPr lang="en-US" sz="1100" b="1" err="1">
                <a:solidFill>
                  <a:srgbClr val="00F5C6"/>
                </a:solidFill>
                <a:latin typeface="Segoe"/>
              </a:rPr>
              <a:t>thống</a:t>
            </a:r>
            <a:endParaRPr lang="en-US" sz="1100" b="1">
              <a:solidFill>
                <a:srgbClr val="00F5C6"/>
              </a:solidFill>
              <a:latin typeface="Segoe"/>
            </a:endParaRPr>
          </a:p>
          <a:p>
            <a:pPr marL="171450" indent="-171450">
              <a:buFont typeface="Arial" panose="020B0604020202020204" pitchFamily="34" charset="0"/>
              <a:buChar char="•"/>
            </a:pPr>
            <a:r>
              <a:rPr lang="en-US" sz="1100" err="1">
                <a:solidFill>
                  <a:schemeClr val="bg1"/>
                </a:solidFill>
                <a:latin typeface="Segoe"/>
              </a:rPr>
              <a:t>Đã</a:t>
            </a:r>
            <a:r>
              <a:rPr lang="en-US" sz="1100">
                <a:solidFill>
                  <a:schemeClr val="bg1"/>
                </a:solidFill>
                <a:latin typeface="Segoe"/>
              </a:rPr>
              <a:t> </a:t>
            </a:r>
            <a:r>
              <a:rPr lang="en-US" sz="1100" err="1">
                <a:solidFill>
                  <a:schemeClr val="bg1"/>
                </a:solidFill>
                <a:latin typeface="Segoe"/>
              </a:rPr>
              <a:t>kiểm</a:t>
            </a:r>
            <a:r>
              <a:rPr lang="en-US" sz="1100">
                <a:solidFill>
                  <a:schemeClr val="bg1"/>
                </a:solidFill>
                <a:latin typeface="Segoe"/>
              </a:rPr>
              <a:t> </a:t>
            </a:r>
            <a:r>
              <a:rPr lang="en-US" sz="1100" err="1">
                <a:solidFill>
                  <a:schemeClr val="bg1"/>
                </a:solidFill>
                <a:latin typeface="Segoe"/>
              </a:rPr>
              <a:t>thử</a:t>
            </a:r>
            <a:r>
              <a:rPr lang="en-US" sz="1100">
                <a:solidFill>
                  <a:schemeClr val="bg1"/>
                </a:solidFill>
                <a:latin typeface="Segoe"/>
              </a:rPr>
              <a:t> </a:t>
            </a:r>
            <a:r>
              <a:rPr lang="en-US" sz="1100" err="1">
                <a:solidFill>
                  <a:schemeClr val="bg1"/>
                </a:solidFill>
                <a:latin typeface="Segoe"/>
              </a:rPr>
              <a:t>luồng</a:t>
            </a:r>
            <a:r>
              <a:rPr lang="en-US" sz="1100">
                <a:solidFill>
                  <a:schemeClr val="bg1"/>
                </a:solidFill>
                <a:latin typeface="Segoe"/>
              </a:rPr>
              <a:t> Client, Admin, AI </a:t>
            </a:r>
            <a:r>
              <a:rPr lang="en-US" sz="1100" err="1">
                <a:solidFill>
                  <a:schemeClr val="bg1"/>
                </a:solidFill>
                <a:latin typeface="Segoe"/>
              </a:rPr>
              <a:t>và</a:t>
            </a:r>
            <a:r>
              <a:rPr lang="en-US" sz="1100">
                <a:solidFill>
                  <a:schemeClr val="bg1"/>
                </a:solidFill>
                <a:latin typeface="Segoe"/>
              </a:rPr>
              <a:t> </a:t>
            </a:r>
            <a:r>
              <a:rPr lang="en-US" sz="1100" err="1">
                <a:solidFill>
                  <a:schemeClr val="bg1"/>
                </a:solidFill>
                <a:latin typeface="Segoe"/>
              </a:rPr>
              <a:t>đồng</a:t>
            </a:r>
            <a:r>
              <a:rPr lang="en-US" sz="1100">
                <a:solidFill>
                  <a:schemeClr val="bg1"/>
                </a:solidFill>
                <a:latin typeface="Segoe"/>
              </a:rPr>
              <a:t> </a:t>
            </a:r>
            <a:r>
              <a:rPr lang="en-US" sz="1100" err="1">
                <a:solidFill>
                  <a:schemeClr val="bg1"/>
                </a:solidFill>
                <a:latin typeface="Segoe"/>
              </a:rPr>
              <a:t>bộ</a:t>
            </a:r>
            <a:r>
              <a:rPr lang="en-US" sz="1100">
                <a:solidFill>
                  <a:schemeClr val="bg1"/>
                </a:solidFill>
                <a:latin typeface="Segoe"/>
              </a:rPr>
              <a:t> </a:t>
            </a:r>
            <a:r>
              <a:rPr lang="en-US" sz="1100" err="1">
                <a:solidFill>
                  <a:schemeClr val="bg1"/>
                </a:solidFill>
                <a:latin typeface="Segoe"/>
              </a:rPr>
              <a:t>dữ</a:t>
            </a:r>
            <a:r>
              <a:rPr lang="en-US" sz="1100">
                <a:solidFill>
                  <a:schemeClr val="bg1"/>
                </a:solidFill>
                <a:latin typeface="Segoe"/>
              </a:rPr>
              <a:t> </a:t>
            </a:r>
            <a:r>
              <a:rPr lang="en-US" sz="1100" err="1">
                <a:solidFill>
                  <a:schemeClr val="bg1"/>
                </a:solidFill>
                <a:latin typeface="Segoe"/>
              </a:rPr>
              <a:t>liệu</a:t>
            </a:r>
            <a:r>
              <a:rPr lang="en-US" sz="1100">
                <a:solidFill>
                  <a:schemeClr val="bg1"/>
                </a:solidFill>
                <a:latin typeface="Segoe"/>
              </a:rPr>
              <a:t>.</a:t>
            </a:r>
          </a:p>
          <a:p>
            <a:pPr marL="171450" indent="-171450">
              <a:buFont typeface="Arial" panose="020B0604020202020204" pitchFamily="34" charset="0"/>
              <a:buChar char="•"/>
            </a:pPr>
            <a:r>
              <a:rPr lang="en-US" sz="1100" err="1">
                <a:solidFill>
                  <a:schemeClr val="bg1"/>
                </a:solidFill>
                <a:latin typeface="Segoe"/>
              </a:rPr>
              <a:t>Kiểm</a:t>
            </a:r>
            <a:r>
              <a:rPr lang="en-US" sz="1100">
                <a:solidFill>
                  <a:schemeClr val="bg1"/>
                </a:solidFill>
                <a:latin typeface="Segoe"/>
              </a:rPr>
              <a:t> </a:t>
            </a:r>
            <a:r>
              <a:rPr lang="en-US" sz="1100" err="1">
                <a:solidFill>
                  <a:schemeClr val="bg1"/>
                </a:solidFill>
                <a:latin typeface="Segoe"/>
              </a:rPr>
              <a:t>thử</a:t>
            </a:r>
            <a:r>
              <a:rPr lang="en-US" sz="1100">
                <a:solidFill>
                  <a:schemeClr val="bg1"/>
                </a:solidFill>
                <a:latin typeface="Segoe"/>
              </a:rPr>
              <a:t> validation, </a:t>
            </a:r>
            <a:r>
              <a:rPr lang="en-US" sz="1100" err="1">
                <a:solidFill>
                  <a:schemeClr val="bg1"/>
                </a:solidFill>
                <a:latin typeface="Segoe"/>
              </a:rPr>
              <a:t>chống</a:t>
            </a:r>
            <a:r>
              <a:rPr lang="en-US" sz="1100">
                <a:solidFill>
                  <a:schemeClr val="bg1"/>
                </a:solidFill>
                <a:latin typeface="Segoe"/>
              </a:rPr>
              <a:t> </a:t>
            </a:r>
            <a:r>
              <a:rPr lang="en-US" sz="1100" err="1">
                <a:solidFill>
                  <a:schemeClr val="bg1"/>
                </a:solidFill>
                <a:latin typeface="Segoe"/>
              </a:rPr>
              <a:t>đặt</a:t>
            </a:r>
            <a:r>
              <a:rPr lang="en-US" sz="1100">
                <a:solidFill>
                  <a:schemeClr val="bg1"/>
                </a:solidFill>
                <a:latin typeface="Segoe"/>
              </a:rPr>
              <a:t> </a:t>
            </a:r>
            <a:r>
              <a:rPr lang="en-US" sz="1100" err="1">
                <a:solidFill>
                  <a:schemeClr val="bg1"/>
                </a:solidFill>
                <a:latin typeface="Segoe"/>
              </a:rPr>
              <a:t>trùng</a:t>
            </a:r>
            <a:r>
              <a:rPr lang="en-US" sz="1100">
                <a:solidFill>
                  <a:schemeClr val="bg1"/>
                </a:solidFill>
                <a:latin typeface="Segoe"/>
              </a:rPr>
              <a:t>, </a:t>
            </a:r>
            <a:r>
              <a:rPr lang="en-US" sz="1100" err="1">
                <a:solidFill>
                  <a:schemeClr val="bg1"/>
                </a:solidFill>
                <a:latin typeface="Segoe"/>
              </a:rPr>
              <a:t>trạng</a:t>
            </a:r>
            <a:r>
              <a:rPr lang="en-US" sz="1100">
                <a:solidFill>
                  <a:schemeClr val="bg1"/>
                </a:solidFill>
                <a:latin typeface="Segoe"/>
              </a:rPr>
              <a:t> </a:t>
            </a:r>
            <a:r>
              <a:rPr lang="en-US" sz="1100" err="1">
                <a:solidFill>
                  <a:schemeClr val="bg1"/>
                </a:solidFill>
                <a:latin typeface="Segoe"/>
              </a:rPr>
              <a:t>thái</a:t>
            </a:r>
            <a:r>
              <a:rPr lang="en-US" sz="1100">
                <a:solidFill>
                  <a:schemeClr val="bg1"/>
                </a:solidFill>
                <a:latin typeface="Segoe"/>
              </a:rPr>
              <a:t> booking </a:t>
            </a:r>
            <a:r>
              <a:rPr lang="en-US" sz="1100" err="1">
                <a:solidFill>
                  <a:schemeClr val="bg1"/>
                </a:solidFill>
                <a:latin typeface="Segoe"/>
              </a:rPr>
              <a:t>và</a:t>
            </a:r>
            <a:r>
              <a:rPr lang="en-US" sz="1100">
                <a:solidFill>
                  <a:schemeClr val="bg1"/>
                </a:solidFill>
                <a:latin typeface="Segoe"/>
              </a:rPr>
              <a:t> </a:t>
            </a:r>
            <a:r>
              <a:rPr lang="en-US" sz="1100" err="1">
                <a:solidFill>
                  <a:schemeClr val="bg1"/>
                </a:solidFill>
                <a:latin typeface="Segoe"/>
              </a:rPr>
              <a:t>dịch</a:t>
            </a:r>
            <a:r>
              <a:rPr lang="en-US" sz="1100">
                <a:solidFill>
                  <a:schemeClr val="bg1"/>
                </a:solidFill>
                <a:latin typeface="Segoe"/>
              </a:rPr>
              <a:t> </a:t>
            </a:r>
            <a:r>
              <a:rPr lang="en-US" sz="1100" err="1">
                <a:solidFill>
                  <a:schemeClr val="bg1"/>
                </a:solidFill>
                <a:latin typeface="Segoe"/>
              </a:rPr>
              <a:t>vụ</a:t>
            </a:r>
            <a:r>
              <a:rPr lang="en-US" sz="1100">
                <a:solidFill>
                  <a:schemeClr val="bg1"/>
                </a:solidFill>
                <a:latin typeface="Segoe"/>
              </a:rPr>
              <a:t> </a:t>
            </a:r>
            <a:r>
              <a:rPr lang="en-US" sz="1100" err="1">
                <a:solidFill>
                  <a:schemeClr val="bg1"/>
                </a:solidFill>
                <a:latin typeface="Segoe"/>
              </a:rPr>
              <a:t>đi</a:t>
            </a:r>
            <a:r>
              <a:rPr lang="en-US" sz="1100">
                <a:solidFill>
                  <a:schemeClr val="bg1"/>
                </a:solidFill>
                <a:latin typeface="Segoe"/>
              </a:rPr>
              <a:t> </a:t>
            </a:r>
            <a:r>
              <a:rPr lang="en-US" sz="1100" err="1">
                <a:solidFill>
                  <a:schemeClr val="bg1"/>
                </a:solidFill>
                <a:latin typeface="Segoe"/>
              </a:rPr>
              <a:t>kèm</a:t>
            </a:r>
            <a:r>
              <a:rPr lang="en-US" sz="1100">
                <a:solidFill>
                  <a:schemeClr val="bg1"/>
                </a:solidFill>
                <a:latin typeface="Segoe"/>
              </a:rPr>
              <a:t>.</a:t>
            </a:r>
          </a:p>
          <a:p>
            <a:pPr marL="171450" indent="-171450">
              <a:buFont typeface="Arial" panose="020B0604020202020204" pitchFamily="34" charset="0"/>
              <a:buChar char="•"/>
            </a:pPr>
            <a:r>
              <a:rPr lang="en-US" sz="1100" err="1">
                <a:solidFill>
                  <a:schemeClr val="bg1"/>
                </a:solidFill>
                <a:latin typeface="Segoe"/>
              </a:rPr>
              <a:t>Thực</a:t>
            </a:r>
            <a:r>
              <a:rPr lang="en-US" sz="1100">
                <a:solidFill>
                  <a:schemeClr val="bg1"/>
                </a:solidFill>
                <a:latin typeface="Segoe"/>
              </a:rPr>
              <a:t> </a:t>
            </a:r>
            <a:r>
              <a:rPr lang="en-US" sz="1100" err="1">
                <a:solidFill>
                  <a:schemeClr val="bg1"/>
                </a:solidFill>
                <a:latin typeface="Segoe"/>
              </a:rPr>
              <a:t>hiện</a:t>
            </a:r>
            <a:r>
              <a:rPr lang="en-US" sz="1100">
                <a:solidFill>
                  <a:schemeClr val="bg1"/>
                </a:solidFill>
                <a:latin typeface="Segoe"/>
              </a:rPr>
              <a:t> regression test </a:t>
            </a:r>
            <a:r>
              <a:rPr lang="en-US" sz="1100" err="1">
                <a:solidFill>
                  <a:schemeClr val="bg1"/>
                </a:solidFill>
                <a:latin typeface="Segoe"/>
              </a:rPr>
              <a:t>sau</a:t>
            </a:r>
            <a:r>
              <a:rPr lang="en-US" sz="1100">
                <a:solidFill>
                  <a:schemeClr val="bg1"/>
                </a:solidFill>
                <a:latin typeface="Segoe"/>
              </a:rPr>
              <a:t> </a:t>
            </a:r>
            <a:r>
              <a:rPr lang="en-US" sz="1100" err="1">
                <a:solidFill>
                  <a:schemeClr val="bg1"/>
                </a:solidFill>
                <a:latin typeface="Segoe"/>
              </a:rPr>
              <a:t>khi</a:t>
            </a:r>
            <a:r>
              <a:rPr lang="en-US" sz="1100">
                <a:solidFill>
                  <a:schemeClr val="bg1"/>
                </a:solidFill>
                <a:latin typeface="Segoe"/>
              </a:rPr>
              <a:t> </a:t>
            </a:r>
            <a:r>
              <a:rPr lang="en-US" sz="1100" err="1">
                <a:solidFill>
                  <a:schemeClr val="bg1"/>
                </a:solidFill>
                <a:latin typeface="Segoe"/>
              </a:rPr>
              <a:t>hoàn</a:t>
            </a:r>
            <a:r>
              <a:rPr lang="en-US" sz="1100">
                <a:solidFill>
                  <a:schemeClr val="bg1"/>
                </a:solidFill>
                <a:latin typeface="Segoe"/>
              </a:rPr>
              <a:t> </a:t>
            </a:r>
            <a:r>
              <a:rPr lang="en-US" sz="1100" err="1">
                <a:solidFill>
                  <a:schemeClr val="bg1"/>
                </a:solidFill>
                <a:latin typeface="Segoe"/>
              </a:rPr>
              <a:t>thiện</a:t>
            </a:r>
            <a:r>
              <a:rPr lang="en-US" sz="1100">
                <a:solidFill>
                  <a:schemeClr val="bg1"/>
                </a:solidFill>
                <a:latin typeface="Segoe"/>
              </a:rPr>
              <a:t> </a:t>
            </a:r>
            <a:r>
              <a:rPr lang="en-US" sz="1100" err="1">
                <a:solidFill>
                  <a:schemeClr val="bg1"/>
                </a:solidFill>
                <a:latin typeface="Segoe"/>
              </a:rPr>
              <a:t>chức</a:t>
            </a:r>
            <a:r>
              <a:rPr lang="en-US" sz="1100">
                <a:solidFill>
                  <a:schemeClr val="bg1"/>
                </a:solidFill>
                <a:latin typeface="Segoe"/>
              </a:rPr>
              <a:t> </a:t>
            </a:r>
            <a:r>
              <a:rPr lang="en-US" sz="1100" err="1">
                <a:solidFill>
                  <a:schemeClr val="bg1"/>
                </a:solidFill>
                <a:latin typeface="Segoe"/>
              </a:rPr>
              <a:t>năng</a:t>
            </a:r>
            <a:r>
              <a:rPr lang="en-US" sz="1100">
                <a:solidFill>
                  <a:schemeClr val="bg1"/>
                </a:solidFill>
                <a:latin typeface="Segoe"/>
              </a:rPr>
              <a:t>.</a:t>
            </a:r>
          </a:p>
          <a:p>
            <a:pPr marL="171450" indent="-171450">
              <a:buFont typeface="Arial" panose="020B0604020202020204" pitchFamily="34" charset="0"/>
              <a:buChar char="•"/>
            </a:pPr>
            <a:r>
              <a:rPr lang="en-US" sz="1100" err="1">
                <a:solidFill>
                  <a:schemeClr val="bg1"/>
                </a:solidFill>
                <a:latin typeface="Segoe"/>
              </a:rPr>
              <a:t>Các</a:t>
            </a:r>
            <a:r>
              <a:rPr lang="en-US" sz="1100">
                <a:solidFill>
                  <a:schemeClr val="bg1"/>
                </a:solidFill>
                <a:latin typeface="Segoe"/>
              </a:rPr>
              <a:t> </a:t>
            </a:r>
            <a:r>
              <a:rPr lang="en-US" sz="1100" err="1">
                <a:solidFill>
                  <a:schemeClr val="bg1"/>
                </a:solidFill>
                <a:latin typeface="Segoe"/>
              </a:rPr>
              <a:t>chức</a:t>
            </a:r>
            <a:r>
              <a:rPr lang="en-US" sz="1100">
                <a:solidFill>
                  <a:schemeClr val="bg1"/>
                </a:solidFill>
                <a:latin typeface="Segoe"/>
              </a:rPr>
              <a:t> </a:t>
            </a:r>
            <a:r>
              <a:rPr lang="en-US" sz="1100" err="1">
                <a:solidFill>
                  <a:schemeClr val="bg1"/>
                </a:solidFill>
                <a:latin typeface="Segoe"/>
              </a:rPr>
              <a:t>năng</a:t>
            </a:r>
            <a:r>
              <a:rPr lang="en-US" sz="1100">
                <a:solidFill>
                  <a:schemeClr val="bg1"/>
                </a:solidFill>
                <a:latin typeface="Segoe"/>
              </a:rPr>
              <a:t> </a:t>
            </a:r>
            <a:r>
              <a:rPr lang="en-US" sz="1100" err="1">
                <a:solidFill>
                  <a:schemeClr val="bg1"/>
                </a:solidFill>
                <a:latin typeface="Segoe"/>
              </a:rPr>
              <a:t>chính</a:t>
            </a:r>
            <a:r>
              <a:rPr lang="en-US" sz="1100">
                <a:solidFill>
                  <a:schemeClr val="bg1"/>
                </a:solidFill>
                <a:latin typeface="Segoe"/>
              </a:rPr>
              <a:t> </a:t>
            </a:r>
            <a:r>
              <a:rPr lang="en-US" sz="1100" err="1">
                <a:solidFill>
                  <a:schemeClr val="bg1"/>
                </a:solidFill>
                <a:latin typeface="Segoe"/>
              </a:rPr>
              <a:t>đạt</a:t>
            </a:r>
            <a:r>
              <a:rPr lang="en-US" sz="1100">
                <a:solidFill>
                  <a:schemeClr val="bg1"/>
                </a:solidFill>
                <a:latin typeface="Segoe"/>
              </a:rPr>
              <a:t> </a:t>
            </a:r>
            <a:r>
              <a:rPr lang="en-US" sz="1100" err="1">
                <a:solidFill>
                  <a:schemeClr val="bg1"/>
                </a:solidFill>
                <a:latin typeface="Segoe"/>
              </a:rPr>
              <a:t>kết</a:t>
            </a:r>
            <a:r>
              <a:rPr lang="en-US" sz="1100">
                <a:solidFill>
                  <a:schemeClr val="bg1"/>
                </a:solidFill>
                <a:latin typeface="Segoe"/>
              </a:rPr>
              <a:t> </a:t>
            </a:r>
            <a:r>
              <a:rPr lang="en-US" sz="1100" err="1">
                <a:solidFill>
                  <a:schemeClr val="bg1"/>
                </a:solidFill>
                <a:latin typeface="Segoe"/>
              </a:rPr>
              <a:t>quả</a:t>
            </a:r>
            <a:r>
              <a:rPr lang="en-US" sz="1100">
                <a:solidFill>
                  <a:schemeClr val="bg1"/>
                </a:solidFill>
                <a:latin typeface="Segoe"/>
              </a:rPr>
              <a:t> </a:t>
            </a:r>
            <a:r>
              <a:rPr lang="en-US" sz="1100" err="1">
                <a:solidFill>
                  <a:schemeClr val="bg1"/>
                </a:solidFill>
                <a:latin typeface="Segoe"/>
              </a:rPr>
              <a:t>mong</a:t>
            </a:r>
            <a:r>
              <a:rPr lang="en-US" sz="1100">
                <a:solidFill>
                  <a:schemeClr val="bg1"/>
                </a:solidFill>
                <a:latin typeface="Segoe"/>
              </a:rPr>
              <a:t> </a:t>
            </a:r>
            <a:r>
              <a:rPr lang="en-US" sz="1100" err="1">
                <a:solidFill>
                  <a:schemeClr val="bg1"/>
                </a:solidFill>
                <a:latin typeface="Segoe"/>
              </a:rPr>
              <a:t>đợi</a:t>
            </a:r>
            <a:r>
              <a:rPr lang="en-US" sz="1100">
                <a:solidFill>
                  <a:schemeClr val="bg1"/>
                </a:solidFill>
                <a:latin typeface="Segoe"/>
              </a:rPr>
              <a:t>.</a:t>
            </a:r>
          </a:p>
          <a:p>
            <a:pPr>
              <a:spcBef>
                <a:spcPts val="0"/>
              </a:spcBef>
              <a:spcAft>
                <a:spcPts val="0"/>
              </a:spcAft>
            </a:pPr>
            <a:endParaRPr sz="700" b="0">
              <a:solidFill>
                <a:srgbClr val="FFFFFF"/>
              </a:solidFill>
              <a:latin typeface="Arial"/>
            </a:endParaRPr>
          </a:p>
        </p:txBody>
      </p:sp>
      <p:sp>
        <p:nvSpPr>
          <p:cNvPr id="8" name="Text 6"/>
          <p:cNvSpPr/>
          <p:nvPr/>
        </p:nvSpPr>
        <p:spPr>
          <a:xfrm>
            <a:off x="1097280" y="3886200"/>
            <a:ext cx="9966960" cy="1097280"/>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endParaRPr sz="700" b="0">
              <a:solidFill>
                <a:srgbClr val="FFFFFF"/>
              </a:solidFill>
              <a:latin typeface="Arial"/>
            </a:endParaRPr>
          </a:p>
        </p:txBody>
      </p:sp>
      <p:sp>
        <p:nvSpPr>
          <p:cNvPr id="9" name="Text 7"/>
          <p:cNvSpPr/>
          <p:nvPr/>
        </p:nvSpPr>
        <p:spPr>
          <a:xfrm>
            <a:off x="1005840" y="5440680"/>
            <a:ext cx="10149840" cy="411480"/>
          </a:xfrm>
          <a:prstGeom prst="rect">
            <a:avLst/>
          </a:prstGeom>
          <a:noFill/>
          <a:ln/>
        </p:spPr>
        <p:txBody>
          <a:bodyPr wrap="square" lIns="0" tIns="0" rIns="0" bIns="0" rtlCol="0" anchor="ctr"/>
          <a:lstStyle/>
          <a:p>
            <a:pPr marL="0" indent="0" algn="ctr">
              <a:buNone/>
            </a:pPr>
            <a:r>
              <a:rPr lang="en-US" sz="2300" b="1">
                <a:solidFill>
                  <a:srgbClr val="FFFFFF"/>
                </a:solidFill>
              </a:rPr>
              <a:t>CẢM ƠN THẦY VÀ CÁC BẠN ĐÃ LẮNG NGHE!</a:t>
            </a:r>
            <a:endParaRPr lang="en-US" sz="2300"/>
          </a:p>
        </p:txBody>
      </p:sp>
      <p:sp>
        <p:nvSpPr>
          <p:cNvPr id="10" name="Text 8"/>
          <p:cNvSpPr/>
          <p:nvPr/>
        </p:nvSpPr>
        <p:spPr>
          <a:xfrm>
            <a:off x="3337560" y="5989320"/>
            <a:ext cx="5486400" cy="292608"/>
          </a:xfrm>
          <a:prstGeom prst="roundRect">
            <a:avLst/>
          </a:prstGeom>
          <a:solidFill>
            <a:srgbClr val="08C391"/>
          </a:solidFill>
          <a:ln>
            <a:solidFill>
              <a:srgbClr val="08C391">
                <a:alpha val="90000"/>
              </a:srgbClr>
            </a:solidFill>
          </a:ln>
        </p:spPr>
        <p:txBody>
          <a:bodyPr wrap="square" lIns="254" tIns="254" rIns="254" bIns="254" rtlCol="0" anchor="ctr">
            <a:normAutofit/>
          </a:bodyPr>
          <a:lstStyle/>
          <a:p>
            <a:pPr marL="0" indent="0" algn="ctr">
              <a:buNone/>
            </a:pPr>
            <a:r>
              <a:rPr lang="en-US" sz="850" b="1">
                <a:solidFill>
                  <a:srgbClr val="062033"/>
                </a:solidFill>
              </a:rPr>
              <a:t>Elite Sport – Hệ thống đặt sân thể thao trên nền tảng Python</a:t>
            </a:r>
            <a:endParaRPr lang="en-US" sz="850"/>
          </a:p>
        </p:txBody>
      </p:sp>
      <p:pic>
        <p:nvPicPr>
          <p:cNvPr id="11" name="Picture 10" descr="uit_symbol_only.png"/>
          <p:cNvPicPr>
            <a:picLocks noChangeAspect="1"/>
          </p:cNvPicPr>
          <p:nvPr/>
        </p:nvPicPr>
        <p:blipFill>
          <a:blip r:embed="rId3"/>
          <a:stretch>
            <a:fillRect/>
          </a:stretch>
        </p:blipFill>
        <p:spPr>
          <a:xfrm>
            <a:off x="100584" y="91440"/>
            <a:ext cx="420261" cy="310896"/>
          </a:xfrm>
          <a:prstGeom prst="rect">
            <a:avLst/>
          </a:prstGeom>
        </p:spPr>
      </p:pic>
      <p:pic>
        <p:nvPicPr>
          <p:cNvPr id="12" name="Picture 11" descr="image.png"/>
          <p:cNvPicPr>
            <a:picLocks noChangeAspect="1"/>
          </p:cNvPicPr>
          <p:nvPr/>
        </p:nvPicPr>
        <p:blipFill>
          <a:blip r:embed="rId4"/>
          <a:stretch>
            <a:fillRect/>
          </a:stretch>
        </p:blipFill>
        <p:spPr>
          <a:xfrm>
            <a:off x="10195560" y="91440"/>
            <a:ext cx="1783080" cy="594360"/>
          </a:xfrm>
          <a:prstGeom prst="rect">
            <a:avLst/>
          </a:prstGeom>
        </p:spPr>
      </p:pic>
      <p:sp>
        <p:nvSpPr>
          <p:cNvPr id="14" name="TextBox 13">
            <a:extLst>
              <a:ext uri="{FF2B5EF4-FFF2-40B4-BE49-F238E27FC236}">
                <a16:creationId xmlns:a16="http://schemas.microsoft.com/office/drawing/2014/main" id="{0BD68FEB-5774-41A4-BBB1-36C26378A54A}"/>
              </a:ext>
            </a:extLst>
          </p:cNvPr>
          <p:cNvSpPr txBox="1"/>
          <p:nvPr/>
        </p:nvSpPr>
        <p:spPr>
          <a:xfrm>
            <a:off x="5294780" y="3949397"/>
            <a:ext cx="1602441" cy="261610"/>
          </a:xfrm>
          <a:prstGeom prst="rect">
            <a:avLst/>
          </a:prstGeom>
          <a:noFill/>
        </p:spPr>
        <p:txBody>
          <a:bodyPr wrap="square" rtlCol="0">
            <a:spAutoFit/>
          </a:bodyPr>
          <a:lstStyle/>
          <a:p>
            <a:pPr algn="ctr"/>
            <a:r>
              <a:rPr lang="en-US" sz="1100" b="1" err="1">
                <a:solidFill>
                  <a:srgbClr val="00F5C6"/>
                </a:solidFill>
                <a:latin typeface="Segoe"/>
              </a:rPr>
              <a:t>Danh</a:t>
            </a:r>
            <a:r>
              <a:rPr lang="en-US" sz="1100" b="1">
                <a:solidFill>
                  <a:srgbClr val="00F5C6"/>
                </a:solidFill>
                <a:latin typeface="Segoe"/>
              </a:rPr>
              <a:t> </a:t>
            </a:r>
            <a:r>
              <a:rPr lang="en-US" sz="1100" b="1" err="1">
                <a:solidFill>
                  <a:srgbClr val="00F5C6"/>
                </a:solidFill>
                <a:latin typeface="Segoe"/>
              </a:rPr>
              <a:t>sách</a:t>
            </a:r>
            <a:r>
              <a:rPr lang="en-US" sz="1100" b="1">
                <a:solidFill>
                  <a:srgbClr val="00F5C6"/>
                </a:solidFill>
                <a:latin typeface="Segoe"/>
              </a:rPr>
              <a:t> </a:t>
            </a:r>
            <a:r>
              <a:rPr lang="en-US" sz="1100" b="1" err="1">
                <a:solidFill>
                  <a:srgbClr val="00F5C6"/>
                </a:solidFill>
                <a:latin typeface="Segoe"/>
              </a:rPr>
              <a:t>thành</a:t>
            </a:r>
            <a:r>
              <a:rPr lang="en-US" sz="1100" b="1">
                <a:solidFill>
                  <a:srgbClr val="00F5C6"/>
                </a:solidFill>
                <a:latin typeface="Segoe"/>
              </a:rPr>
              <a:t> </a:t>
            </a:r>
            <a:r>
              <a:rPr lang="en-US" sz="1100" b="1" err="1">
                <a:solidFill>
                  <a:srgbClr val="00F5C6"/>
                </a:solidFill>
                <a:latin typeface="Segoe"/>
              </a:rPr>
              <a:t>viên</a:t>
            </a:r>
            <a:endParaRPr lang="en-US" sz="1100" b="1">
              <a:solidFill>
                <a:srgbClr val="00F5C6"/>
              </a:solidFill>
              <a:latin typeface="Segoe"/>
            </a:endParaRPr>
          </a:p>
        </p:txBody>
      </p:sp>
      <p:sp>
        <p:nvSpPr>
          <p:cNvPr id="15" name="TextBox 14">
            <a:extLst>
              <a:ext uri="{FF2B5EF4-FFF2-40B4-BE49-F238E27FC236}">
                <a16:creationId xmlns:a16="http://schemas.microsoft.com/office/drawing/2014/main" id="{869417C3-B5EB-4A66-BBE8-4295046D3986}"/>
              </a:ext>
            </a:extLst>
          </p:cNvPr>
          <p:cNvSpPr txBox="1"/>
          <p:nvPr/>
        </p:nvSpPr>
        <p:spPr>
          <a:xfrm>
            <a:off x="2723029" y="4211007"/>
            <a:ext cx="2185147" cy="600164"/>
          </a:xfrm>
          <a:prstGeom prst="rect">
            <a:avLst/>
          </a:prstGeom>
          <a:noFill/>
        </p:spPr>
        <p:txBody>
          <a:bodyPr wrap="square" rtlCol="0">
            <a:spAutoFit/>
          </a:bodyPr>
          <a:lstStyle/>
          <a:p>
            <a:pPr algn="just"/>
            <a:r>
              <a:rPr lang="en-US" sz="1100">
                <a:solidFill>
                  <a:schemeClr val="bg1"/>
                </a:solidFill>
                <a:latin typeface="Segoe"/>
              </a:rPr>
              <a:t>25410189 – </a:t>
            </a:r>
            <a:r>
              <a:rPr lang="en-US" sz="1100" err="1">
                <a:solidFill>
                  <a:schemeClr val="bg1"/>
                </a:solidFill>
                <a:latin typeface="Segoe"/>
              </a:rPr>
              <a:t>Lý</a:t>
            </a:r>
            <a:r>
              <a:rPr lang="en-US" sz="1100">
                <a:solidFill>
                  <a:schemeClr val="bg1"/>
                </a:solidFill>
                <a:latin typeface="Segoe"/>
              </a:rPr>
              <a:t> </a:t>
            </a:r>
            <a:r>
              <a:rPr lang="en-US" sz="1100" err="1">
                <a:solidFill>
                  <a:schemeClr val="bg1"/>
                </a:solidFill>
                <a:latin typeface="Segoe"/>
              </a:rPr>
              <a:t>Kiến</a:t>
            </a:r>
            <a:r>
              <a:rPr lang="en-US" sz="1100">
                <a:solidFill>
                  <a:schemeClr val="bg1"/>
                </a:solidFill>
                <a:latin typeface="Segoe"/>
              </a:rPr>
              <a:t> </a:t>
            </a:r>
            <a:r>
              <a:rPr lang="en-US" sz="1100" err="1">
                <a:solidFill>
                  <a:schemeClr val="bg1"/>
                </a:solidFill>
                <a:latin typeface="Segoe"/>
              </a:rPr>
              <a:t>Đức</a:t>
            </a:r>
            <a:endParaRPr lang="en-US" sz="1100">
              <a:solidFill>
                <a:schemeClr val="bg1"/>
              </a:solidFill>
              <a:latin typeface="Segoe"/>
            </a:endParaRPr>
          </a:p>
          <a:p>
            <a:pPr algn="just"/>
            <a:r>
              <a:rPr lang="en-US" sz="1100">
                <a:solidFill>
                  <a:schemeClr val="bg1"/>
                </a:solidFill>
                <a:latin typeface="Segoe"/>
              </a:rPr>
              <a:t>25410185 – </a:t>
            </a:r>
            <a:r>
              <a:rPr lang="en-US" sz="1100" err="1">
                <a:solidFill>
                  <a:schemeClr val="bg1"/>
                </a:solidFill>
                <a:latin typeface="Segoe"/>
              </a:rPr>
              <a:t>Nguyễn</a:t>
            </a:r>
            <a:r>
              <a:rPr lang="en-US" sz="1100">
                <a:solidFill>
                  <a:schemeClr val="bg1"/>
                </a:solidFill>
                <a:latin typeface="Segoe"/>
              </a:rPr>
              <a:t> </a:t>
            </a:r>
            <a:r>
              <a:rPr lang="en-US" sz="1100" err="1">
                <a:solidFill>
                  <a:schemeClr val="bg1"/>
                </a:solidFill>
                <a:latin typeface="Segoe"/>
              </a:rPr>
              <a:t>Phong</a:t>
            </a:r>
            <a:r>
              <a:rPr lang="en-US" sz="1100">
                <a:solidFill>
                  <a:schemeClr val="bg1"/>
                </a:solidFill>
                <a:latin typeface="Segoe"/>
              </a:rPr>
              <a:t> </a:t>
            </a:r>
            <a:r>
              <a:rPr lang="en-US" sz="1100" err="1">
                <a:solidFill>
                  <a:schemeClr val="bg1"/>
                </a:solidFill>
                <a:latin typeface="Segoe"/>
              </a:rPr>
              <a:t>Đạt</a:t>
            </a:r>
            <a:endParaRPr lang="en-US" sz="1100">
              <a:solidFill>
                <a:schemeClr val="bg1"/>
              </a:solidFill>
              <a:latin typeface="Segoe"/>
            </a:endParaRPr>
          </a:p>
          <a:p>
            <a:pPr algn="just"/>
            <a:r>
              <a:rPr lang="en-US" sz="1100">
                <a:solidFill>
                  <a:schemeClr val="bg1"/>
                </a:solidFill>
                <a:latin typeface="Segoe"/>
              </a:rPr>
              <a:t>25410186 – </a:t>
            </a:r>
            <a:r>
              <a:rPr lang="en-US" sz="1100" err="1">
                <a:solidFill>
                  <a:schemeClr val="bg1"/>
                </a:solidFill>
                <a:latin typeface="Segoe"/>
              </a:rPr>
              <a:t>Nguyễn</a:t>
            </a:r>
            <a:r>
              <a:rPr lang="en-US" sz="1100">
                <a:solidFill>
                  <a:schemeClr val="bg1"/>
                </a:solidFill>
                <a:latin typeface="Segoe"/>
              </a:rPr>
              <a:t> </a:t>
            </a:r>
            <a:r>
              <a:rPr lang="en-US" sz="1100" err="1">
                <a:solidFill>
                  <a:schemeClr val="bg1"/>
                </a:solidFill>
                <a:latin typeface="Segoe"/>
              </a:rPr>
              <a:t>Tấn</a:t>
            </a:r>
            <a:r>
              <a:rPr lang="en-US" sz="1100">
                <a:solidFill>
                  <a:schemeClr val="bg1"/>
                </a:solidFill>
                <a:latin typeface="Segoe"/>
              </a:rPr>
              <a:t> </a:t>
            </a:r>
            <a:r>
              <a:rPr lang="en-US" sz="1100" err="1">
                <a:solidFill>
                  <a:schemeClr val="bg1"/>
                </a:solidFill>
                <a:latin typeface="Segoe"/>
              </a:rPr>
              <a:t>Đạt</a:t>
            </a:r>
            <a:endParaRPr lang="en-US" sz="1100">
              <a:solidFill>
                <a:schemeClr val="bg1"/>
              </a:solidFill>
              <a:latin typeface="Segoe"/>
            </a:endParaRPr>
          </a:p>
        </p:txBody>
      </p:sp>
      <p:sp>
        <p:nvSpPr>
          <p:cNvPr id="16" name="TextBox 15">
            <a:extLst>
              <a:ext uri="{FF2B5EF4-FFF2-40B4-BE49-F238E27FC236}">
                <a16:creationId xmlns:a16="http://schemas.microsoft.com/office/drawing/2014/main" id="{5690D19C-36C7-45CB-BBB8-5718F39AB13A}"/>
              </a:ext>
            </a:extLst>
          </p:cNvPr>
          <p:cNvSpPr txBox="1"/>
          <p:nvPr/>
        </p:nvSpPr>
        <p:spPr>
          <a:xfrm>
            <a:off x="7631206" y="4209133"/>
            <a:ext cx="2121722" cy="430887"/>
          </a:xfrm>
          <a:prstGeom prst="rect">
            <a:avLst/>
          </a:prstGeom>
          <a:noFill/>
        </p:spPr>
        <p:txBody>
          <a:bodyPr wrap="square" rtlCol="0">
            <a:spAutoFit/>
          </a:bodyPr>
          <a:lstStyle/>
          <a:p>
            <a:pPr algn="just"/>
            <a:r>
              <a:rPr lang="en-US" sz="1100">
                <a:solidFill>
                  <a:schemeClr val="bg1"/>
                </a:solidFill>
                <a:latin typeface="Segoe"/>
              </a:rPr>
              <a:t>25410172 – </a:t>
            </a:r>
            <a:r>
              <a:rPr lang="en-US" sz="1100" err="1">
                <a:solidFill>
                  <a:schemeClr val="bg1"/>
                </a:solidFill>
                <a:latin typeface="Segoe"/>
              </a:rPr>
              <a:t>Nguyễn</a:t>
            </a:r>
            <a:r>
              <a:rPr lang="en-US" sz="1100">
                <a:solidFill>
                  <a:schemeClr val="bg1"/>
                </a:solidFill>
                <a:latin typeface="Segoe"/>
              </a:rPr>
              <a:t> </a:t>
            </a:r>
            <a:r>
              <a:rPr lang="en-US" sz="1100" err="1">
                <a:solidFill>
                  <a:schemeClr val="bg1"/>
                </a:solidFill>
                <a:latin typeface="Segoe"/>
              </a:rPr>
              <a:t>Hồng</a:t>
            </a:r>
            <a:r>
              <a:rPr lang="en-US" sz="1100">
                <a:solidFill>
                  <a:schemeClr val="bg1"/>
                </a:solidFill>
                <a:latin typeface="Segoe"/>
              </a:rPr>
              <a:t> Anh</a:t>
            </a:r>
          </a:p>
          <a:p>
            <a:pPr algn="just"/>
            <a:r>
              <a:rPr lang="en-US" sz="1100">
                <a:solidFill>
                  <a:schemeClr val="bg1"/>
                </a:solidFill>
                <a:latin typeface="Segoe"/>
              </a:rPr>
              <a:t>24410360 – </a:t>
            </a:r>
            <a:r>
              <a:rPr lang="en-US" sz="1100" err="1">
                <a:solidFill>
                  <a:schemeClr val="bg1"/>
                </a:solidFill>
                <a:latin typeface="Segoe"/>
              </a:rPr>
              <a:t>Trần</a:t>
            </a:r>
            <a:r>
              <a:rPr lang="en-US" sz="1100">
                <a:solidFill>
                  <a:schemeClr val="bg1"/>
                </a:solidFill>
                <a:latin typeface="Segoe"/>
              </a:rPr>
              <a:t> </a:t>
            </a:r>
            <a:r>
              <a:rPr lang="en-US" sz="1100" err="1">
                <a:solidFill>
                  <a:schemeClr val="bg1"/>
                </a:solidFill>
                <a:latin typeface="Segoe"/>
              </a:rPr>
              <a:t>Quỳnh</a:t>
            </a:r>
            <a:r>
              <a:rPr lang="en-US" sz="1100">
                <a:solidFill>
                  <a:schemeClr val="bg1"/>
                </a:solidFill>
                <a:latin typeface="Segoe"/>
              </a:rPr>
              <a:t> </a:t>
            </a:r>
            <a:r>
              <a:rPr lang="en-US" sz="1100" err="1">
                <a:solidFill>
                  <a:schemeClr val="bg1"/>
                </a:solidFill>
                <a:latin typeface="Segoe"/>
              </a:rPr>
              <a:t>Tiền</a:t>
            </a:r>
            <a:endParaRPr lang="en-US" sz="1100">
              <a:solidFill>
                <a:schemeClr val="bg1"/>
              </a:solidFill>
              <a:latin typeface="Sego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1331</TotalTime>
  <Words>2529</Words>
  <Application>Microsoft Office PowerPoint</Application>
  <PresentationFormat>Widescreen</PresentationFormat>
  <Paragraphs>166</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(Body)</vt:lpstr>
      <vt:lpstr>Arial</vt:lpstr>
      <vt:lpstr>Calibri</vt:lpstr>
      <vt:lpstr>Consolas</vt:lpstr>
      <vt:lpstr>Segoe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Elite Sport - Đồ án Python UIT</dc:title>
  <dc:subject>Hệ thống đặt sân thể thao</dc:subject>
  <dc:creator>OpenAI</dc:creator>
  <cp:lastModifiedBy>admin</cp:lastModifiedBy>
  <cp:revision>76</cp:revision>
  <dcterms:created xsi:type="dcterms:W3CDTF">2026-09-08T05:23:10Z</dcterms:created>
  <dcterms:modified xsi:type="dcterms:W3CDTF">2026-09-21T11:49:21Z</dcterms:modified>
</cp:coreProperties>
</file>
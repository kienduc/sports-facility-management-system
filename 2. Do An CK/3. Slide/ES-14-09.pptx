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5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88" d="100"/>
          <a:sy n="88" d="100"/>
        </p:scale>
        <p:origin x="108" y="5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5485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“Em xin chào thầy và các bạn. Nhóm 13 xin trình bày đồ án môn Kỹ thuật lập trình Python với đề tài </a:t>
            </a:r>
            <a:r>
              <a:rPr lang="vi-VN" b="1"/>
              <a:t>Hệ thống quản lý đặt sân thể thao Elite Sport</a:t>
            </a:r>
            <a:r>
              <a:rPr lang="vi-VN"/>
              <a:t>. Hệ thống của nhóm gồm bốn thành phần chính là Web Client dành cho khách hàng, Web Admin dành cho quản trị viên, Backend API và AI Assistant hỗ trợ tư vấn cũng như đặt sân. Sau đây nhóm xin trình bày tổng quan về hệ thống, kiến trúc, công nghệ và các chức năng chính.”</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“Xuất phát từ nhu cầu thực tế, khách hàng cần xem nhanh sân còn trống, chọn giờ, chọn dịch vụ và thực hiện đặt sân thuận tiện. Phía quản trị cần quản lý lịch sân, xử lý đơn và hạn chế tình trạng đặt trùng. Vì vậy nhóm xây dựng Elite Sport thành một hệ thống hoàn chỉnh gồm Client, Admin, Backend API và AI Assistant. Phạm vi hệ thống bao gồm đặt sân thủ công hoặc qua AI, quản lý lịch, booking, sân, dịch vụ, thống kê và xác thực quản trị. Định hướng của nhóm là giao diện dễ dùng, đúng nghiệp vụ, dữ liệu đồng bộ và vận hành ổn định.”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“Hệ thống có hai nhóm người dùng chính. Thứ nhất là </a:t>
            </a:r>
            <a:r>
              <a:rPr lang="vi-VN" b="1"/>
              <a:t>khách hàng trên Web Client</a:t>
            </a:r>
            <a:r>
              <a:rPr lang="vi-VN"/>
              <a:t>, có thể xem sân và dịch vụ, chọn Bóng đá, Pickleball hoặc Cầu lông, sau đó chọn sân, ngày, giờ, dịch vụ và xác nhận đặt. Thứ hai là </a:t>
            </a:r>
            <a:r>
              <a:rPr lang="vi-VN" b="1"/>
              <a:t>quản trị viên trên Web Admin</a:t>
            </a:r>
            <a:r>
              <a:rPr lang="vi-VN"/>
              <a:t>, thực hiện đăng nhập và quản lý lịch, đơn đặt, sân, dịch vụ cũng như thống kê. Ngoài ra, AI Assistant hỗ trợ khách bằng tiếng Việt, có khả năng hỏi bổ sung thông tin, gợi ý sân hoặc giờ còn trống và tránh đặt trùng. Các yêu cầu chính của hệ thống là validation dữ liệu, khóa các giờ không hợp lệ và đồng bộ Client với Admin.”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kiến trúc, hệ thống được chia thành bốn phần. Frontend sử dụng HTML, CSS, JavaScript, kết hợp Tailwind CSS và Font Awesome. Frontend giao tiếp với Backend thông qua Fetch API. Backend được xây dựng bằng Python và FastAPI, chạy bằng Uvicorn; Pydantic hỗ trợ validation và JWT dùng để xác thực Admin. Dữ liệu được lưu trên SQLite và thao tác thông qua SQLAlchemy ORM. Riêng AI sử dụng Google Gemini API. Luồng chính là Client hoặc Admin gửi request đến FastAPI, Backend xử lý và truy cập SQLite qua ORM. Với AI, yêu cầu từ Client sẽ đi qua Backend, AI Service gọi Gemini, sau đó dữ liệu vẫn được kiểm tra qua API trước khi phản hồi hoặc tạo booking.”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thư viện Python chính gồm FastAPI để xây dựng API, Uvicorn để chạy ASGI server, SQLAlchemy làm ORM và Pydantic để kiểm tra dữ liệu. Phần bảo mật sử dụng PyJWT, Passlib và bcrypt; python-dotenv dùng để đọc biến môi trường, còn requests dùng để gọi Gemini API. Ở phía Frontend, nhóm sử dụng HTML, CSS và JavaScript thuần, kết hợp Tailwind CSS và Fetch API. Nhóm chọn stack này vì tương đối gọn, dễ cài đặt, phù hợp với môn Python và thuận tiện chạy local khi demo.”</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“Về dữ liệu, hệ thống có các bảng chính như users, courts, time_slots, services và bookings. Hai bảng trung gian quan trọng là booking_slots và booking_services. Booking_slots dùng để liên kết một booking với sân, ngày và khung giờ cụ thể. Booking_services lưu các dịch vụ đi kèm, số lượng và thành tiền. Cách tách này giúp dữ liệu rõ ràng hơn, tránh lặp và cho phép một booking có thể gắn với đúng sân, đúng khung giờ và nhiều dịch vụ khác nhau. Tổng tiền vì vậy cũng được tính và lưu chính xác.”</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“Ở phần Backend, file main.py khởi tạo FastAPI, cấu hình CORS, gắn router với prefix /api/v1 và cung cấp Swagger để kiểm thử API. Phần AI được tách riêng, cấu hình bằng GEMINI_API_KEY và gọi Gemini qua requests. Prompt được thiết kế để AI hiểu yêu cầu đặt sân bằng tiếng Việt, xác định loại sân, ngày, giờ và dịch vụ, đồng thời hỏi lại nếu người dùng cung cấp thiếu thông tin. Điểm quan trọng là AI không tự ý ghi dữ liệu trực tiếp. Sau khi người dùng xác nhận, việc tạo booking vẫn đi qua API để kiểm tra sân còn trống, chống đặt trùng và sau đó mới lưu xuống database. Vì vậy AI đóng vai trò hỗ trợ giao tiếp và ra đề xuất, còn nghiệp vụ chính vẫn do Backend kiểm soát.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luồng đặt sân phía khách hàng. Người dùng lần lượt chọn môn, sân, ngày và giờ, sau đó có thể chọn thêm một hoặc nhiều dịch vụ, nhập tên và số điện thoại hợp lệ rồi xác nhận giữ sân. Hệ thống tự khóa những giờ đã qua hoặc đã có booking, đồng thời tính tổng tiền sân và dịch vụ. Client còn có mô phỏng robot và AI Assistant để hỗ trợ đặt sân. Sau khi booking được tạo, toàn bộ thông tin gồm sân, giờ, dịch vụ và tổng tiền sẽ được đồng bộ sang Web Admin.”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“Ở phía quản trị, màn hình lịch sân được trình bày dưới dạng bảng theo sân và khung giờ với màu sắc thể hiện còn trống, đã đặt, đang chơi hoặc đã qua giờ. Quản trị viên có thể tìm kiếm và lọc booking, xem chi tiết sân, khung giờ và dịch vụ, sau đó xử lý các trạng thái như vào chơi, hoàn thành hoặc hủy. Phần quản lý sân và dịch vụ hỗ trợ thêm, sửa, validation, cấu hình giá và bật tắt trạng thái. Ngoài ra, trang thống kê nhanh cho biết tổng số sân, số đơn trong ngày, doanh thu, trạng thái đơn và top sân. Như vậy Web Admin bao quát toàn bộ quá trình vận hành.”</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“Sau quá trình thực hiện, nhóm đã hoàn thiện Web Client, Web Admin, Backend API và AI Assistant; đồng thời đồng bộ được booking, sân, dịch vụ và trạng thái giữa hai phía Client và Admin. Hệ thống hỗ trợ cả đặt sân thủ công và đặt sân qua AI. Về kiểm thử, nhóm đã kiểm thử các luồng Client, Admin, AI, validation dữ liệu, chống đặt trùng, trạng thái booking và dịch vụ đi kèm; đồng thời thực hiện regression test sau khi hoàn thiện các chức năng. Các chức năng chính hiện đạt kết quả mong đợi. Đây là năm thành viên thực hiện đồ án của nhóm 13. Phần trình bày của nhóm đến đây là hết. Nhóm em xin cảm ơn thầy và các bạn đã lắng nghe.”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sfmf_ppt_extract/ppt/media/image1.png"/>
          <p:cNvPicPr>
            <a:picLocks noChangeAspect="1"/>
          </p:cNvPicPr>
          <p:nvPr/>
        </p:nvPicPr>
        <p:blipFill>
          <a:blip r:embed="rId3"/>
          <a:srcRect l="1" r="1"/>
          <a:stretch/>
        </p:blipFill>
        <p:spPr>
          <a:xfrm>
            <a:off x="0" y="0"/>
            <a:ext cx="12191695" cy="6858000"/>
          </a:xfrm>
          <a:prstGeom prst="rect">
            <a:avLst/>
          </a:prstGeom>
        </p:spPr>
      </p:pic>
      <p:sp>
        <p:nvSpPr>
          <p:cNvPr id="3" name="Text 0"/>
          <p:cNvSpPr/>
          <p:nvPr/>
        </p:nvSpPr>
        <p:spPr>
          <a:xfrm>
            <a:off x="594360" y="1058093"/>
            <a:ext cx="3931920" cy="292608"/>
          </a:xfrm>
          <a:prstGeom prst="roundRect">
            <a:avLst/>
          </a:prstGeom>
          <a:solidFill>
            <a:srgbClr val="08C391"/>
          </a:solidFill>
          <a:ln>
            <a:solidFill>
              <a:srgbClr val="08C391">
                <a:alpha val="90000"/>
              </a:srgbClr>
            </a:solidFill>
          </a:ln>
        </p:spPr>
        <p:txBody>
          <a:bodyPr wrap="square" lIns="254" tIns="254" rIns="254" bIns="254" rtlCol="0" anchor="ctr">
            <a:normAutofit/>
          </a:bodyPr>
          <a:lstStyle/>
          <a:p>
            <a:pPr marL="0" indent="0" algn="ctr">
              <a:buNone/>
            </a:pPr>
            <a:r>
              <a:rPr lang="en-US" sz="850" b="1">
                <a:solidFill>
                  <a:srgbClr val="062033"/>
                </a:solidFill>
              </a:rPr>
              <a:t>ĐỒ ÁN MÔN KỸ THUẬT LẬP TRÌNH PYTHON</a:t>
            </a:r>
            <a:endParaRPr lang="en-US" sz="850"/>
          </a:p>
        </p:txBody>
      </p:sp>
      <p:sp>
        <p:nvSpPr>
          <p:cNvPr id="4" name="Text 1"/>
          <p:cNvSpPr/>
          <p:nvPr/>
        </p:nvSpPr>
        <p:spPr>
          <a:xfrm>
            <a:off x="594360" y="1515293"/>
            <a:ext cx="6217920" cy="1097280"/>
          </a:xfrm>
          <a:prstGeom prst="rect">
            <a:avLst/>
          </a:prstGeom>
          <a:noFill/>
          <a:ln/>
        </p:spPr>
        <p:txBody>
          <a:bodyPr wrap="square" lIns="0" tIns="0" rIns="0" bIns="0" rtlCol="0" anchor="ctr">
            <a:normAutofit/>
          </a:bodyPr>
          <a:lstStyle/>
          <a:p>
            <a:pPr marL="0" indent="0">
              <a:buNone/>
            </a:pPr>
            <a:r>
              <a:rPr lang="en-US" sz="3100" b="1">
                <a:solidFill>
                  <a:srgbClr val="FFFFFF"/>
                </a:solidFill>
              </a:rPr>
              <a:t>HỆ THỐNG QUẢN LÝ ĐẶT SÂN</a:t>
            </a:r>
            <a:endParaRPr lang="en-US" sz="3100"/>
          </a:p>
          <a:p>
            <a:pPr marL="0" indent="0">
              <a:buNone/>
            </a:pPr>
            <a:r>
              <a:rPr lang="en-US" sz="3100" b="1">
                <a:solidFill>
                  <a:srgbClr val="FFFFFF"/>
                </a:solidFill>
              </a:rPr>
              <a:t>THỂ THAO ELITE SPORT</a:t>
            </a:r>
            <a:endParaRPr lang="en-US" sz="3100"/>
          </a:p>
        </p:txBody>
      </p:sp>
      <p:sp>
        <p:nvSpPr>
          <p:cNvPr id="5" name="Text 2"/>
          <p:cNvSpPr/>
          <p:nvPr/>
        </p:nvSpPr>
        <p:spPr>
          <a:xfrm>
            <a:off x="594360" y="2886893"/>
            <a:ext cx="5852160" cy="320040"/>
          </a:xfrm>
          <a:prstGeom prst="rect">
            <a:avLst/>
          </a:prstGeom>
          <a:noFill/>
          <a:ln/>
        </p:spPr>
        <p:txBody>
          <a:bodyPr wrap="square" lIns="0" tIns="0" rIns="0" bIns="0" rtlCol="0" anchor="ctr"/>
          <a:lstStyle/>
          <a:p>
            <a:pPr marL="0" indent="0">
              <a:buNone/>
            </a:pPr>
            <a:r>
              <a:rPr lang="en-US" sz="1400">
                <a:solidFill>
                  <a:srgbClr val="38F2C0"/>
                </a:solidFill>
              </a:rPr>
              <a:t>Web Client • Web Admin • Backend API • AI Assistant</a:t>
            </a:r>
            <a:endParaRPr lang="en-US" sz="1400"/>
          </a:p>
        </p:txBody>
      </p:sp>
      <p:sp>
        <p:nvSpPr>
          <p:cNvPr id="6" name="Text 3"/>
          <p:cNvSpPr/>
          <p:nvPr/>
        </p:nvSpPr>
        <p:spPr>
          <a:xfrm>
            <a:off x="594360" y="6172200"/>
            <a:ext cx="6583680" cy="228600"/>
          </a:xfrm>
          <a:prstGeom prst="rect">
            <a:avLst/>
          </a:prstGeom>
          <a:noFill/>
          <a:ln/>
        </p:spPr>
        <p:txBody>
          <a:bodyPr wrap="square" lIns="0" tIns="0" rIns="0" bIns="0" rtlCol="0" anchor="ctr"/>
          <a:lstStyle/>
          <a:p>
            <a:pPr marL="0" indent="0">
              <a:buNone/>
            </a:pPr>
            <a:r>
              <a:rPr lang="en-US" sz="1100">
                <a:solidFill>
                  <a:srgbClr val="FFFFFF"/>
                </a:solidFill>
              </a:rPr>
              <a:t>Nhóm thực hiện: </a:t>
            </a:r>
            <a:r>
              <a:rPr lang="en-US" sz="1100" err="1">
                <a:solidFill>
                  <a:srgbClr val="FFFFFF"/>
                </a:solidFill>
              </a:rPr>
              <a:t>Nhóm</a:t>
            </a:r>
            <a:r>
              <a:rPr lang="en-US" sz="1100">
                <a:solidFill>
                  <a:srgbClr val="FFFFFF"/>
                </a:solidFill>
              </a:rPr>
              <a:t> 13  |  GVHD: </a:t>
            </a:r>
            <a:r>
              <a:rPr lang="en-US" sz="1100" err="1">
                <a:solidFill>
                  <a:srgbClr val="FFFFFF"/>
                </a:solidFill>
              </a:rPr>
              <a:t>ThS</a:t>
            </a:r>
            <a:r>
              <a:rPr lang="en-US" sz="1100">
                <a:solidFill>
                  <a:srgbClr val="FFFFFF"/>
                </a:solidFill>
              </a:rPr>
              <a:t>. </a:t>
            </a:r>
            <a:r>
              <a:rPr lang="en-US" sz="1100" err="1">
                <a:solidFill>
                  <a:srgbClr val="FFFFFF"/>
                </a:solidFill>
              </a:rPr>
              <a:t>Nghi</a:t>
            </a:r>
            <a:r>
              <a:rPr lang="en-US" sz="1100">
                <a:solidFill>
                  <a:srgbClr val="FFFFFF"/>
                </a:solidFill>
              </a:rPr>
              <a:t> </a:t>
            </a:r>
            <a:r>
              <a:rPr lang="en-US" sz="1100" err="1">
                <a:solidFill>
                  <a:srgbClr val="FFFFFF"/>
                </a:solidFill>
              </a:rPr>
              <a:t>Hoàng</a:t>
            </a:r>
            <a:r>
              <a:rPr lang="en-US" sz="1100">
                <a:solidFill>
                  <a:srgbClr val="FFFFFF"/>
                </a:solidFill>
              </a:rPr>
              <a:t> Khoa</a:t>
            </a:r>
            <a:endParaRPr lang="en-US" sz="1100"/>
          </a:p>
        </p:txBody>
      </p:sp>
      <p:sp>
        <p:nvSpPr>
          <p:cNvPr id="7" name="Text 4"/>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01</a:t>
            </a:r>
            <a:endParaRPr lang="en-US" sz="850"/>
          </a:p>
        </p:txBody>
      </p:sp>
      <p:pic>
        <p:nvPicPr>
          <p:cNvPr id="9" name="Picture 8" descr="image.png"/>
          <p:cNvPicPr>
            <a:picLocks noChangeAspect="1"/>
          </p:cNvPicPr>
          <p:nvPr/>
        </p:nvPicPr>
        <p:blipFill>
          <a:blip r:embed="rId4"/>
          <a:stretch>
            <a:fillRect/>
          </a:stretch>
        </p:blipFill>
        <p:spPr>
          <a:xfrm>
            <a:off x="9646920" y="5376672"/>
            <a:ext cx="2240280" cy="746760"/>
          </a:xfrm>
          <a:prstGeom prst="rect">
            <a:avLst/>
          </a:prstGeom>
        </p:spPr>
      </p:pic>
      <p:pic>
        <p:nvPicPr>
          <p:cNvPr id="10" name="Picture 9" descr="a_clean_vector_logo_on_a_transparent_background_a.png"/>
          <p:cNvPicPr>
            <a:picLocks noChangeAspect="1"/>
          </p:cNvPicPr>
          <p:nvPr/>
        </p:nvPicPr>
        <p:blipFill>
          <a:blip r:embed="rId5"/>
          <a:stretch>
            <a:fillRect/>
          </a:stretch>
        </p:blipFill>
        <p:spPr>
          <a:xfrm>
            <a:off x="109728" y="73152"/>
            <a:ext cx="1051560" cy="8462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TỔNG QUAN ĐỀ TÀI &amp; MỤC TIÊU</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02</a:t>
            </a:r>
            <a:endParaRPr lang="en-US" sz="850"/>
          </a:p>
        </p:txBody>
      </p:sp>
      <p:pic>
        <p:nvPicPr>
          <p:cNvPr id="6" name="Image 0" descr="/mnt/data/es8_extract/word/media/image1.png"/>
          <p:cNvPicPr>
            <a:picLocks noChangeAspect="1"/>
          </p:cNvPicPr>
          <p:nvPr/>
        </p:nvPicPr>
        <p:blipFill>
          <a:blip r:embed="rId3"/>
          <a:srcRect t="579" b="579"/>
          <a:stretch/>
        </p:blipFill>
        <p:spPr>
          <a:xfrm>
            <a:off x="6583680" y="960120"/>
            <a:ext cx="4937760" cy="4434840"/>
          </a:xfrm>
          <a:prstGeom prst="rect">
            <a:avLst/>
          </a:prstGeom>
        </p:spPr>
      </p:pic>
      <p:sp>
        <p:nvSpPr>
          <p:cNvPr id="7" name="Text 4"/>
          <p:cNvSpPr/>
          <p:nvPr/>
        </p:nvSpPr>
        <p:spPr>
          <a:xfrm>
            <a:off x="685800" y="1097280"/>
            <a:ext cx="5303520" cy="105156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lang="vi-VN" sz="1100" b="1">
                <a:solidFill>
                  <a:srgbClr val="00F5C6"/>
                </a:solidFill>
                <a:latin typeface="Segoe"/>
              </a:rPr>
              <a:t>Bài toán</a:t>
            </a:r>
            <a:endParaRPr lang="vi-VN" sz="1100">
              <a:latin typeface="Segoe"/>
            </a:endParaRPr>
          </a:p>
          <a:p>
            <a:pPr>
              <a:spcBef>
                <a:spcPts val="0"/>
              </a:spcBef>
              <a:spcAft>
                <a:spcPts val="0"/>
              </a:spcAft>
            </a:pPr>
            <a:r>
              <a:rPr lang="vi-VN" sz="1100" b="0">
                <a:solidFill>
                  <a:srgbClr val="FFFFFF"/>
                </a:solidFill>
                <a:latin typeface="Segoe"/>
              </a:rPr>
              <a:t>Khách hàng cần xem sân trống, đặt sân nhanh và chọn dịch vụ đi kèm; quản trị viên cần theo dõi lịch, xử lý đơn và tránh đặt trùng.</a:t>
            </a:r>
          </a:p>
        </p:txBody>
      </p:sp>
      <p:sp>
        <p:nvSpPr>
          <p:cNvPr id="8" name="Text 5"/>
          <p:cNvSpPr/>
          <p:nvPr/>
        </p:nvSpPr>
        <p:spPr>
          <a:xfrm>
            <a:off x="685800" y="2514600"/>
            <a:ext cx="5303520" cy="11887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Mục</a:t>
            </a:r>
            <a:r>
              <a:rPr sz="1100" b="1">
                <a:solidFill>
                  <a:srgbClr val="00F5C6"/>
                </a:solidFill>
                <a:latin typeface="Segoe"/>
              </a:rPr>
              <a:t> </a:t>
            </a:r>
            <a:r>
              <a:rPr sz="1100" b="1" err="1">
                <a:solidFill>
                  <a:srgbClr val="00F5C6"/>
                </a:solidFill>
                <a:latin typeface="Segoe"/>
              </a:rPr>
              <a:t>tiêu</a:t>
            </a:r>
            <a:endParaRPr lang="en-US" sz="1100">
              <a:latin typeface="Segoe"/>
            </a:endParaRPr>
          </a:p>
          <a:p>
            <a:pPr>
              <a:spcBef>
                <a:spcPts val="0"/>
              </a:spcBef>
              <a:spcAft>
                <a:spcPts val="0"/>
              </a:spcAft>
            </a:pPr>
            <a:r>
              <a:rPr sz="1100" b="0" err="1">
                <a:solidFill>
                  <a:srgbClr val="FFFFFF"/>
                </a:solidFill>
                <a:latin typeface="Segoe"/>
              </a:rPr>
              <a:t>Xây</a:t>
            </a:r>
            <a:r>
              <a:rPr sz="1100" b="0">
                <a:solidFill>
                  <a:srgbClr val="FFFFFF"/>
                </a:solidFill>
                <a:latin typeface="Segoe"/>
              </a:rPr>
              <a:t> </a:t>
            </a:r>
            <a:r>
              <a:rPr sz="1100" b="0" err="1">
                <a:solidFill>
                  <a:srgbClr val="FFFFFF"/>
                </a:solidFill>
                <a:latin typeface="Segoe"/>
              </a:rPr>
              <a:t>dựng</a:t>
            </a:r>
            <a:r>
              <a:rPr sz="1100" b="0">
                <a:solidFill>
                  <a:srgbClr val="FFFFFF"/>
                </a:solidFill>
                <a:latin typeface="Segoe"/>
              </a:rPr>
              <a:t> </a:t>
            </a:r>
            <a:r>
              <a:rPr sz="1100" b="0" err="1">
                <a:solidFill>
                  <a:srgbClr val="FFFFFF"/>
                </a:solidFill>
                <a:latin typeface="Segoe"/>
              </a:rPr>
              <a:t>hệ</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thể</a:t>
            </a:r>
            <a:r>
              <a:rPr sz="1100" b="0">
                <a:solidFill>
                  <a:srgbClr val="FFFFFF"/>
                </a:solidFill>
                <a:latin typeface="Segoe"/>
              </a:rPr>
              <a:t> </a:t>
            </a:r>
            <a:r>
              <a:rPr sz="1100" b="0" err="1">
                <a:solidFill>
                  <a:srgbClr val="FFFFFF"/>
                </a:solidFill>
                <a:latin typeface="Segoe"/>
              </a:rPr>
              <a:t>thao</a:t>
            </a:r>
            <a:r>
              <a:rPr sz="1100" b="0">
                <a:solidFill>
                  <a:srgbClr val="FFFFFF"/>
                </a:solidFill>
                <a:latin typeface="Segoe"/>
              </a:rPr>
              <a:t> </a:t>
            </a:r>
            <a:r>
              <a:rPr sz="1100" b="0" err="1">
                <a:solidFill>
                  <a:srgbClr val="FFFFFF"/>
                </a:solidFill>
                <a:latin typeface="Segoe"/>
              </a:rPr>
              <a:t>hoàn</a:t>
            </a:r>
            <a:r>
              <a:rPr sz="1100" b="0">
                <a:solidFill>
                  <a:srgbClr val="FFFFFF"/>
                </a:solidFill>
                <a:latin typeface="Segoe"/>
              </a:rPr>
              <a:t> </a:t>
            </a:r>
            <a:r>
              <a:rPr sz="1100" b="0" err="1">
                <a:solidFill>
                  <a:srgbClr val="FFFFFF"/>
                </a:solidFill>
                <a:latin typeface="Segoe"/>
              </a:rPr>
              <a:t>chỉnh</a:t>
            </a:r>
            <a:r>
              <a:rPr sz="1100" b="0">
                <a:solidFill>
                  <a:srgbClr val="FFFFFF"/>
                </a:solidFill>
                <a:latin typeface="Segoe"/>
              </a:rPr>
              <a:t> </a:t>
            </a:r>
            <a:r>
              <a:rPr sz="1100" b="0" err="1">
                <a:solidFill>
                  <a:srgbClr val="FFFFFF"/>
                </a:solidFill>
                <a:latin typeface="Segoe"/>
              </a:rPr>
              <a:t>gồm</a:t>
            </a:r>
            <a:r>
              <a:rPr sz="1100" b="0">
                <a:solidFill>
                  <a:srgbClr val="FFFFFF"/>
                </a:solidFill>
                <a:latin typeface="Segoe"/>
              </a:rPr>
              <a:t> Web Client </a:t>
            </a:r>
            <a:r>
              <a:rPr sz="1100" b="0" err="1">
                <a:solidFill>
                  <a:srgbClr val="FFFFFF"/>
                </a:solidFill>
                <a:latin typeface="Segoe"/>
              </a:rPr>
              <a:t>cho</a:t>
            </a:r>
            <a:r>
              <a:rPr sz="1100" b="0">
                <a:solidFill>
                  <a:srgbClr val="FFFFFF"/>
                </a:solidFill>
                <a:latin typeface="Segoe"/>
              </a:rPr>
              <a:t> </a:t>
            </a:r>
            <a:r>
              <a:rPr sz="1100" b="0" err="1">
                <a:solidFill>
                  <a:srgbClr val="FFFFFF"/>
                </a:solidFill>
                <a:latin typeface="Segoe"/>
              </a:rPr>
              <a:t>khách</a:t>
            </a:r>
            <a:r>
              <a:rPr sz="1100" b="0">
                <a:solidFill>
                  <a:srgbClr val="FFFFFF"/>
                </a:solidFill>
                <a:latin typeface="Segoe"/>
              </a:rPr>
              <a:t>, Web Admin </a:t>
            </a:r>
            <a:r>
              <a:rPr sz="1100" b="0" err="1">
                <a:solidFill>
                  <a:srgbClr val="FFFFFF"/>
                </a:solidFill>
                <a:latin typeface="Segoe"/>
              </a:rPr>
              <a:t>cho</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trị</a:t>
            </a:r>
            <a:r>
              <a:rPr sz="1100" b="0">
                <a:solidFill>
                  <a:srgbClr val="FFFFFF"/>
                </a:solidFill>
                <a:latin typeface="Segoe"/>
              </a:rPr>
              <a:t> </a:t>
            </a:r>
            <a:r>
              <a:rPr sz="1100" b="0" err="1">
                <a:solidFill>
                  <a:srgbClr val="FFFFFF"/>
                </a:solidFill>
                <a:latin typeface="Segoe"/>
              </a:rPr>
              <a:t>viên</a:t>
            </a:r>
            <a:r>
              <a:rPr sz="1100" b="0">
                <a:solidFill>
                  <a:srgbClr val="FFFFFF"/>
                </a:solidFill>
                <a:latin typeface="Segoe"/>
              </a:rPr>
              <a:t>, Backend API </a:t>
            </a:r>
            <a:r>
              <a:rPr sz="1100" b="0" err="1">
                <a:solidFill>
                  <a:srgbClr val="FFFFFF"/>
                </a:solidFill>
                <a:latin typeface="Segoe"/>
              </a:rPr>
              <a:t>và</a:t>
            </a:r>
            <a:r>
              <a:rPr sz="1100" b="0">
                <a:solidFill>
                  <a:srgbClr val="FFFFFF"/>
                </a:solidFill>
                <a:latin typeface="Segoe"/>
              </a:rPr>
              <a:t> AI Assistant.</a:t>
            </a:r>
          </a:p>
        </p:txBody>
      </p:sp>
      <p:sp>
        <p:nvSpPr>
          <p:cNvPr id="9" name="Text 6"/>
          <p:cNvSpPr/>
          <p:nvPr/>
        </p:nvSpPr>
        <p:spPr>
          <a:xfrm>
            <a:off x="685800" y="4160520"/>
            <a:ext cx="5303520" cy="109728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Phạm</a:t>
            </a:r>
            <a:r>
              <a:rPr sz="1100" b="1">
                <a:solidFill>
                  <a:srgbClr val="00F5C6"/>
                </a:solidFill>
                <a:latin typeface="Segoe"/>
              </a:rPr>
              <a:t> vi</a:t>
            </a:r>
            <a:endParaRPr lang="en-US" sz="1100">
              <a:latin typeface="Segoe"/>
            </a:endParaRPr>
          </a:p>
          <a:p>
            <a:pPr>
              <a:spcBef>
                <a:spcPts val="0"/>
              </a:spcBef>
              <a:spcAft>
                <a:spcPts val="0"/>
              </a:spcAft>
            </a:pP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thủ</a:t>
            </a:r>
            <a:r>
              <a:rPr sz="1100" b="0">
                <a:solidFill>
                  <a:srgbClr val="FFFFFF"/>
                </a:solidFill>
                <a:latin typeface="Segoe"/>
              </a:rPr>
              <a:t> </a:t>
            </a:r>
            <a:r>
              <a:rPr sz="1100" b="0" err="1">
                <a:solidFill>
                  <a:srgbClr val="FFFFFF"/>
                </a:solidFill>
                <a:latin typeface="Segoe"/>
              </a:rPr>
              <a:t>công</a:t>
            </a:r>
            <a:r>
              <a:rPr sz="1100" b="0">
                <a:solidFill>
                  <a:srgbClr val="FFFFFF"/>
                </a:solidFill>
                <a:latin typeface="Segoe"/>
              </a:rPr>
              <a:t>/qua AI,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lịch</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kê</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thực</a:t>
            </a:r>
            <a:r>
              <a:rPr sz="1100" b="0">
                <a:solidFill>
                  <a:srgbClr val="FFFFFF"/>
                </a:solidFill>
                <a:latin typeface="Segoe"/>
              </a:rPr>
              <a:t> Admin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bộ</a:t>
            </a:r>
            <a:r>
              <a:rPr sz="1100" b="0">
                <a:solidFill>
                  <a:srgbClr val="FFFFFF"/>
                </a:solidFill>
                <a:latin typeface="Segoe"/>
              </a:rPr>
              <a:t> </a:t>
            </a:r>
            <a:r>
              <a:rPr sz="1100" b="0" err="1">
                <a:solidFill>
                  <a:srgbClr val="FFFFFF"/>
                </a:solidFill>
                <a:latin typeface="Segoe"/>
              </a:rPr>
              <a:t>dữ</a:t>
            </a:r>
            <a:r>
              <a:rPr sz="1100" b="0">
                <a:solidFill>
                  <a:srgbClr val="FFFFFF"/>
                </a:solidFill>
                <a:latin typeface="Segoe"/>
              </a:rPr>
              <a:t> </a:t>
            </a:r>
            <a:r>
              <a:rPr sz="1100" b="0" err="1">
                <a:solidFill>
                  <a:srgbClr val="FFFFFF"/>
                </a:solidFill>
                <a:latin typeface="Segoe"/>
              </a:rPr>
              <a:t>liệu</a:t>
            </a:r>
            <a:r>
              <a:rPr sz="1100" b="0">
                <a:solidFill>
                  <a:srgbClr val="FFFFFF"/>
                </a:solidFill>
                <a:latin typeface="Segoe"/>
              </a:rPr>
              <a:t> Client ↔ Admin.</a:t>
            </a:r>
          </a:p>
        </p:txBody>
      </p:sp>
      <p:sp>
        <p:nvSpPr>
          <p:cNvPr id="10" name="Text 7"/>
          <p:cNvSpPr/>
          <p:nvPr/>
        </p:nvSpPr>
        <p:spPr>
          <a:xfrm>
            <a:off x="1097280" y="5760720"/>
            <a:ext cx="4572000" cy="292608"/>
          </a:xfrm>
          <a:prstGeom prst="roundRect">
            <a:avLst/>
          </a:prstGeom>
          <a:solidFill>
            <a:srgbClr val="F3C04E"/>
          </a:solidFill>
          <a:ln>
            <a:solidFill>
              <a:srgbClr val="F3C04E">
                <a:alpha val="90000"/>
              </a:srgbClr>
            </a:solidFill>
          </a:ln>
        </p:spPr>
        <p:txBody>
          <a:bodyPr wrap="square" lIns="254" tIns="254" rIns="254" bIns="254" rtlCol="0" anchor="ctr">
            <a:normAutofit/>
          </a:bodyPr>
          <a:lstStyle/>
          <a:p>
            <a:pPr marL="0" indent="0" algn="ctr">
              <a:buNone/>
            </a:pPr>
            <a:r>
              <a:rPr sz="800" b="1" err="1">
                <a:solidFill>
                  <a:srgbClr val="051424"/>
                </a:solidFill>
                <a:latin typeface="Segoe"/>
              </a:rPr>
              <a:t>Định</a:t>
            </a:r>
            <a:r>
              <a:rPr sz="800" b="1">
                <a:solidFill>
                  <a:srgbClr val="051424"/>
                </a:solidFill>
                <a:latin typeface="Segoe"/>
              </a:rPr>
              <a:t> </a:t>
            </a:r>
            <a:r>
              <a:rPr sz="800" b="1" err="1">
                <a:solidFill>
                  <a:srgbClr val="051424"/>
                </a:solidFill>
                <a:latin typeface="Segoe"/>
              </a:rPr>
              <a:t>hướng</a:t>
            </a:r>
            <a:r>
              <a:rPr sz="800" b="1">
                <a:solidFill>
                  <a:srgbClr val="051424"/>
                </a:solidFill>
                <a:latin typeface="Segoe"/>
              </a:rPr>
              <a:t>: </a:t>
            </a:r>
            <a:r>
              <a:rPr sz="800" b="1" err="1">
                <a:solidFill>
                  <a:srgbClr val="051424"/>
                </a:solidFill>
                <a:latin typeface="Segoe"/>
              </a:rPr>
              <a:t>dễ</a:t>
            </a:r>
            <a:r>
              <a:rPr sz="800" b="1">
                <a:solidFill>
                  <a:srgbClr val="051424"/>
                </a:solidFill>
                <a:latin typeface="Segoe"/>
              </a:rPr>
              <a:t> </a:t>
            </a:r>
            <a:r>
              <a:rPr sz="800" b="1" err="1">
                <a:solidFill>
                  <a:srgbClr val="051424"/>
                </a:solidFill>
                <a:latin typeface="Segoe"/>
              </a:rPr>
              <a:t>dùng</a:t>
            </a:r>
            <a:r>
              <a:rPr sz="800" b="1">
                <a:solidFill>
                  <a:srgbClr val="051424"/>
                </a:solidFill>
                <a:latin typeface="Segoe"/>
              </a:rPr>
              <a:t> • </a:t>
            </a:r>
            <a:r>
              <a:rPr sz="800" b="1" err="1">
                <a:solidFill>
                  <a:srgbClr val="051424"/>
                </a:solidFill>
                <a:latin typeface="Segoe"/>
              </a:rPr>
              <a:t>đúng</a:t>
            </a:r>
            <a:r>
              <a:rPr sz="800" b="1">
                <a:solidFill>
                  <a:srgbClr val="051424"/>
                </a:solidFill>
                <a:latin typeface="Segoe"/>
              </a:rPr>
              <a:t> </a:t>
            </a:r>
            <a:r>
              <a:rPr sz="800" b="1" err="1">
                <a:solidFill>
                  <a:srgbClr val="051424"/>
                </a:solidFill>
                <a:latin typeface="Segoe"/>
              </a:rPr>
              <a:t>nghiệp</a:t>
            </a:r>
            <a:r>
              <a:rPr sz="800" b="1">
                <a:solidFill>
                  <a:srgbClr val="051424"/>
                </a:solidFill>
                <a:latin typeface="Segoe"/>
              </a:rPr>
              <a:t> </a:t>
            </a:r>
            <a:r>
              <a:rPr sz="800" b="1" err="1">
                <a:solidFill>
                  <a:srgbClr val="051424"/>
                </a:solidFill>
                <a:latin typeface="Segoe"/>
              </a:rPr>
              <a:t>vụ</a:t>
            </a:r>
            <a:r>
              <a:rPr sz="800" b="1">
                <a:solidFill>
                  <a:srgbClr val="051424"/>
                </a:solidFill>
                <a:latin typeface="Segoe"/>
              </a:rPr>
              <a:t> • </a:t>
            </a:r>
            <a:r>
              <a:rPr sz="800" b="1" err="1">
                <a:solidFill>
                  <a:srgbClr val="051424"/>
                </a:solidFill>
                <a:latin typeface="Segoe"/>
              </a:rPr>
              <a:t>dữ</a:t>
            </a:r>
            <a:r>
              <a:rPr sz="800" b="1">
                <a:solidFill>
                  <a:srgbClr val="051424"/>
                </a:solidFill>
                <a:latin typeface="Segoe"/>
              </a:rPr>
              <a:t> </a:t>
            </a:r>
            <a:r>
              <a:rPr sz="800" b="1" err="1">
                <a:solidFill>
                  <a:srgbClr val="051424"/>
                </a:solidFill>
                <a:latin typeface="Segoe"/>
              </a:rPr>
              <a:t>liệu</a:t>
            </a:r>
            <a:r>
              <a:rPr sz="800" b="1">
                <a:solidFill>
                  <a:srgbClr val="051424"/>
                </a:solidFill>
                <a:latin typeface="Segoe"/>
              </a:rPr>
              <a:t> </a:t>
            </a:r>
            <a:r>
              <a:rPr sz="800" b="1" err="1">
                <a:solidFill>
                  <a:srgbClr val="051424"/>
                </a:solidFill>
                <a:latin typeface="Segoe"/>
              </a:rPr>
              <a:t>đồng</a:t>
            </a:r>
            <a:r>
              <a:rPr sz="800" b="1">
                <a:solidFill>
                  <a:srgbClr val="051424"/>
                </a:solidFill>
                <a:latin typeface="Segoe"/>
              </a:rPr>
              <a:t> </a:t>
            </a:r>
            <a:r>
              <a:rPr sz="800" b="1" err="1">
                <a:solidFill>
                  <a:srgbClr val="051424"/>
                </a:solidFill>
                <a:latin typeface="Segoe"/>
              </a:rPr>
              <a:t>bộ</a:t>
            </a:r>
            <a:r>
              <a:rPr sz="800" b="1">
                <a:solidFill>
                  <a:srgbClr val="051424"/>
                </a:solidFill>
                <a:latin typeface="Segoe"/>
              </a:rPr>
              <a:t> • </a:t>
            </a:r>
            <a:r>
              <a:rPr lang="en-US" sz="800" b="1" err="1">
                <a:solidFill>
                  <a:srgbClr val="051424"/>
                </a:solidFill>
                <a:latin typeface="Segoe"/>
              </a:rPr>
              <a:t>vận</a:t>
            </a:r>
            <a:r>
              <a:rPr lang="en-US" sz="800" b="1">
                <a:solidFill>
                  <a:srgbClr val="051424"/>
                </a:solidFill>
                <a:latin typeface="Segoe"/>
              </a:rPr>
              <a:t> </a:t>
            </a:r>
            <a:r>
              <a:rPr lang="en-US" sz="800" b="1" err="1">
                <a:solidFill>
                  <a:srgbClr val="051424"/>
                </a:solidFill>
                <a:latin typeface="Segoe"/>
              </a:rPr>
              <a:t>hành</a:t>
            </a:r>
            <a:r>
              <a:rPr lang="en-US" sz="800" b="1">
                <a:solidFill>
                  <a:srgbClr val="051424"/>
                </a:solidFill>
                <a:latin typeface="Segoe"/>
              </a:rPr>
              <a:t> </a:t>
            </a:r>
            <a:r>
              <a:rPr lang="en-US" sz="800" b="1" err="1">
                <a:solidFill>
                  <a:srgbClr val="051424"/>
                </a:solidFill>
                <a:latin typeface="Segoe"/>
              </a:rPr>
              <a:t>ổn</a:t>
            </a:r>
            <a:r>
              <a:rPr lang="en-US" sz="800" b="1">
                <a:solidFill>
                  <a:srgbClr val="051424"/>
                </a:solidFill>
                <a:latin typeface="Segoe"/>
              </a:rPr>
              <a:t> </a:t>
            </a:r>
            <a:r>
              <a:rPr lang="en-US" sz="800" b="1" err="1">
                <a:solidFill>
                  <a:srgbClr val="051424"/>
                </a:solidFill>
                <a:latin typeface="Segoe"/>
              </a:rPr>
              <a:t>định</a:t>
            </a:r>
            <a:endParaRPr lang="en-US" sz="800">
              <a:latin typeface="Segoe"/>
            </a:endParaRPr>
          </a:p>
        </p:txBody>
      </p:sp>
      <p:pic>
        <p:nvPicPr>
          <p:cNvPr id="11" name="Picture 10" descr="uit_symbol_only.png"/>
          <p:cNvPicPr>
            <a:picLocks noChangeAspect="1"/>
          </p:cNvPicPr>
          <p:nvPr/>
        </p:nvPicPr>
        <p:blipFill>
          <a:blip r:embed="rId4"/>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5"/>
          <a:stretch>
            <a:fillRect/>
          </a:stretch>
        </p:blipFill>
        <p:spPr>
          <a:xfrm>
            <a:off x="10195560" y="91440"/>
            <a:ext cx="1783080" cy="5943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ĐỐI TƯỢNG SỬ DỤNG &amp; YÊU CẦU CHÍNH</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03</a:t>
            </a:r>
            <a:endParaRPr lang="en-US" sz="850"/>
          </a:p>
        </p:txBody>
      </p:sp>
      <p:sp>
        <p:nvSpPr>
          <p:cNvPr id="6" name="Text 4"/>
          <p:cNvSpPr/>
          <p:nvPr/>
        </p:nvSpPr>
        <p:spPr>
          <a:xfrm>
            <a:off x="685800" y="1051560"/>
            <a:ext cx="3429000" cy="14173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Khách</a:t>
            </a:r>
            <a:r>
              <a:rPr sz="1100" b="1">
                <a:solidFill>
                  <a:srgbClr val="00F5C6"/>
                </a:solidFill>
                <a:latin typeface="Segoe"/>
              </a:rPr>
              <a:t> </a:t>
            </a:r>
            <a:r>
              <a:rPr sz="1100" b="1" err="1">
                <a:solidFill>
                  <a:srgbClr val="00F5C6"/>
                </a:solidFill>
                <a:latin typeface="Segoe"/>
              </a:rPr>
              <a:t>hàng</a:t>
            </a:r>
            <a:r>
              <a:rPr sz="1100" b="1">
                <a:solidFill>
                  <a:srgbClr val="00F5C6"/>
                </a:solidFill>
                <a:latin typeface="Segoe"/>
              </a:rPr>
              <a:t> (Web Client)</a:t>
            </a:r>
            <a:endParaRPr lang="en-US" sz="1100">
              <a:latin typeface="Segoe"/>
            </a:endParaRPr>
          </a:p>
          <a:p>
            <a:pPr>
              <a:spcBef>
                <a:spcPts val="0"/>
              </a:spcBef>
              <a:spcAft>
                <a:spcPts val="0"/>
              </a:spcAft>
            </a:pPr>
            <a:r>
              <a:rPr sz="1100" b="0" err="1">
                <a:solidFill>
                  <a:srgbClr val="FFFFFF"/>
                </a:solidFill>
                <a:latin typeface="Segoe"/>
              </a:rPr>
              <a:t>Xem</a:t>
            </a:r>
            <a:r>
              <a:rPr sz="1100" b="0">
                <a:solidFill>
                  <a:srgbClr val="FFFFFF"/>
                </a:solidFill>
                <a:latin typeface="Segoe"/>
              </a:rPr>
              <a:t> </a:t>
            </a:r>
            <a:r>
              <a:rPr sz="1100" b="0" err="1">
                <a:solidFill>
                  <a:srgbClr val="FFFFFF"/>
                </a:solidFill>
                <a:latin typeface="Segoe"/>
              </a:rPr>
              <a:t>thông</a:t>
            </a:r>
            <a:r>
              <a:rPr sz="1100" b="0">
                <a:solidFill>
                  <a:srgbClr val="FFFFFF"/>
                </a:solidFill>
                <a:latin typeface="Segoe"/>
              </a:rPr>
              <a:t> tin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Bóng</a:t>
            </a:r>
            <a:r>
              <a:rPr sz="1100" b="0">
                <a:solidFill>
                  <a:srgbClr val="FFFFFF"/>
                </a:solidFill>
                <a:latin typeface="Segoe"/>
              </a:rPr>
              <a:t> </a:t>
            </a:r>
            <a:r>
              <a:rPr sz="1100" b="0" err="1">
                <a:solidFill>
                  <a:srgbClr val="FFFFFF"/>
                </a:solidFill>
                <a:latin typeface="Segoe"/>
              </a:rPr>
              <a:t>đá</a:t>
            </a:r>
            <a:r>
              <a:rPr sz="1100" b="0">
                <a:solidFill>
                  <a:srgbClr val="FFFFFF"/>
                </a:solidFill>
                <a:latin typeface="Segoe"/>
              </a:rPr>
              <a:t>/Pickleball/</a:t>
            </a:r>
            <a:r>
              <a:rPr sz="1100" b="0" err="1">
                <a:solidFill>
                  <a:srgbClr val="FFFFFF"/>
                </a:solidFill>
                <a:latin typeface="Segoe"/>
              </a:rPr>
              <a:t>Cầu</a:t>
            </a:r>
            <a:r>
              <a:rPr sz="1100" b="0">
                <a:solidFill>
                  <a:srgbClr val="FFFFFF"/>
                </a:solidFill>
                <a:latin typeface="Segoe"/>
              </a:rPr>
              <a:t> </a:t>
            </a:r>
            <a:r>
              <a:rPr sz="1100" b="0" err="1">
                <a:solidFill>
                  <a:srgbClr val="FFFFFF"/>
                </a:solidFill>
                <a:latin typeface="Segoe"/>
              </a:rPr>
              <a:t>lông</a:t>
            </a:r>
            <a:r>
              <a:rPr sz="1100" b="0">
                <a:solidFill>
                  <a:srgbClr val="FFFFFF"/>
                </a:solidFill>
                <a:latin typeface="Segoe"/>
              </a:rPr>
              <a:t>,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ngày</a:t>
            </a:r>
            <a:r>
              <a:rPr sz="1100" b="0">
                <a:solidFill>
                  <a:srgbClr val="FFFFFF"/>
                </a:solidFill>
                <a:latin typeface="Segoe"/>
              </a:rPr>
              <a:t>/</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thêm</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nhận</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p>
        </p:txBody>
      </p:sp>
      <p:sp>
        <p:nvSpPr>
          <p:cNvPr id="7" name="Text 5"/>
          <p:cNvSpPr/>
          <p:nvPr/>
        </p:nvSpPr>
        <p:spPr>
          <a:xfrm>
            <a:off x="4389120" y="1051560"/>
            <a:ext cx="3429000" cy="14173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Quản</a:t>
            </a:r>
            <a:r>
              <a:rPr sz="1100" b="1">
                <a:solidFill>
                  <a:srgbClr val="00F5C6"/>
                </a:solidFill>
                <a:latin typeface="Segoe"/>
              </a:rPr>
              <a:t> </a:t>
            </a:r>
            <a:r>
              <a:rPr sz="1100" b="1" err="1">
                <a:solidFill>
                  <a:srgbClr val="00F5C6"/>
                </a:solidFill>
                <a:latin typeface="Segoe"/>
              </a:rPr>
              <a:t>trị</a:t>
            </a:r>
            <a:r>
              <a:rPr sz="1100" b="1">
                <a:solidFill>
                  <a:srgbClr val="00F5C6"/>
                </a:solidFill>
                <a:latin typeface="Segoe"/>
              </a:rPr>
              <a:t> </a:t>
            </a:r>
            <a:r>
              <a:rPr sz="1100" b="1" err="1">
                <a:solidFill>
                  <a:srgbClr val="00F5C6"/>
                </a:solidFill>
                <a:latin typeface="Segoe"/>
              </a:rPr>
              <a:t>viên</a:t>
            </a:r>
            <a:r>
              <a:rPr sz="1100" b="1">
                <a:solidFill>
                  <a:srgbClr val="00F5C6"/>
                </a:solidFill>
                <a:latin typeface="Segoe"/>
              </a:rPr>
              <a:t> (Web Admin)</a:t>
            </a:r>
            <a:endParaRPr lang="en-US" sz="1100">
              <a:latin typeface="Segoe"/>
            </a:endParaRPr>
          </a:p>
          <a:p>
            <a:pPr>
              <a:spcBef>
                <a:spcPts val="0"/>
              </a:spcBef>
              <a:spcAft>
                <a:spcPts val="0"/>
              </a:spcAft>
            </a:pPr>
            <a:r>
              <a:rPr sz="1100" b="0" err="1">
                <a:solidFill>
                  <a:srgbClr val="FFFFFF"/>
                </a:solidFill>
                <a:latin typeface="Segoe"/>
              </a:rPr>
              <a:t>Đăng</a:t>
            </a:r>
            <a:r>
              <a:rPr sz="1100" b="0">
                <a:solidFill>
                  <a:srgbClr val="FFFFFF"/>
                </a:solidFill>
                <a:latin typeface="Segoe"/>
              </a:rPr>
              <a:t> </a:t>
            </a:r>
            <a:r>
              <a:rPr sz="1100" b="0" err="1">
                <a:solidFill>
                  <a:srgbClr val="FFFFFF"/>
                </a:solidFill>
                <a:latin typeface="Segoe"/>
              </a:rPr>
              <a:t>nhập</a:t>
            </a:r>
            <a:r>
              <a:rPr sz="1100" b="0">
                <a:solidFill>
                  <a:srgbClr val="FFFFFF"/>
                </a:solidFill>
                <a:latin typeface="Segoe"/>
              </a:rPr>
              <a:t> </a:t>
            </a:r>
            <a:r>
              <a:rPr sz="1100" b="0" err="1">
                <a:solidFill>
                  <a:srgbClr val="FFFFFF"/>
                </a:solidFill>
                <a:latin typeface="Segoe"/>
              </a:rPr>
              <a:t>hệ</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lịch</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kê</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xử</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trạng</a:t>
            </a:r>
            <a:r>
              <a:rPr sz="1100" b="0">
                <a:solidFill>
                  <a:srgbClr val="FFFFFF"/>
                </a:solidFill>
                <a:latin typeface="Segoe"/>
              </a:rPr>
              <a:t> </a:t>
            </a:r>
            <a:r>
              <a:rPr sz="1100" b="0" err="1">
                <a:solidFill>
                  <a:srgbClr val="FFFFFF"/>
                </a:solidFill>
                <a:latin typeface="Segoe"/>
              </a:rPr>
              <a:t>thái</a:t>
            </a:r>
            <a:r>
              <a:rPr sz="1100" b="0">
                <a:solidFill>
                  <a:srgbClr val="FFFFFF"/>
                </a:solidFill>
                <a:latin typeface="Segoe"/>
              </a:rPr>
              <a:t> booking.</a:t>
            </a:r>
          </a:p>
        </p:txBody>
      </p:sp>
      <p:sp>
        <p:nvSpPr>
          <p:cNvPr id="8" name="Text 6"/>
          <p:cNvSpPr/>
          <p:nvPr/>
        </p:nvSpPr>
        <p:spPr>
          <a:xfrm>
            <a:off x="8092440" y="1051560"/>
            <a:ext cx="3429000" cy="141732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a:solidFill>
                  <a:srgbClr val="00F5C6"/>
                </a:solidFill>
                <a:latin typeface="Segoe"/>
              </a:rPr>
              <a:t>AI Assistant</a:t>
            </a:r>
            <a:endParaRPr lang="en-US" sz="1100">
              <a:latin typeface="Segoe"/>
            </a:endParaRPr>
          </a:p>
          <a:p>
            <a:pPr>
              <a:spcBef>
                <a:spcPts val="0"/>
              </a:spcBef>
              <a:spcAft>
                <a:spcPts val="0"/>
              </a:spcAft>
            </a:pPr>
            <a:r>
              <a:rPr sz="1100" b="0" err="1">
                <a:solidFill>
                  <a:srgbClr val="FFFFFF"/>
                </a:solidFill>
                <a:latin typeface="Segoe"/>
              </a:rPr>
              <a:t>Tư</a:t>
            </a:r>
            <a:r>
              <a:rPr sz="1100" b="0">
                <a:solidFill>
                  <a:srgbClr val="FFFFFF"/>
                </a:solidFill>
                <a:latin typeface="Segoe"/>
              </a:rPr>
              <a:t> </a:t>
            </a:r>
            <a:r>
              <a:rPr sz="1100" b="0" err="1">
                <a:solidFill>
                  <a:srgbClr val="FFFFFF"/>
                </a:solidFill>
                <a:latin typeface="Segoe"/>
              </a:rPr>
              <a:t>vấn</a:t>
            </a:r>
            <a:r>
              <a:rPr sz="1100" b="0">
                <a:solidFill>
                  <a:srgbClr val="FFFFFF"/>
                </a:solidFill>
                <a:latin typeface="Segoe"/>
              </a:rPr>
              <a:t> </a:t>
            </a:r>
            <a:r>
              <a:rPr sz="1100" b="0" err="1">
                <a:solidFill>
                  <a:srgbClr val="FFFFFF"/>
                </a:solidFill>
                <a:latin typeface="Segoe"/>
              </a:rPr>
              <a:t>bằng</a:t>
            </a:r>
            <a:r>
              <a:rPr sz="1100" b="0">
                <a:solidFill>
                  <a:srgbClr val="FFFFFF"/>
                </a:solidFill>
                <a:latin typeface="Segoe"/>
              </a:rPr>
              <a:t> </a:t>
            </a:r>
            <a:r>
              <a:rPr sz="1100" b="0" err="1">
                <a:solidFill>
                  <a:srgbClr val="FFFFFF"/>
                </a:solidFill>
                <a:latin typeface="Segoe"/>
              </a:rPr>
              <a:t>tiếng</a:t>
            </a:r>
            <a:r>
              <a:rPr sz="1100" b="0">
                <a:solidFill>
                  <a:srgbClr val="FFFFFF"/>
                </a:solidFill>
                <a:latin typeface="Segoe"/>
              </a:rPr>
              <a:t> </a:t>
            </a:r>
            <a:r>
              <a:rPr sz="1100" b="0" err="1">
                <a:solidFill>
                  <a:srgbClr val="FFFFFF"/>
                </a:solidFill>
                <a:latin typeface="Segoe"/>
              </a:rPr>
              <a:t>Việt</a:t>
            </a:r>
            <a:r>
              <a:rPr sz="1100" b="0">
                <a:solidFill>
                  <a:srgbClr val="FFFFFF"/>
                </a:solidFill>
                <a:latin typeface="Segoe"/>
              </a:rPr>
              <a:t>, </a:t>
            </a:r>
            <a:r>
              <a:rPr sz="1100" b="0" err="1">
                <a:solidFill>
                  <a:srgbClr val="FFFFFF"/>
                </a:solidFill>
                <a:latin typeface="Segoe"/>
              </a:rPr>
              <a:t>hỏi</a:t>
            </a:r>
            <a:r>
              <a:rPr sz="1100" b="0">
                <a:solidFill>
                  <a:srgbClr val="FFFFFF"/>
                </a:solidFill>
                <a:latin typeface="Segoe"/>
              </a:rPr>
              <a:t> </a:t>
            </a:r>
            <a:r>
              <a:rPr sz="1100" b="0" err="1">
                <a:solidFill>
                  <a:srgbClr val="FFFFFF"/>
                </a:solidFill>
                <a:latin typeface="Segoe"/>
              </a:rPr>
              <a:t>bổ</a:t>
            </a:r>
            <a:r>
              <a:rPr sz="1100" b="0">
                <a:solidFill>
                  <a:srgbClr val="FFFFFF"/>
                </a:solidFill>
                <a:latin typeface="Segoe"/>
              </a:rPr>
              <a:t> sung </a:t>
            </a:r>
            <a:r>
              <a:rPr sz="1100" b="0" err="1">
                <a:solidFill>
                  <a:srgbClr val="FFFFFF"/>
                </a:solidFill>
                <a:latin typeface="Segoe"/>
              </a:rPr>
              <a:t>thông</a:t>
            </a:r>
            <a:r>
              <a:rPr sz="1100" b="0">
                <a:solidFill>
                  <a:srgbClr val="FFFFFF"/>
                </a:solidFill>
                <a:latin typeface="Segoe"/>
              </a:rPr>
              <a:t> tin, </a:t>
            </a:r>
            <a:r>
              <a:rPr sz="1100" b="0" err="1">
                <a:solidFill>
                  <a:srgbClr val="FFFFFF"/>
                </a:solidFill>
                <a:latin typeface="Segoe"/>
              </a:rPr>
              <a:t>gợi</a:t>
            </a:r>
            <a:r>
              <a:rPr sz="1100" b="0">
                <a:solidFill>
                  <a:srgbClr val="FFFFFF"/>
                </a:solidFill>
                <a:latin typeface="Segoe"/>
              </a:rPr>
              <a:t> ý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trống</a:t>
            </a:r>
            <a:r>
              <a:rPr sz="1100" b="0">
                <a:solidFill>
                  <a:srgbClr val="FFFFFF"/>
                </a:solidFill>
                <a:latin typeface="Segoe"/>
              </a:rPr>
              <a:t>, </a:t>
            </a:r>
            <a:r>
              <a:rPr sz="1100" b="0" err="1">
                <a:solidFill>
                  <a:srgbClr val="FFFFFF"/>
                </a:solidFill>
                <a:latin typeface="Segoe"/>
              </a:rPr>
              <a:t>chống</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trùng</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hỗ</a:t>
            </a:r>
            <a:r>
              <a:rPr sz="1100" b="0">
                <a:solidFill>
                  <a:srgbClr val="FFFFFF"/>
                </a:solidFill>
                <a:latin typeface="Segoe"/>
              </a:rPr>
              <a:t> </a:t>
            </a:r>
            <a:r>
              <a:rPr sz="1100" b="0" err="1">
                <a:solidFill>
                  <a:srgbClr val="FFFFFF"/>
                </a:solidFill>
                <a:latin typeface="Segoe"/>
              </a:rPr>
              <a:t>trợ</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nhận</a:t>
            </a:r>
            <a:r>
              <a:rPr sz="1100" b="0">
                <a:solidFill>
                  <a:srgbClr val="FFFFFF"/>
                </a:solidFill>
                <a:latin typeface="Segoe"/>
              </a:rPr>
              <a:t> booking.</a:t>
            </a:r>
          </a:p>
        </p:txBody>
      </p:sp>
      <p:sp>
        <p:nvSpPr>
          <p:cNvPr id="10" name="Text 7"/>
          <p:cNvSpPr/>
          <p:nvPr/>
        </p:nvSpPr>
        <p:spPr>
          <a:xfrm>
            <a:off x="6400800" y="2971800"/>
            <a:ext cx="5120640" cy="25146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Yêu</a:t>
            </a:r>
            <a:r>
              <a:rPr sz="1100" b="1">
                <a:solidFill>
                  <a:srgbClr val="00F5C6"/>
                </a:solidFill>
                <a:latin typeface="Segoe"/>
              </a:rPr>
              <a:t> </a:t>
            </a:r>
            <a:r>
              <a:rPr sz="1100" b="1" err="1">
                <a:solidFill>
                  <a:srgbClr val="00F5C6"/>
                </a:solidFill>
                <a:latin typeface="Segoe"/>
              </a:rPr>
              <a:t>cầu</a:t>
            </a:r>
            <a:r>
              <a:rPr sz="1100" b="1">
                <a:solidFill>
                  <a:srgbClr val="00F5C6"/>
                </a:solidFill>
                <a:latin typeface="Segoe"/>
              </a:rPr>
              <a:t> </a:t>
            </a:r>
            <a:r>
              <a:rPr sz="1100" b="1" err="1">
                <a:solidFill>
                  <a:srgbClr val="00F5C6"/>
                </a:solidFill>
                <a:latin typeface="Segoe"/>
              </a:rPr>
              <a:t>chính</a:t>
            </a:r>
            <a:endParaRPr lang="en-US" sz="1100">
              <a:latin typeface="Segoe"/>
            </a:endParaRPr>
          </a:p>
          <a:p>
            <a:pPr>
              <a:spcBef>
                <a:spcPts val="0"/>
              </a:spcBef>
              <a:spcAft>
                <a:spcPts val="0"/>
              </a:spcAft>
            </a:pP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thủ</a:t>
            </a:r>
            <a:r>
              <a:rPr sz="1100" b="0">
                <a:solidFill>
                  <a:srgbClr val="FFFFFF"/>
                </a:solidFill>
                <a:latin typeface="Segoe"/>
              </a:rPr>
              <a:t> </a:t>
            </a:r>
            <a:r>
              <a:rPr sz="1100" b="0" err="1">
                <a:solidFill>
                  <a:srgbClr val="FFFFFF"/>
                </a:solidFill>
                <a:latin typeface="Segoe"/>
              </a:rPr>
              <a:t>công</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qua AI
• Validation </a:t>
            </a:r>
            <a:r>
              <a:rPr sz="1100" b="0" err="1">
                <a:solidFill>
                  <a:srgbClr val="FFFFFF"/>
                </a:solidFill>
                <a:latin typeface="Segoe"/>
              </a:rPr>
              <a:t>thông</a:t>
            </a:r>
            <a:r>
              <a:rPr sz="1100" b="0">
                <a:solidFill>
                  <a:srgbClr val="FFFFFF"/>
                </a:solidFill>
                <a:latin typeface="Segoe"/>
              </a:rPr>
              <a:t> tin </a:t>
            </a:r>
            <a:r>
              <a:rPr sz="1100" b="0" err="1">
                <a:solidFill>
                  <a:srgbClr val="FFFFFF"/>
                </a:solidFill>
                <a:latin typeface="Segoe"/>
              </a:rPr>
              <a:t>khách</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 </a:t>
            </a:r>
            <a:r>
              <a:rPr sz="1100" b="0" err="1">
                <a:solidFill>
                  <a:srgbClr val="FFFFFF"/>
                </a:solidFill>
                <a:latin typeface="Segoe"/>
              </a:rPr>
              <a:t>Khóa</a:t>
            </a:r>
            <a:r>
              <a:rPr sz="1100" b="0">
                <a:solidFill>
                  <a:srgbClr val="FFFFFF"/>
                </a:solidFill>
                <a:latin typeface="Segoe"/>
              </a:rPr>
              <a:t> </a:t>
            </a:r>
            <a:r>
              <a:rPr sz="1100" b="0" err="1">
                <a:solidFill>
                  <a:srgbClr val="FFFFFF"/>
                </a:solidFill>
                <a:latin typeface="Segoe"/>
              </a:rPr>
              <a:t>khung</a:t>
            </a:r>
            <a:r>
              <a:rPr sz="1100" b="0">
                <a:solidFill>
                  <a:srgbClr val="FFFFFF"/>
                </a:solidFill>
                <a:latin typeface="Segoe"/>
              </a:rPr>
              <a:t> </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đã</a:t>
            </a:r>
            <a:r>
              <a:rPr sz="1100" b="0">
                <a:solidFill>
                  <a:srgbClr val="FFFFFF"/>
                </a:solidFill>
                <a:latin typeface="Segoe"/>
              </a:rPr>
              <a:t> qua/</a:t>
            </a:r>
            <a:r>
              <a:rPr sz="1100" b="0" err="1">
                <a:solidFill>
                  <a:srgbClr val="FFFFFF"/>
                </a:solidFill>
                <a:latin typeface="Segoe"/>
              </a:rPr>
              <a:t>đã</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bộ</a:t>
            </a:r>
            <a:r>
              <a:rPr sz="1100" b="0">
                <a:solidFill>
                  <a:srgbClr val="FFFFFF"/>
                </a:solidFill>
                <a:latin typeface="Segoe"/>
              </a:rPr>
              <a:t> </a:t>
            </a:r>
            <a:r>
              <a:rPr sz="1100" b="0" err="1">
                <a:solidFill>
                  <a:srgbClr val="FFFFFF"/>
                </a:solidFill>
                <a:latin typeface="Segoe"/>
              </a:rPr>
              <a:t>dữ</a:t>
            </a:r>
            <a:r>
              <a:rPr sz="1100" b="0">
                <a:solidFill>
                  <a:srgbClr val="FFFFFF"/>
                </a:solidFill>
                <a:latin typeface="Segoe"/>
              </a:rPr>
              <a:t> </a:t>
            </a:r>
            <a:r>
              <a:rPr sz="1100" b="0" err="1">
                <a:solidFill>
                  <a:srgbClr val="FFFFFF"/>
                </a:solidFill>
                <a:latin typeface="Segoe"/>
              </a:rPr>
              <a:t>liệu</a:t>
            </a:r>
            <a:r>
              <a:rPr sz="1100" b="0">
                <a:solidFill>
                  <a:srgbClr val="FFFFFF"/>
                </a:solidFill>
                <a:latin typeface="Segoe"/>
              </a:rPr>
              <a:t> Client ↔ Admin
•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thực</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trị</a:t>
            </a:r>
            <a:r>
              <a:rPr sz="1100" b="0">
                <a:solidFill>
                  <a:srgbClr val="FFFFFF"/>
                </a:solidFill>
                <a:latin typeface="Segoe"/>
              </a:rPr>
              <a:t>, </a:t>
            </a:r>
            <a:r>
              <a:rPr sz="1100" b="0" err="1">
                <a:solidFill>
                  <a:srgbClr val="FFFFFF"/>
                </a:solidFill>
                <a:latin typeface="Segoe"/>
              </a:rPr>
              <a:t>thống</a:t>
            </a:r>
            <a:r>
              <a:rPr sz="1100" b="0">
                <a:solidFill>
                  <a:srgbClr val="FFFFFF"/>
                </a:solidFill>
                <a:latin typeface="Segoe"/>
              </a:rPr>
              <a:t> </a:t>
            </a:r>
            <a:r>
              <a:rPr sz="1100" b="0" err="1">
                <a:solidFill>
                  <a:srgbClr val="FFFFFF"/>
                </a:solidFill>
                <a:latin typeface="Segoe"/>
              </a:rPr>
              <a:t>kê</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quản</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vận</a:t>
            </a:r>
            <a:r>
              <a:rPr sz="1100" b="0">
                <a:solidFill>
                  <a:srgbClr val="FFFFFF"/>
                </a:solidFill>
                <a:latin typeface="Segoe"/>
              </a:rPr>
              <a:t> </a:t>
            </a:r>
            <a:r>
              <a:rPr sz="1100" b="0" err="1">
                <a:solidFill>
                  <a:srgbClr val="FFFFFF"/>
                </a:solidFill>
                <a:latin typeface="Segoe"/>
              </a:rPr>
              <a:t>hành</a:t>
            </a:r>
            <a:endParaRPr sz="1100" b="0">
              <a:solidFill>
                <a:srgbClr val="FFFFFF"/>
              </a:solidFill>
              <a:latin typeface="Segoe"/>
            </a:endParaRPr>
          </a:p>
        </p:txBody>
      </p:sp>
      <p:pic>
        <p:nvPicPr>
          <p:cNvPr id="11" name="Picture 10"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4"/>
          <a:stretch>
            <a:fillRect/>
          </a:stretch>
        </p:blipFill>
        <p:spPr>
          <a:xfrm>
            <a:off x="10195560" y="91440"/>
            <a:ext cx="1783080" cy="594360"/>
          </a:xfrm>
          <a:prstGeom prst="rect">
            <a:avLst/>
          </a:prstGeom>
        </p:spPr>
      </p:pic>
      <p:pic>
        <p:nvPicPr>
          <p:cNvPr id="13" name="Picture 12">
            <a:extLst>
              <a:ext uri="{FF2B5EF4-FFF2-40B4-BE49-F238E27FC236}">
                <a16:creationId xmlns:a16="http://schemas.microsoft.com/office/drawing/2014/main" id="{876FCB72-976E-4B9C-9BCB-D5E318276C45}"/>
              </a:ext>
            </a:extLst>
          </p:cNvPr>
          <p:cNvPicPr>
            <a:picLocks noChangeAspect="1"/>
          </p:cNvPicPr>
          <p:nvPr/>
        </p:nvPicPr>
        <p:blipFill>
          <a:blip r:embed="rId5"/>
          <a:stretch>
            <a:fillRect/>
          </a:stretch>
        </p:blipFill>
        <p:spPr>
          <a:xfrm>
            <a:off x="685800" y="2966622"/>
            <a:ext cx="5133807" cy="2514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KIẾN TRÚC TỔNG THỂ &amp; LUỒNG DỮ LIỆU</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13806"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04</a:t>
            </a:r>
            <a:endParaRPr lang="en-US" sz="850"/>
          </a:p>
        </p:txBody>
      </p:sp>
      <p:sp>
        <p:nvSpPr>
          <p:cNvPr id="6" name="Shape 4"/>
          <p:cNvSpPr/>
          <p:nvPr/>
        </p:nvSpPr>
        <p:spPr>
          <a:xfrm>
            <a:off x="3244957" y="2743200"/>
            <a:ext cx="1234440" cy="0"/>
          </a:xfrm>
          <a:prstGeom prst="line">
            <a:avLst/>
          </a:prstGeom>
          <a:noFill/>
          <a:ln w="38100">
            <a:solidFill>
              <a:srgbClr val="F3C04E"/>
            </a:solidFill>
            <a:prstDash val="solid"/>
            <a:tailEnd type="triangle"/>
          </a:ln>
        </p:spPr>
        <p:txBody>
          <a:bodyPr/>
          <a:lstStyle/>
          <a:p>
            <a:endParaRPr/>
          </a:p>
        </p:txBody>
      </p:sp>
      <p:sp>
        <p:nvSpPr>
          <p:cNvPr id="7" name="Shape 5"/>
          <p:cNvSpPr/>
          <p:nvPr/>
        </p:nvSpPr>
        <p:spPr>
          <a:xfrm>
            <a:off x="7593030" y="2743200"/>
            <a:ext cx="1097280" cy="0"/>
          </a:xfrm>
          <a:prstGeom prst="line">
            <a:avLst/>
          </a:prstGeom>
          <a:noFill/>
          <a:ln w="38100">
            <a:solidFill>
              <a:srgbClr val="F3C04E"/>
            </a:solidFill>
            <a:prstDash val="solid"/>
            <a:tailEnd type="triangle"/>
          </a:ln>
        </p:spPr>
        <p:txBody>
          <a:bodyPr/>
          <a:lstStyle/>
          <a:p>
            <a:endParaRPr/>
          </a:p>
        </p:txBody>
      </p:sp>
      <p:sp>
        <p:nvSpPr>
          <p:cNvPr id="8" name="Shape 6"/>
          <p:cNvSpPr/>
          <p:nvPr/>
        </p:nvSpPr>
        <p:spPr>
          <a:xfrm>
            <a:off x="6096000" y="3703320"/>
            <a:ext cx="0" cy="464234"/>
          </a:xfrm>
          <a:prstGeom prst="line">
            <a:avLst/>
          </a:prstGeom>
          <a:noFill/>
          <a:ln w="38100">
            <a:solidFill>
              <a:srgbClr val="F3C04E"/>
            </a:solidFill>
            <a:prstDash val="solid"/>
            <a:tailEnd type="triangle"/>
          </a:ln>
        </p:spPr>
        <p:txBody>
          <a:bodyPr/>
          <a:lstStyle/>
          <a:p>
            <a:endParaRPr/>
          </a:p>
        </p:txBody>
      </p:sp>
      <p:sp>
        <p:nvSpPr>
          <p:cNvPr id="9" name="Text 7"/>
          <p:cNvSpPr/>
          <p:nvPr/>
        </p:nvSpPr>
        <p:spPr>
          <a:xfrm>
            <a:off x="685800" y="1920240"/>
            <a:ext cx="2468880" cy="16002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Frontend
</a:t>
            </a:r>
            <a:r>
              <a:rPr lang="en-US" sz="1100">
                <a:solidFill>
                  <a:srgbClr val="E9F4FF"/>
                </a:solidFill>
                <a:latin typeface="Segoe"/>
              </a:rPr>
              <a:t>HTML5 + CSS3 + JavaScript</a:t>
            </a:r>
            <a:endParaRPr lang="en-US" sz="1100">
              <a:latin typeface="Segoe"/>
            </a:endParaRPr>
          </a:p>
          <a:p>
            <a:r>
              <a:rPr lang="en-US" sz="1100">
                <a:solidFill>
                  <a:srgbClr val="E9F4FF"/>
                </a:solidFill>
                <a:latin typeface="Segoe"/>
              </a:rPr>
              <a:t>Tailwind CSS + Font Awesome</a:t>
            </a:r>
          </a:p>
          <a:p>
            <a:r>
              <a:rPr lang="en-US" sz="1100">
                <a:solidFill>
                  <a:srgbClr val="E9F4FF"/>
                </a:solidFill>
                <a:latin typeface="Segoe"/>
              </a:rPr>
              <a:t>Fetch API </a:t>
            </a:r>
            <a:r>
              <a:rPr lang="en-US" sz="1100" err="1">
                <a:solidFill>
                  <a:srgbClr val="E9F4FF"/>
                </a:solidFill>
                <a:latin typeface="Segoe"/>
              </a:rPr>
              <a:t>gọi</a:t>
            </a:r>
            <a:r>
              <a:rPr lang="en-US" sz="1100">
                <a:solidFill>
                  <a:srgbClr val="E9F4FF"/>
                </a:solidFill>
                <a:latin typeface="Segoe"/>
              </a:rPr>
              <a:t> REST API</a:t>
            </a:r>
          </a:p>
          <a:p>
            <a:r>
              <a:rPr lang="en-US" sz="1100">
                <a:solidFill>
                  <a:srgbClr val="E9F4FF"/>
                </a:solidFill>
                <a:latin typeface="Segoe"/>
              </a:rPr>
              <a:t>Python </a:t>
            </a:r>
            <a:r>
              <a:rPr lang="en-US" sz="1100" err="1">
                <a:solidFill>
                  <a:srgbClr val="E9F4FF"/>
                </a:solidFill>
                <a:latin typeface="Segoe"/>
              </a:rPr>
              <a:t>http.server</a:t>
            </a:r>
            <a:r>
              <a:rPr lang="en-US" sz="1100">
                <a:solidFill>
                  <a:srgbClr val="E9F4FF"/>
                </a:solidFill>
                <a:latin typeface="Segoe"/>
              </a:rPr>
              <a:t> (local)</a:t>
            </a:r>
            <a:endParaRPr lang="en-US" sz="1100">
              <a:latin typeface="Segoe"/>
            </a:endParaRPr>
          </a:p>
        </p:txBody>
      </p:sp>
      <p:sp>
        <p:nvSpPr>
          <p:cNvPr id="10" name="Text 8"/>
          <p:cNvSpPr/>
          <p:nvPr/>
        </p:nvSpPr>
        <p:spPr>
          <a:xfrm>
            <a:off x="4579620" y="1920240"/>
            <a:ext cx="2834640" cy="16002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Backend API
</a:t>
            </a:r>
            <a:r>
              <a:rPr lang="en-US" sz="1100">
                <a:solidFill>
                  <a:srgbClr val="E9F4FF"/>
                </a:solidFill>
                <a:latin typeface="Segoe"/>
              </a:rPr>
              <a:t>Python + FastAPI</a:t>
            </a:r>
            <a:endParaRPr lang="en-US" sz="1100">
              <a:latin typeface="Segoe"/>
            </a:endParaRPr>
          </a:p>
          <a:p>
            <a:r>
              <a:rPr lang="en-US" sz="1100">
                <a:solidFill>
                  <a:srgbClr val="E9F4FF"/>
                </a:solidFill>
                <a:latin typeface="Segoe"/>
              </a:rPr>
              <a:t>REST API </a:t>
            </a:r>
            <a:r>
              <a:rPr lang="en-US" sz="1100" err="1">
                <a:solidFill>
                  <a:srgbClr val="E9F4FF"/>
                </a:solidFill>
                <a:latin typeface="Segoe"/>
              </a:rPr>
              <a:t>chạy</a:t>
            </a:r>
            <a:r>
              <a:rPr lang="en-US" sz="1100">
                <a:solidFill>
                  <a:srgbClr val="E9F4FF"/>
                </a:solidFill>
                <a:latin typeface="Segoe"/>
              </a:rPr>
              <a:t> </a:t>
            </a:r>
            <a:r>
              <a:rPr lang="en-US" sz="1100" err="1">
                <a:solidFill>
                  <a:srgbClr val="E9F4FF"/>
                </a:solidFill>
                <a:latin typeface="Segoe"/>
              </a:rPr>
              <a:t>bằng</a:t>
            </a:r>
            <a:r>
              <a:rPr lang="en-US" sz="1100">
                <a:solidFill>
                  <a:srgbClr val="E9F4FF"/>
                </a:solidFill>
                <a:latin typeface="Segoe"/>
              </a:rPr>
              <a:t> </a:t>
            </a:r>
            <a:r>
              <a:rPr lang="en-US" sz="1100" err="1">
                <a:solidFill>
                  <a:srgbClr val="E9F4FF"/>
                </a:solidFill>
                <a:latin typeface="Segoe"/>
              </a:rPr>
              <a:t>Uvicorn</a:t>
            </a:r>
            <a:endParaRPr lang="en-US" sz="1100">
              <a:solidFill>
                <a:srgbClr val="E9F4FF"/>
              </a:solidFill>
              <a:latin typeface="Segoe"/>
            </a:endParaRPr>
          </a:p>
          <a:p>
            <a:r>
              <a:rPr lang="en-US" sz="1100" err="1">
                <a:solidFill>
                  <a:srgbClr val="E9F4FF"/>
                </a:solidFill>
                <a:latin typeface="Segoe"/>
              </a:rPr>
              <a:t>Pydantic</a:t>
            </a:r>
            <a:r>
              <a:rPr lang="en-US" sz="1100">
                <a:solidFill>
                  <a:srgbClr val="E9F4FF"/>
                </a:solidFill>
                <a:latin typeface="Segoe"/>
              </a:rPr>
              <a:t> validate </a:t>
            </a:r>
            <a:r>
              <a:rPr lang="en-US" sz="1100" err="1">
                <a:solidFill>
                  <a:srgbClr val="E9F4FF"/>
                </a:solidFill>
                <a:latin typeface="Segoe"/>
              </a:rPr>
              <a:t>dữ</a:t>
            </a:r>
            <a:r>
              <a:rPr lang="en-US" sz="1100">
                <a:solidFill>
                  <a:srgbClr val="E9F4FF"/>
                </a:solidFill>
                <a:latin typeface="Segoe"/>
              </a:rPr>
              <a:t> </a:t>
            </a:r>
            <a:r>
              <a:rPr lang="en-US" sz="1100" err="1">
                <a:solidFill>
                  <a:srgbClr val="E9F4FF"/>
                </a:solidFill>
                <a:latin typeface="Segoe"/>
              </a:rPr>
              <a:t>liệu</a:t>
            </a:r>
            <a:endParaRPr lang="en-US" sz="1100">
              <a:solidFill>
                <a:srgbClr val="E9F4FF"/>
              </a:solidFill>
              <a:latin typeface="Segoe"/>
            </a:endParaRPr>
          </a:p>
          <a:p>
            <a:r>
              <a:rPr lang="en-US" sz="1100">
                <a:solidFill>
                  <a:srgbClr val="E9F4FF"/>
                </a:solidFill>
                <a:latin typeface="Segoe"/>
              </a:rPr>
              <a:t>JWT Authentication + </a:t>
            </a:r>
            <a:r>
              <a:rPr lang="en-US" sz="1100" err="1">
                <a:solidFill>
                  <a:srgbClr val="E9F4FF"/>
                </a:solidFill>
                <a:latin typeface="Segoe"/>
              </a:rPr>
              <a:t>phân</a:t>
            </a:r>
            <a:r>
              <a:rPr lang="en-US" sz="1100">
                <a:solidFill>
                  <a:srgbClr val="E9F4FF"/>
                </a:solidFill>
                <a:latin typeface="Segoe"/>
              </a:rPr>
              <a:t> </a:t>
            </a:r>
            <a:r>
              <a:rPr lang="en-US" sz="1100" err="1">
                <a:solidFill>
                  <a:srgbClr val="E9F4FF"/>
                </a:solidFill>
                <a:latin typeface="Segoe"/>
              </a:rPr>
              <a:t>quyền</a:t>
            </a:r>
            <a:r>
              <a:rPr lang="en-US" sz="1100">
                <a:solidFill>
                  <a:srgbClr val="E9F4FF"/>
                </a:solidFill>
                <a:latin typeface="Segoe"/>
              </a:rPr>
              <a:t> Admin</a:t>
            </a:r>
            <a:endParaRPr lang="en-US" sz="1100">
              <a:latin typeface="Segoe"/>
            </a:endParaRPr>
          </a:p>
        </p:txBody>
      </p:sp>
      <p:sp>
        <p:nvSpPr>
          <p:cNvPr id="11" name="Text 9"/>
          <p:cNvSpPr/>
          <p:nvPr/>
        </p:nvSpPr>
        <p:spPr>
          <a:xfrm>
            <a:off x="8823960" y="1920240"/>
            <a:ext cx="2606040" cy="16002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lang="en-US" sz="1100" b="1">
                <a:solidFill>
                  <a:srgbClr val="00F5C6"/>
                </a:solidFill>
                <a:latin typeface="Segoe"/>
              </a:rPr>
              <a:t>Database</a:t>
            </a:r>
            <a:endParaRPr lang="en-US" sz="1100">
              <a:solidFill>
                <a:srgbClr val="E9F4FF"/>
              </a:solidFill>
              <a:latin typeface="Segoe"/>
            </a:endParaRPr>
          </a:p>
          <a:p>
            <a:pPr>
              <a:spcBef>
                <a:spcPts val="0"/>
              </a:spcBef>
              <a:spcAft>
                <a:spcPts val="0"/>
              </a:spcAft>
            </a:pPr>
            <a:r>
              <a:rPr lang="en-US" sz="1100" b="0">
                <a:solidFill>
                  <a:srgbClr val="FFFFFF"/>
                </a:solidFill>
                <a:latin typeface="Segoe"/>
              </a:rPr>
              <a:t>SQLite – file </a:t>
            </a:r>
            <a:r>
              <a:rPr lang="en-US" sz="1100" b="0" err="1">
                <a:solidFill>
                  <a:srgbClr val="FFFFFF"/>
                </a:solidFill>
                <a:latin typeface="Segoe"/>
              </a:rPr>
              <a:t>sfms.db</a:t>
            </a:r>
            <a:r>
              <a:rPr lang="en-US" sz="1100" b="0">
                <a:solidFill>
                  <a:srgbClr val="FFFFFF"/>
                </a:solidFill>
                <a:latin typeface="Segoe"/>
              </a:rPr>
              <a:t>
</a:t>
            </a:r>
            <a:r>
              <a:rPr lang="en-US" sz="1100" b="0" err="1">
                <a:solidFill>
                  <a:srgbClr val="FFFFFF"/>
                </a:solidFill>
                <a:latin typeface="Segoe"/>
              </a:rPr>
              <a:t>SQLAlchemy</a:t>
            </a:r>
            <a:r>
              <a:rPr lang="en-US" sz="1100" b="0">
                <a:solidFill>
                  <a:srgbClr val="FFFFFF"/>
                </a:solidFill>
                <a:latin typeface="Segoe"/>
              </a:rPr>
              <a:t> ORM
</a:t>
            </a:r>
            <a:r>
              <a:rPr lang="en-US" sz="1100" b="0" err="1">
                <a:solidFill>
                  <a:srgbClr val="FFFFFF"/>
                </a:solidFill>
                <a:latin typeface="Segoe"/>
              </a:rPr>
              <a:t>Bảng</a:t>
            </a:r>
            <a:r>
              <a:rPr lang="en-US" sz="1100" b="0">
                <a:solidFill>
                  <a:srgbClr val="FFFFFF"/>
                </a:solidFill>
                <a:latin typeface="Segoe"/>
              </a:rPr>
              <a:t> </a:t>
            </a:r>
            <a:r>
              <a:rPr lang="en-US" sz="1100" b="0" err="1">
                <a:solidFill>
                  <a:srgbClr val="FFFFFF"/>
                </a:solidFill>
                <a:latin typeface="Segoe"/>
              </a:rPr>
              <a:t>chính</a:t>
            </a:r>
            <a:r>
              <a:rPr lang="en-US" sz="1100" b="0">
                <a:solidFill>
                  <a:srgbClr val="FFFFFF"/>
                </a:solidFill>
                <a:latin typeface="Segoe"/>
              </a:rPr>
              <a:t>: users, courts, services, bookings, </a:t>
            </a:r>
            <a:r>
              <a:rPr lang="en-US" sz="1100" b="0" err="1">
                <a:solidFill>
                  <a:srgbClr val="FFFFFF"/>
                </a:solidFill>
                <a:latin typeface="Segoe"/>
              </a:rPr>
              <a:t>time_slots</a:t>
            </a:r>
            <a:r>
              <a:rPr lang="en-US" sz="1100" b="0">
                <a:solidFill>
                  <a:srgbClr val="FFFFFF"/>
                </a:solidFill>
                <a:latin typeface="Segoe"/>
              </a:rPr>
              <a:t>, </a:t>
            </a:r>
            <a:r>
              <a:rPr lang="en-US" sz="1100" b="0" err="1">
                <a:solidFill>
                  <a:srgbClr val="FFFFFF"/>
                </a:solidFill>
                <a:latin typeface="Segoe"/>
              </a:rPr>
              <a:t>booking_slots</a:t>
            </a:r>
            <a:r>
              <a:rPr lang="en-US" sz="1100" b="0">
                <a:solidFill>
                  <a:srgbClr val="FFFFFF"/>
                </a:solidFill>
                <a:latin typeface="Segoe"/>
              </a:rPr>
              <a:t>, </a:t>
            </a:r>
            <a:r>
              <a:rPr lang="en-US" sz="1100" b="0" err="1">
                <a:solidFill>
                  <a:srgbClr val="FFFFFF"/>
                </a:solidFill>
                <a:latin typeface="Segoe"/>
              </a:rPr>
              <a:t>booking_services</a:t>
            </a:r>
            <a:endParaRPr lang="en-US" sz="1100" b="0">
              <a:solidFill>
                <a:srgbClr val="FFFFFF"/>
              </a:solidFill>
              <a:latin typeface="Segoe"/>
            </a:endParaRPr>
          </a:p>
        </p:txBody>
      </p:sp>
      <p:sp>
        <p:nvSpPr>
          <p:cNvPr id="12" name="Text 10"/>
          <p:cNvSpPr/>
          <p:nvPr/>
        </p:nvSpPr>
        <p:spPr>
          <a:xfrm>
            <a:off x="4579620" y="4296508"/>
            <a:ext cx="2834640" cy="1471246"/>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Autofit/>
          </a:bodyPr>
          <a:lstStyle/>
          <a:p>
            <a:pPr>
              <a:spcBef>
                <a:spcPts val="0"/>
              </a:spcBef>
              <a:spcAft>
                <a:spcPts val="0"/>
              </a:spcAft>
            </a:pPr>
            <a:r>
              <a:rPr sz="1100" b="1">
                <a:solidFill>
                  <a:srgbClr val="00F5C6"/>
                </a:solidFill>
                <a:latin typeface="Segoe"/>
              </a:rPr>
              <a:t>AI Service</a:t>
            </a:r>
            <a:endParaRPr lang="en-US" sz="1100">
              <a:solidFill>
                <a:srgbClr val="E9F4FF"/>
              </a:solidFill>
              <a:latin typeface="Segoe"/>
            </a:endParaRPr>
          </a:p>
          <a:p>
            <a:pPr>
              <a:spcBef>
                <a:spcPts val="0"/>
              </a:spcBef>
              <a:spcAft>
                <a:spcPts val="0"/>
              </a:spcAft>
            </a:pPr>
            <a:r>
              <a:rPr sz="1100" b="0">
                <a:solidFill>
                  <a:srgbClr val="FFFFFF"/>
                </a:solidFill>
                <a:latin typeface="Segoe"/>
              </a:rPr>
              <a:t>Google Gemini API
Prompt Engineering + Intent Classification
Structured JSON Output
</a:t>
            </a:r>
            <a:r>
              <a:rPr sz="1100" b="0" err="1">
                <a:solidFill>
                  <a:srgbClr val="FFFFFF"/>
                </a:solidFill>
                <a:latin typeface="Segoe"/>
              </a:rPr>
              <a:t>Gợi</a:t>
            </a:r>
            <a:r>
              <a:rPr sz="1100" b="0">
                <a:solidFill>
                  <a:srgbClr val="FFFFFF"/>
                </a:solidFill>
                <a:latin typeface="Segoe"/>
              </a:rPr>
              <a:t> ý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chống</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trùng</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hỗ</a:t>
            </a:r>
            <a:r>
              <a:rPr sz="1100" b="0">
                <a:solidFill>
                  <a:srgbClr val="FFFFFF"/>
                </a:solidFill>
                <a:latin typeface="Segoe"/>
              </a:rPr>
              <a:t> </a:t>
            </a:r>
            <a:r>
              <a:rPr sz="1100" b="0" err="1">
                <a:solidFill>
                  <a:srgbClr val="FFFFFF"/>
                </a:solidFill>
                <a:latin typeface="Segoe"/>
              </a:rPr>
              <a:t>trợ</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nhận</a:t>
            </a:r>
            <a:r>
              <a:rPr sz="1100" b="0">
                <a:solidFill>
                  <a:srgbClr val="FFFFFF"/>
                </a:solidFill>
                <a:latin typeface="Segoe"/>
              </a:rPr>
              <a:t> booking</a:t>
            </a:r>
          </a:p>
        </p:txBody>
      </p:sp>
      <p:sp>
        <p:nvSpPr>
          <p:cNvPr id="13" name="Text 11"/>
          <p:cNvSpPr/>
          <p:nvPr/>
        </p:nvSpPr>
        <p:spPr>
          <a:xfrm>
            <a:off x="1371600" y="5897880"/>
            <a:ext cx="9418320" cy="292608"/>
          </a:xfrm>
          <a:prstGeom prst="roundRect">
            <a:avLst/>
          </a:prstGeom>
          <a:solidFill>
            <a:srgbClr val="08C391"/>
          </a:solidFill>
          <a:ln>
            <a:solidFill>
              <a:srgbClr val="08C391">
                <a:alpha val="90000"/>
              </a:srgbClr>
            </a:solidFill>
          </a:ln>
        </p:spPr>
        <p:txBody>
          <a:bodyPr wrap="square" lIns="254" tIns="254" rIns="254" bIns="254" rtlCol="0" anchor="ctr">
            <a:normAutofit/>
          </a:bodyPr>
          <a:lstStyle/>
          <a:p>
            <a:pPr algn="ctr"/>
            <a:r>
              <a:rPr sz="630" b="1" err="1">
                <a:solidFill>
                  <a:srgbClr val="051424"/>
                </a:solidFill>
                <a:latin typeface="Arial"/>
              </a:rPr>
              <a:t>Luồng</a:t>
            </a:r>
            <a:r>
              <a:rPr sz="630" b="1">
                <a:solidFill>
                  <a:srgbClr val="051424"/>
                </a:solidFill>
                <a:latin typeface="Arial"/>
              </a:rPr>
              <a:t> </a:t>
            </a:r>
            <a:r>
              <a:rPr sz="630" b="1" err="1">
                <a:solidFill>
                  <a:srgbClr val="051424"/>
                </a:solidFill>
                <a:latin typeface="Arial"/>
              </a:rPr>
              <a:t>chính</a:t>
            </a:r>
            <a:r>
              <a:rPr sz="630" b="1">
                <a:solidFill>
                  <a:srgbClr val="051424"/>
                </a:solidFill>
                <a:latin typeface="Arial"/>
              </a:rPr>
              <a:t>: Client/Admin → Fetch API → </a:t>
            </a:r>
            <a:r>
              <a:rPr sz="630" b="1" err="1">
                <a:solidFill>
                  <a:srgbClr val="051424"/>
                </a:solidFill>
                <a:latin typeface="Arial"/>
              </a:rPr>
              <a:t>FastAPI</a:t>
            </a:r>
            <a:r>
              <a:rPr sz="630" b="1">
                <a:solidFill>
                  <a:srgbClr val="051424"/>
                </a:solidFill>
                <a:latin typeface="Arial"/>
              </a:rPr>
              <a:t> REST API → </a:t>
            </a:r>
            <a:r>
              <a:rPr sz="630" b="1" err="1">
                <a:solidFill>
                  <a:srgbClr val="051424"/>
                </a:solidFill>
                <a:latin typeface="Arial"/>
              </a:rPr>
              <a:t>SQLAlchemy</a:t>
            </a:r>
            <a:r>
              <a:rPr sz="630" b="1">
                <a:solidFill>
                  <a:srgbClr val="051424"/>
                </a:solidFill>
                <a:latin typeface="Arial"/>
              </a:rPr>
              <a:t> ORM → SQLite;  </a:t>
            </a:r>
            <a:r>
              <a:rPr sz="630" b="1" err="1">
                <a:solidFill>
                  <a:srgbClr val="051424"/>
                </a:solidFill>
                <a:latin typeface="Arial"/>
              </a:rPr>
              <a:t>Luồng</a:t>
            </a:r>
            <a:r>
              <a:rPr sz="630" b="1">
                <a:solidFill>
                  <a:srgbClr val="051424"/>
                </a:solidFill>
                <a:latin typeface="Arial"/>
              </a:rPr>
              <a:t> AI: Client → </a:t>
            </a:r>
            <a:r>
              <a:rPr sz="630" b="1" err="1">
                <a:solidFill>
                  <a:srgbClr val="051424"/>
                </a:solidFill>
                <a:latin typeface="Arial"/>
              </a:rPr>
              <a:t>FastAPI</a:t>
            </a:r>
            <a:r>
              <a:rPr sz="630" b="1">
                <a:solidFill>
                  <a:srgbClr val="051424"/>
                </a:solidFill>
                <a:latin typeface="Arial"/>
              </a:rPr>
              <a:t> → AI Service → Gemini API → </a:t>
            </a:r>
            <a:r>
              <a:rPr sz="630" b="1" err="1">
                <a:solidFill>
                  <a:srgbClr val="051424"/>
                </a:solidFill>
                <a:latin typeface="Arial"/>
              </a:rPr>
              <a:t>kiểm</a:t>
            </a:r>
            <a:r>
              <a:rPr sz="630" b="1">
                <a:solidFill>
                  <a:srgbClr val="051424"/>
                </a:solidFill>
                <a:latin typeface="Arial"/>
              </a:rPr>
              <a:t> </a:t>
            </a:r>
            <a:r>
              <a:rPr sz="630" b="1" err="1">
                <a:solidFill>
                  <a:srgbClr val="051424"/>
                </a:solidFill>
                <a:latin typeface="Arial"/>
              </a:rPr>
              <a:t>tra</a:t>
            </a:r>
            <a:r>
              <a:rPr sz="630" b="1">
                <a:solidFill>
                  <a:srgbClr val="051424"/>
                </a:solidFill>
                <a:latin typeface="Arial"/>
              </a:rPr>
              <a:t> </a:t>
            </a:r>
            <a:r>
              <a:rPr sz="630" b="1" err="1">
                <a:solidFill>
                  <a:srgbClr val="051424"/>
                </a:solidFill>
                <a:latin typeface="Arial"/>
              </a:rPr>
              <a:t>dữ</a:t>
            </a:r>
            <a:r>
              <a:rPr sz="630" b="1">
                <a:solidFill>
                  <a:srgbClr val="051424"/>
                </a:solidFill>
                <a:latin typeface="Arial"/>
              </a:rPr>
              <a:t> </a:t>
            </a:r>
            <a:r>
              <a:rPr sz="630" b="1" err="1">
                <a:solidFill>
                  <a:srgbClr val="051424"/>
                </a:solidFill>
                <a:latin typeface="Arial"/>
              </a:rPr>
              <a:t>liệu</a:t>
            </a:r>
            <a:r>
              <a:rPr sz="630" b="1">
                <a:solidFill>
                  <a:srgbClr val="051424"/>
                </a:solidFill>
                <a:latin typeface="Arial"/>
              </a:rPr>
              <a:t> → </a:t>
            </a:r>
            <a:r>
              <a:rPr sz="630" b="1" err="1">
                <a:solidFill>
                  <a:srgbClr val="051424"/>
                </a:solidFill>
                <a:latin typeface="Arial"/>
              </a:rPr>
              <a:t>phản</a:t>
            </a:r>
            <a:r>
              <a:rPr sz="630" b="1">
                <a:solidFill>
                  <a:srgbClr val="051424"/>
                </a:solidFill>
                <a:latin typeface="Arial"/>
              </a:rPr>
              <a:t> </a:t>
            </a:r>
            <a:r>
              <a:rPr sz="630" b="1" err="1">
                <a:solidFill>
                  <a:srgbClr val="051424"/>
                </a:solidFill>
                <a:latin typeface="Arial"/>
              </a:rPr>
              <a:t>hồi</a:t>
            </a:r>
            <a:r>
              <a:rPr sz="630" b="1">
                <a:solidFill>
                  <a:srgbClr val="051424"/>
                </a:solidFill>
                <a:latin typeface="Arial"/>
              </a:rPr>
              <a:t>/booking</a:t>
            </a:r>
            <a:endParaRPr lang="en-US" sz="850"/>
          </a:p>
        </p:txBody>
      </p:sp>
      <p:pic>
        <p:nvPicPr>
          <p:cNvPr id="14" name="Picture 13"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5" name="Picture 14" descr="image.png"/>
          <p:cNvPicPr>
            <a:picLocks noChangeAspect="1"/>
          </p:cNvPicPr>
          <p:nvPr/>
        </p:nvPicPr>
        <p:blipFill>
          <a:blip r:embed="rId4"/>
          <a:stretch>
            <a:fillRect/>
          </a:stretch>
        </p:blipFill>
        <p:spPr>
          <a:xfrm>
            <a:off x="10195560" y="91440"/>
            <a:ext cx="1783080" cy="594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CÔNG NGHỆ &amp; THƯ VIỆN SỬ DỤNG</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05</a:t>
            </a:r>
            <a:endParaRPr lang="en-US" sz="850"/>
          </a:p>
        </p:txBody>
      </p:sp>
      <p:sp>
        <p:nvSpPr>
          <p:cNvPr id="6" name="Text 4"/>
          <p:cNvSpPr/>
          <p:nvPr/>
        </p:nvSpPr>
        <p:spPr>
          <a:xfrm>
            <a:off x="685800" y="1097280"/>
            <a:ext cx="333756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Backend Python
</a:t>
            </a:r>
            <a:r>
              <a:rPr lang="en-US" sz="1100">
                <a:solidFill>
                  <a:srgbClr val="E9F4FF"/>
                </a:solidFill>
                <a:latin typeface="Segoe"/>
              </a:rPr>
              <a:t>FastAPI: xây dựng API</a:t>
            </a:r>
            <a:endParaRPr lang="en-US" sz="1100">
              <a:latin typeface="Segoe"/>
            </a:endParaRPr>
          </a:p>
          <a:p>
            <a:pPr marL="0" indent="0">
              <a:buNone/>
            </a:pPr>
            <a:r>
              <a:rPr lang="en-US" sz="1100">
                <a:solidFill>
                  <a:srgbClr val="E9F4FF"/>
                </a:solidFill>
                <a:latin typeface="Segoe"/>
              </a:rPr>
              <a:t>Uvicorn: ASGI server</a:t>
            </a:r>
            <a:endParaRPr lang="en-US" sz="1100">
              <a:latin typeface="Segoe"/>
            </a:endParaRPr>
          </a:p>
          <a:p>
            <a:pPr marL="0" indent="0">
              <a:buNone/>
            </a:pPr>
            <a:r>
              <a:rPr lang="en-US" sz="1100">
                <a:solidFill>
                  <a:srgbClr val="E9F4FF"/>
                </a:solidFill>
                <a:latin typeface="Segoe"/>
              </a:rPr>
              <a:t>SQLAlchemy: ORM</a:t>
            </a:r>
            <a:endParaRPr lang="en-US" sz="1100">
              <a:latin typeface="Segoe"/>
            </a:endParaRPr>
          </a:p>
          <a:p>
            <a:pPr marL="0" indent="0">
              <a:buNone/>
            </a:pPr>
            <a:r>
              <a:rPr lang="en-US" sz="1100">
                <a:solidFill>
                  <a:srgbClr val="E9F4FF"/>
                </a:solidFill>
                <a:latin typeface="Segoe"/>
              </a:rPr>
              <a:t>Pydantic: schema/validation</a:t>
            </a:r>
            <a:endParaRPr lang="en-US" sz="1100">
              <a:latin typeface="Segoe"/>
            </a:endParaRPr>
          </a:p>
        </p:txBody>
      </p:sp>
      <p:sp>
        <p:nvSpPr>
          <p:cNvPr id="7" name="Text 5"/>
          <p:cNvSpPr/>
          <p:nvPr/>
        </p:nvSpPr>
        <p:spPr>
          <a:xfrm>
            <a:off x="4343400" y="1097280"/>
            <a:ext cx="333756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Segoe"/>
              </a:rPr>
              <a:t>Bảo</a:t>
            </a:r>
            <a:r>
              <a:rPr sz="1100" b="1">
                <a:solidFill>
                  <a:srgbClr val="00F5C6"/>
                </a:solidFill>
                <a:latin typeface="Segoe"/>
              </a:rPr>
              <a:t> </a:t>
            </a:r>
            <a:r>
              <a:rPr sz="1100" b="1" err="1">
                <a:solidFill>
                  <a:srgbClr val="00F5C6"/>
                </a:solidFill>
                <a:latin typeface="Segoe"/>
              </a:rPr>
              <a:t>mật</a:t>
            </a:r>
            <a:r>
              <a:rPr sz="1100" b="1">
                <a:solidFill>
                  <a:srgbClr val="00F5C6"/>
                </a:solidFill>
                <a:latin typeface="Segoe"/>
              </a:rPr>
              <a:t>, AI &amp; </a:t>
            </a:r>
            <a:r>
              <a:rPr sz="1100" b="1" err="1">
                <a:solidFill>
                  <a:srgbClr val="00F5C6"/>
                </a:solidFill>
                <a:latin typeface="Segoe"/>
              </a:rPr>
              <a:t>cấu</a:t>
            </a:r>
            <a:r>
              <a:rPr sz="1100" b="1">
                <a:solidFill>
                  <a:srgbClr val="00F5C6"/>
                </a:solidFill>
                <a:latin typeface="Segoe"/>
              </a:rPr>
              <a:t> </a:t>
            </a:r>
            <a:r>
              <a:rPr sz="1100" b="1" err="1">
                <a:solidFill>
                  <a:srgbClr val="00F5C6"/>
                </a:solidFill>
                <a:latin typeface="Segoe"/>
              </a:rPr>
              <a:t>hình</a:t>
            </a:r>
            <a:endParaRPr lang="en-US" sz="1100">
              <a:solidFill>
                <a:srgbClr val="E9F4FF"/>
              </a:solidFill>
              <a:latin typeface="Segoe"/>
            </a:endParaRPr>
          </a:p>
          <a:p>
            <a:pPr>
              <a:spcBef>
                <a:spcPts val="0"/>
              </a:spcBef>
              <a:spcAft>
                <a:spcPts val="0"/>
              </a:spcAft>
            </a:pPr>
            <a:r>
              <a:rPr sz="1100" b="0" err="1">
                <a:solidFill>
                  <a:srgbClr val="FFFFFF"/>
                </a:solidFill>
                <a:latin typeface="Segoe"/>
              </a:rPr>
              <a:t>PyJWT</a:t>
            </a:r>
            <a:r>
              <a:rPr sz="1100" b="0">
                <a:solidFill>
                  <a:srgbClr val="FFFFFF"/>
                </a:solidFill>
                <a:latin typeface="Segoe"/>
              </a:rPr>
              <a:t>: </a:t>
            </a:r>
            <a:r>
              <a:rPr sz="1100" b="0" err="1">
                <a:solidFill>
                  <a:srgbClr val="FFFFFF"/>
                </a:solidFill>
                <a:latin typeface="Segoe"/>
              </a:rPr>
              <a:t>tạo</a:t>
            </a:r>
            <a:r>
              <a:rPr sz="1100" b="0">
                <a:solidFill>
                  <a:srgbClr val="FFFFFF"/>
                </a:solidFill>
                <a:latin typeface="Segoe"/>
              </a:rPr>
              <a:t> access token
</a:t>
            </a:r>
            <a:r>
              <a:rPr sz="1100" b="0" err="1">
                <a:solidFill>
                  <a:srgbClr val="FFFFFF"/>
                </a:solidFill>
                <a:latin typeface="Segoe"/>
              </a:rPr>
              <a:t>Passlib</a:t>
            </a:r>
            <a:r>
              <a:rPr sz="1100" b="0">
                <a:solidFill>
                  <a:srgbClr val="FFFFFF"/>
                </a:solidFill>
                <a:latin typeface="Segoe"/>
              </a:rPr>
              <a:t> + </a:t>
            </a:r>
            <a:r>
              <a:rPr sz="1100" b="0" err="1">
                <a:solidFill>
                  <a:srgbClr val="FFFFFF"/>
                </a:solidFill>
                <a:latin typeface="Segoe"/>
              </a:rPr>
              <a:t>bcrypt</a:t>
            </a:r>
            <a:r>
              <a:rPr sz="1100" b="0">
                <a:solidFill>
                  <a:srgbClr val="FFFFFF"/>
                </a:solidFill>
                <a:latin typeface="Segoe"/>
              </a:rPr>
              <a:t>: hash </a:t>
            </a:r>
            <a:r>
              <a:rPr sz="1100" b="0" err="1">
                <a:solidFill>
                  <a:srgbClr val="FFFFFF"/>
                </a:solidFill>
                <a:latin typeface="Segoe"/>
              </a:rPr>
              <a:t>mật</a:t>
            </a:r>
            <a:r>
              <a:rPr sz="1100" b="0">
                <a:solidFill>
                  <a:srgbClr val="FFFFFF"/>
                </a:solidFill>
                <a:latin typeface="Segoe"/>
              </a:rPr>
              <a:t> </a:t>
            </a:r>
            <a:r>
              <a:rPr sz="1100" b="0" err="1">
                <a:solidFill>
                  <a:srgbClr val="FFFFFF"/>
                </a:solidFill>
                <a:latin typeface="Segoe"/>
              </a:rPr>
              <a:t>khẩu</a:t>
            </a:r>
            <a:r>
              <a:rPr sz="1100" b="0">
                <a:solidFill>
                  <a:srgbClr val="FFFFFF"/>
                </a:solidFill>
                <a:latin typeface="Segoe"/>
              </a:rPr>
              <a:t>
python-</a:t>
            </a:r>
            <a:r>
              <a:rPr sz="1100" b="0" err="1">
                <a:solidFill>
                  <a:srgbClr val="FFFFFF"/>
                </a:solidFill>
                <a:latin typeface="Segoe"/>
              </a:rPr>
              <a:t>dotenv</a:t>
            </a:r>
            <a:r>
              <a:rPr sz="1100" b="0">
                <a:solidFill>
                  <a:srgbClr val="FFFFFF"/>
                </a:solidFill>
                <a:latin typeface="Segoe"/>
              </a:rPr>
              <a:t>: </a:t>
            </a:r>
            <a:r>
              <a:rPr sz="1100" b="0" err="1">
                <a:solidFill>
                  <a:srgbClr val="FFFFFF"/>
                </a:solidFill>
                <a:latin typeface="Segoe"/>
              </a:rPr>
              <a:t>đọc</a:t>
            </a:r>
            <a:r>
              <a:rPr sz="1100" b="0">
                <a:solidFill>
                  <a:srgbClr val="FFFFFF"/>
                </a:solidFill>
                <a:latin typeface="Segoe"/>
              </a:rPr>
              <a:t> </a:t>
            </a:r>
            <a:r>
              <a:rPr sz="1100" b="0" err="1">
                <a:solidFill>
                  <a:srgbClr val="FFFFFF"/>
                </a:solidFill>
                <a:latin typeface="Segoe"/>
              </a:rPr>
              <a:t>biến</a:t>
            </a:r>
            <a:r>
              <a:rPr sz="1100" b="0">
                <a:solidFill>
                  <a:srgbClr val="FFFFFF"/>
                </a:solidFill>
                <a:latin typeface="Segoe"/>
              </a:rPr>
              <a:t> </a:t>
            </a:r>
            <a:r>
              <a:rPr sz="1100" b="0" err="1">
                <a:solidFill>
                  <a:srgbClr val="FFFFFF"/>
                </a:solidFill>
                <a:latin typeface="Segoe"/>
              </a:rPr>
              <a:t>môi</a:t>
            </a:r>
            <a:r>
              <a:rPr sz="1100" b="0">
                <a:solidFill>
                  <a:srgbClr val="FFFFFF"/>
                </a:solidFill>
                <a:latin typeface="Segoe"/>
              </a:rPr>
              <a:t> </a:t>
            </a:r>
            <a:r>
              <a:rPr sz="1100" b="0" err="1">
                <a:solidFill>
                  <a:srgbClr val="FFFFFF"/>
                </a:solidFill>
                <a:latin typeface="Segoe"/>
              </a:rPr>
              <a:t>trường</a:t>
            </a:r>
            <a:r>
              <a:rPr sz="1100" b="0">
                <a:solidFill>
                  <a:srgbClr val="FFFFFF"/>
                </a:solidFill>
                <a:latin typeface="Segoe"/>
              </a:rPr>
              <a:t>
requests: </a:t>
            </a:r>
            <a:r>
              <a:rPr sz="1100" b="0" err="1">
                <a:solidFill>
                  <a:srgbClr val="FFFFFF"/>
                </a:solidFill>
                <a:latin typeface="Segoe"/>
              </a:rPr>
              <a:t>gọi</a:t>
            </a:r>
            <a:r>
              <a:rPr sz="1100" b="0">
                <a:solidFill>
                  <a:srgbClr val="FFFFFF"/>
                </a:solidFill>
                <a:latin typeface="Segoe"/>
              </a:rPr>
              <a:t> Gemini API</a:t>
            </a:r>
          </a:p>
        </p:txBody>
      </p:sp>
      <p:sp>
        <p:nvSpPr>
          <p:cNvPr id="8" name="Text 6"/>
          <p:cNvSpPr/>
          <p:nvPr/>
        </p:nvSpPr>
        <p:spPr>
          <a:xfrm>
            <a:off x="8001000" y="1097280"/>
            <a:ext cx="333756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latin typeface="Segoe"/>
              </a:rPr>
              <a:t>Frontend &amp; giao tiếp
</a:t>
            </a:r>
            <a:r>
              <a:rPr lang="en-US" sz="1100">
                <a:solidFill>
                  <a:srgbClr val="E9F4FF"/>
                </a:solidFill>
                <a:latin typeface="Segoe"/>
              </a:rPr>
              <a:t>HTML/CSS/JavaScript </a:t>
            </a:r>
            <a:r>
              <a:rPr lang="en-US" sz="1100" err="1">
                <a:solidFill>
                  <a:srgbClr val="E9F4FF"/>
                </a:solidFill>
                <a:latin typeface="Segoe"/>
              </a:rPr>
              <a:t>thuần</a:t>
            </a:r>
            <a:endParaRPr lang="en-US" sz="1100">
              <a:solidFill>
                <a:srgbClr val="E9F4FF"/>
              </a:solidFill>
              <a:latin typeface="Segoe"/>
            </a:endParaRPr>
          </a:p>
          <a:p>
            <a:r>
              <a:rPr lang="en-US" sz="1100">
                <a:solidFill>
                  <a:srgbClr val="E9F4FF"/>
                </a:solidFill>
                <a:latin typeface="Segoe"/>
              </a:rPr>
              <a:t>Tailwind CSS + Font Awesome</a:t>
            </a:r>
          </a:p>
          <a:p>
            <a:r>
              <a:rPr lang="en-US" sz="1100">
                <a:solidFill>
                  <a:srgbClr val="E9F4FF"/>
                </a:solidFill>
                <a:latin typeface="Segoe"/>
              </a:rPr>
              <a:t>Fetch API </a:t>
            </a:r>
            <a:r>
              <a:rPr lang="en-US" sz="1100" err="1">
                <a:solidFill>
                  <a:srgbClr val="E9F4FF"/>
                </a:solidFill>
                <a:latin typeface="Segoe"/>
              </a:rPr>
              <a:t>gọi</a:t>
            </a:r>
            <a:r>
              <a:rPr lang="en-US" sz="1100">
                <a:solidFill>
                  <a:srgbClr val="E9F4FF"/>
                </a:solidFill>
                <a:latin typeface="Segoe"/>
              </a:rPr>
              <a:t> REST API</a:t>
            </a:r>
          </a:p>
          <a:p>
            <a:r>
              <a:rPr lang="en-US" sz="1100">
                <a:solidFill>
                  <a:srgbClr val="E9F4FF"/>
                </a:solidFill>
                <a:latin typeface="Segoe"/>
              </a:rPr>
              <a:t>Python </a:t>
            </a:r>
            <a:r>
              <a:rPr lang="en-US" sz="1100" err="1">
                <a:solidFill>
                  <a:srgbClr val="E9F4FF"/>
                </a:solidFill>
                <a:latin typeface="Segoe"/>
              </a:rPr>
              <a:t>http.server</a:t>
            </a:r>
            <a:r>
              <a:rPr lang="en-US" sz="1100">
                <a:solidFill>
                  <a:srgbClr val="E9F4FF"/>
                </a:solidFill>
                <a:latin typeface="Segoe"/>
              </a:rPr>
              <a:t> </a:t>
            </a:r>
            <a:r>
              <a:rPr lang="en-US" sz="1100" err="1">
                <a:solidFill>
                  <a:srgbClr val="E9F4FF"/>
                </a:solidFill>
                <a:latin typeface="Segoe"/>
              </a:rPr>
              <a:t>phục</a:t>
            </a:r>
            <a:r>
              <a:rPr lang="en-US" sz="1100">
                <a:solidFill>
                  <a:srgbClr val="E9F4FF"/>
                </a:solidFill>
                <a:latin typeface="Segoe"/>
              </a:rPr>
              <a:t> </a:t>
            </a:r>
            <a:r>
              <a:rPr lang="en-US" sz="1100" err="1">
                <a:solidFill>
                  <a:srgbClr val="E9F4FF"/>
                </a:solidFill>
                <a:latin typeface="Segoe"/>
              </a:rPr>
              <a:t>vụ</a:t>
            </a:r>
            <a:r>
              <a:rPr lang="en-US" sz="1100">
                <a:solidFill>
                  <a:srgbClr val="E9F4FF"/>
                </a:solidFill>
                <a:latin typeface="Segoe"/>
              </a:rPr>
              <a:t> file </a:t>
            </a:r>
            <a:r>
              <a:rPr lang="en-US" sz="1100" err="1">
                <a:solidFill>
                  <a:srgbClr val="E9F4FF"/>
                </a:solidFill>
                <a:latin typeface="Segoe"/>
              </a:rPr>
              <a:t>tĩnh</a:t>
            </a:r>
            <a:r>
              <a:rPr lang="en-US" sz="1100">
                <a:solidFill>
                  <a:srgbClr val="E9F4FF"/>
                </a:solidFill>
                <a:latin typeface="Segoe"/>
              </a:rPr>
              <a:t> </a:t>
            </a:r>
            <a:endParaRPr lang="en-US" sz="1100">
              <a:latin typeface="Segoe"/>
            </a:endParaRPr>
          </a:p>
        </p:txBody>
      </p:sp>
      <p:sp>
        <p:nvSpPr>
          <p:cNvPr id="9" name="Text 7"/>
          <p:cNvSpPr/>
          <p:nvPr/>
        </p:nvSpPr>
        <p:spPr>
          <a:xfrm>
            <a:off x="868680" y="3520440"/>
            <a:ext cx="4663440" cy="2148840"/>
          </a:xfrm>
          <a:prstGeom prst="rect">
            <a:avLst/>
          </a:prstGeom>
          <a:solidFill>
            <a:srgbClr val="04121F"/>
          </a:solidFill>
          <a:ln w="12700">
            <a:solidFill>
              <a:srgbClr val="24445C"/>
            </a:solidFill>
          </a:ln>
        </p:spPr>
        <p:txBody>
          <a:bodyPr wrap="square" lIns="1524" tIns="1524" rIns="1524" bIns="1524" rtlCol="0" anchor="ctr">
            <a:normAutofit/>
          </a:bodyPr>
          <a:lstStyle/>
          <a:p>
            <a:r>
              <a:rPr lang="en-US" sz="1400">
                <a:solidFill>
                  <a:srgbClr val="8292A2"/>
                </a:solidFill>
                <a:latin typeface="Consolas" pitchFamily="34" charset="0"/>
                <a:ea typeface="Consolas" pitchFamily="34" charset="-122"/>
                <a:cs typeface="Consolas" pitchFamily="34" charset="-120"/>
              </a:rPr>
              <a:t>1 </a:t>
            </a:r>
            <a:r>
              <a:rPr lang="en-US" sz="1400" err="1">
                <a:solidFill>
                  <a:srgbClr val="FFFFFF"/>
                </a:solidFill>
                <a:latin typeface="Consolas" pitchFamily="34" charset="0"/>
                <a:ea typeface="Consolas" pitchFamily="34" charset="-122"/>
                <a:cs typeface="Consolas" pitchFamily="34" charset="-120"/>
              </a:rPr>
              <a:t>fastapi</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2 </a:t>
            </a:r>
            <a:r>
              <a:rPr lang="en-US" sz="1400" err="1">
                <a:solidFill>
                  <a:srgbClr val="FFFFFF"/>
                </a:solidFill>
                <a:latin typeface="Consolas" pitchFamily="34" charset="0"/>
                <a:ea typeface="Consolas" pitchFamily="34" charset="-122"/>
                <a:cs typeface="Consolas" pitchFamily="34" charset="-120"/>
              </a:rPr>
              <a:t>uvicorn</a:t>
            </a:r>
            <a:r>
              <a:rPr lang="en-US" sz="1400">
                <a:solidFill>
                  <a:srgbClr val="F8F8F2"/>
                </a:solidFill>
                <a:latin typeface="Consolas" pitchFamily="34" charset="0"/>
                <a:ea typeface="Consolas" pitchFamily="34" charset="-122"/>
                <a:cs typeface="Consolas" pitchFamily="34" charset="-120"/>
              </a:rPr>
              <a:t>[</a:t>
            </a:r>
            <a:r>
              <a:rPr lang="en-US" sz="1400">
                <a:solidFill>
                  <a:srgbClr val="FFFFFF"/>
                </a:solidFill>
                <a:latin typeface="Consolas" pitchFamily="34" charset="0"/>
                <a:ea typeface="Consolas" pitchFamily="34" charset="-122"/>
                <a:cs typeface="Consolas" pitchFamily="34" charset="-120"/>
              </a:rPr>
              <a:t>standard</a:t>
            </a:r>
            <a:r>
              <a:rPr lang="en-US" sz="1400">
                <a:solidFill>
                  <a:srgbClr val="F8F8F2"/>
                </a:solidFill>
                <a:latin typeface="Consolas" pitchFamily="34" charset="0"/>
                <a:ea typeface="Consolas" pitchFamily="34" charset="-122"/>
                <a:cs typeface="Consolas" pitchFamily="34" charset="-120"/>
              </a:rPr>
              <a:t>]</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3 </a:t>
            </a:r>
            <a:r>
              <a:rPr lang="en-US" sz="1400" err="1">
                <a:solidFill>
                  <a:srgbClr val="FFFFFF"/>
                </a:solidFill>
                <a:latin typeface="Consolas" pitchFamily="34" charset="0"/>
                <a:ea typeface="Consolas" pitchFamily="34" charset="-122"/>
                <a:cs typeface="Consolas" pitchFamily="34" charset="-120"/>
              </a:rPr>
              <a:t>sqlalchemy</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4 </a:t>
            </a:r>
            <a:r>
              <a:rPr lang="en-US" sz="1400" err="1">
                <a:solidFill>
                  <a:srgbClr val="FFFFFF"/>
                </a:solidFill>
                <a:latin typeface="Consolas" pitchFamily="34" charset="0"/>
                <a:ea typeface="Consolas" pitchFamily="34" charset="-122"/>
                <a:cs typeface="Consolas" pitchFamily="34" charset="-120"/>
              </a:rPr>
              <a:t>pydantic</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5 </a:t>
            </a:r>
            <a:r>
              <a:rPr lang="en-US" sz="1400">
                <a:solidFill>
                  <a:srgbClr val="FFFFFF"/>
                </a:solidFill>
                <a:latin typeface="Consolas" pitchFamily="34" charset="0"/>
                <a:ea typeface="Consolas" pitchFamily="34" charset="-122"/>
                <a:cs typeface="Consolas" pitchFamily="34" charset="-120"/>
              </a:rPr>
              <a:t>python-</a:t>
            </a:r>
            <a:r>
              <a:rPr lang="en-US" sz="1400" err="1">
                <a:solidFill>
                  <a:srgbClr val="FFFFFF"/>
                </a:solidFill>
                <a:latin typeface="Consolas" pitchFamily="34" charset="0"/>
                <a:ea typeface="Consolas" pitchFamily="34" charset="-122"/>
                <a:cs typeface="Consolas" pitchFamily="34" charset="-120"/>
              </a:rPr>
              <a:t>dotenv</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6 </a:t>
            </a:r>
            <a:r>
              <a:rPr lang="en-US" sz="1400">
                <a:solidFill>
                  <a:srgbClr val="FFFFFF"/>
                </a:solidFill>
                <a:latin typeface="Consolas" pitchFamily="34" charset="0"/>
              </a:rPr>
              <a:t>requests</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7 </a:t>
            </a:r>
            <a:r>
              <a:rPr lang="en-US" sz="1400" err="1">
                <a:solidFill>
                  <a:srgbClr val="FFFFFF"/>
                </a:solidFill>
                <a:latin typeface="Consolas" pitchFamily="34" charset="0"/>
                <a:ea typeface="Consolas" pitchFamily="34" charset="-122"/>
                <a:cs typeface="Consolas" pitchFamily="34" charset="-120"/>
              </a:rPr>
              <a:t>passlib</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8 </a:t>
            </a:r>
            <a:r>
              <a:rPr lang="en-US" sz="1400" err="1">
                <a:solidFill>
                  <a:srgbClr val="FFFFFF"/>
                </a:solidFill>
                <a:latin typeface="Consolas" pitchFamily="34" charset="0"/>
                <a:ea typeface="Consolas" pitchFamily="34" charset="-122"/>
                <a:cs typeface="Consolas" pitchFamily="34" charset="-120"/>
              </a:rPr>
              <a:t>bcrypt</a:t>
            </a:r>
            <a:r>
              <a:rPr lang="en-US" sz="1400">
                <a:solidFill>
                  <a:srgbClr val="FFFFFF"/>
                </a:solidFill>
                <a:latin typeface="Consolas" pitchFamily="34" charset="0"/>
                <a:ea typeface="Consolas" pitchFamily="34" charset="-122"/>
                <a:cs typeface="Consolas" pitchFamily="34" charset="-120"/>
              </a:rPr>
              <a:t>
</a:t>
            </a:r>
            <a:r>
              <a:rPr lang="en-US" sz="1400">
                <a:solidFill>
                  <a:srgbClr val="8292A2"/>
                </a:solidFill>
                <a:latin typeface="Consolas" pitchFamily="34" charset="0"/>
                <a:ea typeface="Consolas" pitchFamily="34" charset="-122"/>
                <a:cs typeface="Consolas" pitchFamily="34" charset="-120"/>
              </a:rPr>
              <a:t>9 </a:t>
            </a:r>
            <a:r>
              <a:rPr lang="en-US" sz="1400" err="1">
                <a:solidFill>
                  <a:srgbClr val="FFFFFF"/>
                </a:solidFill>
                <a:latin typeface="Consolas" pitchFamily="34" charset="0"/>
                <a:ea typeface="Consolas" pitchFamily="34" charset="-122"/>
                <a:cs typeface="Consolas" pitchFamily="34" charset="-120"/>
              </a:rPr>
              <a:t>pyjwt</a:t>
            </a:r>
            <a:endParaRPr lang="en-US" sz="1400">
              <a:solidFill>
                <a:srgbClr val="FFFFFF"/>
              </a:solidFill>
              <a:latin typeface="Consolas" pitchFamily="34" charset="0"/>
              <a:ea typeface="Consolas" pitchFamily="34" charset="-122"/>
              <a:cs typeface="Consolas" pitchFamily="34" charset="-120"/>
            </a:endParaRPr>
          </a:p>
          <a:p>
            <a:r>
              <a:rPr lang="en-US" sz="1400">
                <a:solidFill>
                  <a:srgbClr val="8292A2"/>
                </a:solidFill>
                <a:latin typeface="Consolas" pitchFamily="34" charset="0"/>
              </a:rPr>
              <a:t>10 </a:t>
            </a:r>
            <a:r>
              <a:rPr lang="en-US" sz="1400">
                <a:solidFill>
                  <a:srgbClr val="FFFFFF"/>
                </a:solidFill>
                <a:latin typeface="Consolas" pitchFamily="34" charset="0"/>
                <a:ea typeface="Consolas" pitchFamily="34" charset="-122"/>
                <a:cs typeface="Consolas" pitchFamily="34" charset="-120"/>
              </a:rPr>
              <a:t>python-multipart </a:t>
            </a:r>
          </a:p>
        </p:txBody>
      </p:sp>
      <p:sp>
        <p:nvSpPr>
          <p:cNvPr id="10" name="Text 8"/>
          <p:cNvSpPr/>
          <p:nvPr/>
        </p:nvSpPr>
        <p:spPr>
          <a:xfrm>
            <a:off x="5989320" y="3520440"/>
            <a:ext cx="5349240" cy="214884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Segoe"/>
              </a:rPr>
              <a:t>Lý</a:t>
            </a:r>
            <a:r>
              <a:rPr sz="1100" b="1">
                <a:solidFill>
                  <a:srgbClr val="00F5C6"/>
                </a:solidFill>
                <a:latin typeface="Segoe"/>
              </a:rPr>
              <a:t> do </a:t>
            </a:r>
            <a:r>
              <a:rPr sz="1100" b="1" err="1">
                <a:solidFill>
                  <a:srgbClr val="00F5C6"/>
                </a:solidFill>
                <a:latin typeface="Segoe"/>
              </a:rPr>
              <a:t>lựa</a:t>
            </a:r>
            <a:r>
              <a:rPr sz="1100" b="1">
                <a:solidFill>
                  <a:srgbClr val="00F5C6"/>
                </a:solidFill>
                <a:latin typeface="Segoe"/>
              </a:rPr>
              <a:t> </a:t>
            </a:r>
            <a:r>
              <a:rPr sz="1100" b="1" err="1">
                <a:solidFill>
                  <a:srgbClr val="00F5C6"/>
                </a:solidFill>
                <a:latin typeface="Segoe"/>
              </a:rPr>
              <a:t>chọn</a:t>
            </a:r>
            <a:r>
              <a:rPr sz="1100" b="1">
                <a:solidFill>
                  <a:srgbClr val="00F5C6"/>
                </a:solidFill>
                <a:latin typeface="Segoe"/>
              </a:rPr>
              <a:t> </a:t>
            </a:r>
            <a:r>
              <a:rPr sz="1100" b="1" err="1">
                <a:solidFill>
                  <a:srgbClr val="00F5C6"/>
                </a:solidFill>
                <a:latin typeface="Segoe"/>
              </a:rPr>
              <a:t>công</a:t>
            </a:r>
            <a:r>
              <a:rPr sz="1100" b="1">
                <a:solidFill>
                  <a:srgbClr val="00F5C6"/>
                </a:solidFill>
                <a:latin typeface="Segoe"/>
              </a:rPr>
              <a:t> </a:t>
            </a:r>
            <a:r>
              <a:rPr sz="1100" b="1" err="1">
                <a:solidFill>
                  <a:srgbClr val="00F5C6"/>
                </a:solidFill>
                <a:latin typeface="Segoe"/>
              </a:rPr>
              <a:t>nghệ</a:t>
            </a:r>
            <a:endParaRPr lang="en-US" sz="1100">
              <a:latin typeface="Segoe"/>
            </a:endParaRPr>
          </a:p>
          <a:p>
            <a:pPr>
              <a:spcBef>
                <a:spcPts val="0"/>
              </a:spcBef>
              <a:spcAft>
                <a:spcPts val="0"/>
              </a:spcAft>
            </a:pPr>
            <a:r>
              <a:rPr sz="1100" b="0">
                <a:solidFill>
                  <a:srgbClr val="FFFFFF"/>
                </a:solidFill>
                <a:latin typeface="Segoe"/>
              </a:rPr>
              <a:t>Stack </a:t>
            </a:r>
            <a:r>
              <a:rPr sz="1100" b="0" err="1">
                <a:solidFill>
                  <a:srgbClr val="FFFFFF"/>
                </a:solidFill>
                <a:latin typeface="Segoe"/>
              </a:rPr>
              <a:t>gọn</a:t>
            </a:r>
            <a:r>
              <a:rPr sz="1100" b="0">
                <a:solidFill>
                  <a:srgbClr val="FFFFFF"/>
                </a:solidFill>
                <a:latin typeface="Segoe"/>
              </a:rPr>
              <a:t>, </a:t>
            </a:r>
            <a:r>
              <a:rPr sz="1100" b="0" err="1">
                <a:solidFill>
                  <a:srgbClr val="FFFFFF"/>
                </a:solidFill>
                <a:latin typeface="Segoe"/>
              </a:rPr>
              <a:t>dễ</a:t>
            </a:r>
            <a:r>
              <a:rPr sz="1100" b="0">
                <a:solidFill>
                  <a:srgbClr val="FFFFFF"/>
                </a:solidFill>
                <a:latin typeface="Segoe"/>
              </a:rPr>
              <a:t> </a:t>
            </a:r>
            <a:r>
              <a:rPr sz="1100" b="0" err="1">
                <a:solidFill>
                  <a:srgbClr val="FFFFFF"/>
                </a:solidFill>
                <a:latin typeface="Segoe"/>
              </a:rPr>
              <a:t>cài</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phù</a:t>
            </a:r>
            <a:r>
              <a:rPr sz="1100" b="0">
                <a:solidFill>
                  <a:srgbClr val="FFFFFF"/>
                </a:solidFill>
                <a:latin typeface="Segoe"/>
              </a:rPr>
              <a:t> </a:t>
            </a:r>
            <a:r>
              <a:rPr sz="1100" b="0" err="1">
                <a:solidFill>
                  <a:srgbClr val="FFFFFF"/>
                </a:solidFill>
                <a:latin typeface="Segoe"/>
              </a:rPr>
              <a:t>hợp</a:t>
            </a:r>
            <a:r>
              <a:rPr sz="1100" b="0">
                <a:solidFill>
                  <a:srgbClr val="FFFFFF"/>
                </a:solidFill>
                <a:latin typeface="Segoe"/>
              </a:rPr>
              <a:t> demo local. </a:t>
            </a:r>
            <a:r>
              <a:rPr sz="1100" b="0" err="1">
                <a:solidFill>
                  <a:srgbClr val="FFFFFF"/>
                </a:solidFill>
                <a:latin typeface="Segoe"/>
              </a:rPr>
              <a:t>FastAPI</a:t>
            </a:r>
            <a:r>
              <a:rPr sz="1100" b="0">
                <a:solidFill>
                  <a:srgbClr val="FFFFFF"/>
                </a:solidFill>
                <a:latin typeface="Segoe"/>
              </a:rPr>
              <a:t> </a:t>
            </a:r>
            <a:r>
              <a:rPr sz="1100" b="0" err="1">
                <a:solidFill>
                  <a:srgbClr val="FFFFFF"/>
                </a:solidFill>
                <a:latin typeface="Segoe"/>
              </a:rPr>
              <a:t>giúp</a:t>
            </a:r>
            <a:r>
              <a:rPr sz="1100" b="0">
                <a:solidFill>
                  <a:srgbClr val="FFFFFF"/>
                </a:solidFill>
                <a:latin typeface="Segoe"/>
              </a:rPr>
              <a:t> </a:t>
            </a:r>
            <a:r>
              <a:rPr sz="1100" b="0" err="1">
                <a:solidFill>
                  <a:srgbClr val="FFFFFF"/>
                </a:solidFill>
                <a:latin typeface="Segoe"/>
              </a:rPr>
              <a:t>xây</a:t>
            </a:r>
            <a:r>
              <a:rPr sz="1100" b="0">
                <a:solidFill>
                  <a:srgbClr val="FFFFFF"/>
                </a:solidFill>
                <a:latin typeface="Segoe"/>
              </a:rPr>
              <a:t> </a:t>
            </a:r>
            <a:r>
              <a:rPr sz="1100" b="0" err="1">
                <a:solidFill>
                  <a:srgbClr val="FFFFFF"/>
                </a:solidFill>
                <a:latin typeface="Segoe"/>
              </a:rPr>
              <a:t>dựng</a:t>
            </a:r>
            <a:r>
              <a:rPr sz="1100" b="0">
                <a:solidFill>
                  <a:srgbClr val="FFFFFF"/>
                </a:solidFill>
                <a:latin typeface="Segoe"/>
              </a:rPr>
              <a:t> REST API </a:t>
            </a:r>
            <a:r>
              <a:rPr sz="1100" b="0" err="1">
                <a:solidFill>
                  <a:srgbClr val="FFFFFF"/>
                </a:solidFill>
                <a:latin typeface="Segoe"/>
              </a:rPr>
              <a:t>nhanh</a:t>
            </a:r>
            <a:r>
              <a:rPr sz="1100" b="0">
                <a:solidFill>
                  <a:srgbClr val="FFFFFF"/>
                </a:solidFill>
                <a:latin typeface="Segoe"/>
              </a:rPr>
              <a:t>; SQLite + </a:t>
            </a:r>
            <a:r>
              <a:rPr sz="1100" b="0" err="1">
                <a:solidFill>
                  <a:srgbClr val="FFFFFF"/>
                </a:solidFill>
                <a:latin typeface="Segoe"/>
              </a:rPr>
              <a:t>SQLAlchemy</a:t>
            </a:r>
            <a:r>
              <a:rPr sz="1100" b="0">
                <a:solidFill>
                  <a:srgbClr val="FFFFFF"/>
                </a:solidFill>
                <a:latin typeface="Segoe"/>
              </a:rPr>
              <a:t> </a:t>
            </a:r>
            <a:r>
              <a:rPr sz="1100" b="0" err="1">
                <a:solidFill>
                  <a:srgbClr val="FFFFFF"/>
                </a:solidFill>
                <a:latin typeface="Segoe"/>
              </a:rPr>
              <a:t>hỗ</a:t>
            </a:r>
            <a:r>
              <a:rPr sz="1100" b="0">
                <a:solidFill>
                  <a:srgbClr val="FFFFFF"/>
                </a:solidFill>
                <a:latin typeface="Segoe"/>
              </a:rPr>
              <a:t> </a:t>
            </a:r>
            <a:r>
              <a:rPr sz="1100" b="0" err="1">
                <a:solidFill>
                  <a:srgbClr val="FFFFFF"/>
                </a:solidFill>
                <a:latin typeface="Segoe"/>
              </a:rPr>
              <a:t>trợ</a:t>
            </a:r>
            <a:r>
              <a:rPr sz="1100" b="0">
                <a:solidFill>
                  <a:srgbClr val="FFFFFF"/>
                </a:solidFill>
                <a:latin typeface="Segoe"/>
              </a:rPr>
              <a:t> </a:t>
            </a:r>
            <a:r>
              <a:rPr sz="1100" b="0" err="1">
                <a:solidFill>
                  <a:srgbClr val="FFFFFF"/>
                </a:solidFill>
                <a:latin typeface="Segoe"/>
              </a:rPr>
              <a:t>lưu</a:t>
            </a:r>
            <a:r>
              <a:rPr sz="1100" b="0">
                <a:solidFill>
                  <a:srgbClr val="FFFFFF"/>
                </a:solidFill>
                <a:latin typeface="Segoe"/>
              </a:rPr>
              <a:t> </a:t>
            </a:r>
            <a:r>
              <a:rPr sz="1100" b="0" err="1">
                <a:solidFill>
                  <a:srgbClr val="FFFFFF"/>
                </a:solidFill>
                <a:latin typeface="Segoe"/>
              </a:rPr>
              <a:t>trữ</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 </a:t>
            </a:r>
            <a:r>
              <a:rPr sz="1100" b="0" err="1">
                <a:solidFill>
                  <a:srgbClr val="FFFFFF"/>
                </a:solidFill>
                <a:latin typeface="Segoe"/>
              </a:rPr>
              <a:t>giản</a:t>
            </a:r>
            <a:r>
              <a:rPr sz="1100" b="0">
                <a:solidFill>
                  <a:srgbClr val="FFFFFF"/>
                </a:solidFill>
                <a:latin typeface="Segoe"/>
              </a:rPr>
              <a:t>; Gemini API </a:t>
            </a:r>
            <a:r>
              <a:rPr sz="1100" b="0" err="1">
                <a:solidFill>
                  <a:srgbClr val="FFFFFF"/>
                </a:solidFill>
                <a:latin typeface="Segoe"/>
              </a:rPr>
              <a:t>giúp</a:t>
            </a:r>
            <a:r>
              <a:rPr sz="1100" b="0">
                <a:solidFill>
                  <a:srgbClr val="FFFFFF"/>
                </a:solidFill>
                <a:latin typeface="Segoe"/>
              </a:rPr>
              <a:t> </a:t>
            </a:r>
            <a:r>
              <a:rPr sz="1100" b="0" err="1">
                <a:solidFill>
                  <a:srgbClr val="FFFFFF"/>
                </a:solidFill>
                <a:latin typeface="Segoe"/>
              </a:rPr>
              <a:t>bổ</a:t>
            </a:r>
            <a:r>
              <a:rPr sz="1100" b="0">
                <a:solidFill>
                  <a:srgbClr val="FFFFFF"/>
                </a:solidFill>
                <a:latin typeface="Segoe"/>
              </a:rPr>
              <a:t> sung </a:t>
            </a:r>
            <a:r>
              <a:rPr sz="1100" b="0" err="1">
                <a:solidFill>
                  <a:srgbClr val="FFFFFF"/>
                </a:solidFill>
                <a:latin typeface="Segoe"/>
              </a:rPr>
              <a:t>trải</a:t>
            </a:r>
            <a:r>
              <a:rPr sz="1100" b="0">
                <a:solidFill>
                  <a:srgbClr val="FFFFFF"/>
                </a:solidFill>
                <a:latin typeface="Segoe"/>
              </a:rPr>
              <a:t> </a:t>
            </a:r>
            <a:r>
              <a:rPr sz="1100" b="0" err="1">
                <a:solidFill>
                  <a:srgbClr val="FFFFFF"/>
                </a:solidFill>
                <a:latin typeface="Segoe"/>
              </a:rPr>
              <a:t>nghiệm</a:t>
            </a:r>
            <a:r>
              <a:rPr sz="1100" b="0">
                <a:solidFill>
                  <a:srgbClr val="FFFFFF"/>
                </a:solidFill>
                <a:latin typeface="Segoe"/>
              </a:rPr>
              <a:t> </a:t>
            </a:r>
            <a:r>
              <a:rPr sz="1100" b="0" err="1">
                <a:solidFill>
                  <a:srgbClr val="FFFFFF"/>
                </a:solidFill>
                <a:latin typeface="Segoe"/>
              </a:rPr>
              <a:t>tư</a:t>
            </a:r>
            <a:r>
              <a:rPr sz="1100" b="0">
                <a:solidFill>
                  <a:srgbClr val="FFFFFF"/>
                </a:solidFill>
                <a:latin typeface="Segoe"/>
              </a:rPr>
              <a:t> </a:t>
            </a:r>
            <a:r>
              <a:rPr sz="1100" b="0" err="1">
                <a:solidFill>
                  <a:srgbClr val="FFFFFF"/>
                </a:solidFill>
                <a:latin typeface="Segoe"/>
              </a:rPr>
              <a:t>vấn</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bằng</a:t>
            </a:r>
            <a:r>
              <a:rPr sz="1100" b="0">
                <a:solidFill>
                  <a:srgbClr val="FFFFFF"/>
                </a:solidFill>
                <a:latin typeface="Segoe"/>
              </a:rPr>
              <a:t> </a:t>
            </a:r>
            <a:r>
              <a:rPr sz="1100" b="0" err="1">
                <a:solidFill>
                  <a:srgbClr val="FFFFFF"/>
                </a:solidFill>
                <a:latin typeface="Segoe"/>
              </a:rPr>
              <a:t>ngôn</a:t>
            </a:r>
            <a:r>
              <a:rPr sz="1100" b="0">
                <a:solidFill>
                  <a:srgbClr val="FFFFFF"/>
                </a:solidFill>
                <a:latin typeface="Segoe"/>
              </a:rPr>
              <a:t> </a:t>
            </a:r>
            <a:r>
              <a:rPr sz="1100" b="0" err="1">
                <a:solidFill>
                  <a:srgbClr val="FFFFFF"/>
                </a:solidFill>
                <a:latin typeface="Segoe"/>
              </a:rPr>
              <a:t>ngữ</a:t>
            </a:r>
            <a:r>
              <a:rPr sz="1100" b="0">
                <a:solidFill>
                  <a:srgbClr val="FFFFFF"/>
                </a:solidFill>
                <a:latin typeface="Segoe"/>
              </a:rPr>
              <a:t> </a:t>
            </a:r>
            <a:r>
              <a:rPr sz="1100" b="0" err="1">
                <a:solidFill>
                  <a:srgbClr val="FFFFFF"/>
                </a:solidFill>
                <a:latin typeface="Segoe"/>
              </a:rPr>
              <a:t>tự</a:t>
            </a:r>
            <a:r>
              <a:rPr sz="1100" b="0">
                <a:solidFill>
                  <a:srgbClr val="FFFFFF"/>
                </a:solidFill>
                <a:latin typeface="Segoe"/>
              </a:rPr>
              <a:t> </a:t>
            </a:r>
            <a:r>
              <a:rPr sz="1100" b="0" err="1">
                <a:solidFill>
                  <a:srgbClr val="FFFFFF"/>
                </a:solidFill>
                <a:latin typeface="Segoe"/>
              </a:rPr>
              <a:t>nhiên</a:t>
            </a:r>
            <a:r>
              <a:rPr sz="1100" b="0">
                <a:solidFill>
                  <a:srgbClr val="FFFFFF"/>
                </a:solidFill>
                <a:latin typeface="Segoe"/>
              </a:rPr>
              <a:t>.</a:t>
            </a:r>
          </a:p>
        </p:txBody>
      </p:sp>
      <p:pic>
        <p:nvPicPr>
          <p:cNvPr id="11" name="Picture 10"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4"/>
          <a:stretch>
            <a:fillRect/>
          </a:stretch>
        </p:blipFill>
        <p:spPr>
          <a:xfrm>
            <a:off x="10195560" y="91440"/>
            <a:ext cx="1783080" cy="594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DATA MODEL (DM) &amp; CƠ SỞ DỮ LIỆU</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06</a:t>
            </a:r>
            <a:endParaRPr lang="en-US" sz="850"/>
          </a:p>
        </p:txBody>
      </p:sp>
      <p:sp>
        <p:nvSpPr>
          <p:cNvPr id="6" name="Shape 4"/>
          <p:cNvSpPr/>
          <p:nvPr/>
        </p:nvSpPr>
        <p:spPr>
          <a:xfrm flipH="1">
            <a:off x="5602877" y="2321707"/>
            <a:ext cx="0" cy="298049"/>
          </a:xfrm>
          <a:prstGeom prst="line">
            <a:avLst/>
          </a:prstGeom>
          <a:noFill/>
          <a:ln w="22860">
            <a:solidFill>
              <a:srgbClr val="F3C04E"/>
            </a:solidFill>
            <a:prstDash val="solid"/>
            <a:tailEnd type="triangle"/>
          </a:ln>
        </p:spPr>
        <p:txBody>
          <a:bodyPr/>
          <a:lstStyle/>
          <a:p>
            <a:endParaRPr/>
          </a:p>
        </p:txBody>
      </p:sp>
      <p:sp>
        <p:nvSpPr>
          <p:cNvPr id="7" name="Shape 5"/>
          <p:cNvSpPr/>
          <p:nvPr/>
        </p:nvSpPr>
        <p:spPr>
          <a:xfrm flipV="1">
            <a:off x="7219399" y="1737360"/>
            <a:ext cx="693421" cy="0"/>
          </a:xfrm>
          <a:prstGeom prst="line">
            <a:avLst/>
          </a:prstGeom>
          <a:noFill/>
          <a:ln w="22860">
            <a:solidFill>
              <a:srgbClr val="F3C04E"/>
            </a:solidFill>
            <a:prstDash val="solid"/>
            <a:tailEnd type="triangle"/>
          </a:ln>
        </p:spPr>
        <p:txBody>
          <a:bodyPr/>
          <a:lstStyle/>
          <a:p>
            <a:endParaRPr/>
          </a:p>
        </p:txBody>
      </p:sp>
      <p:sp>
        <p:nvSpPr>
          <p:cNvPr id="8" name="Shape 6"/>
          <p:cNvSpPr/>
          <p:nvPr/>
        </p:nvSpPr>
        <p:spPr>
          <a:xfrm flipH="1" flipV="1">
            <a:off x="5256167" y="3141825"/>
            <a:ext cx="693421" cy="0"/>
          </a:xfrm>
          <a:prstGeom prst="line">
            <a:avLst/>
          </a:prstGeom>
          <a:noFill/>
          <a:ln w="22860">
            <a:solidFill>
              <a:srgbClr val="F3C04E"/>
            </a:solidFill>
            <a:prstDash val="solid"/>
            <a:tailEnd type="triangle"/>
          </a:ln>
        </p:spPr>
        <p:txBody>
          <a:bodyPr/>
          <a:lstStyle/>
          <a:p>
            <a:endParaRPr/>
          </a:p>
        </p:txBody>
      </p:sp>
      <p:sp>
        <p:nvSpPr>
          <p:cNvPr id="10" name="Text 8"/>
          <p:cNvSpPr/>
          <p:nvPr/>
        </p:nvSpPr>
        <p:spPr>
          <a:xfrm>
            <a:off x="685800" y="1234440"/>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users
</a:t>
            </a:r>
            <a:r>
              <a:rPr lang="en-US" sz="1100">
                <a:solidFill>
                  <a:srgbClr val="E9F4FF"/>
                </a:solidFill>
                <a:latin typeface="Segoe"/>
              </a:rPr>
              <a:t>Tài khoản admin, mật khẩu đã hash, trạng thái và quyền quản trị.</a:t>
            </a:r>
            <a:endParaRPr lang="en-US" sz="1100">
              <a:latin typeface="Segoe"/>
            </a:endParaRPr>
          </a:p>
        </p:txBody>
      </p:sp>
      <p:sp>
        <p:nvSpPr>
          <p:cNvPr id="11" name="Text 9"/>
          <p:cNvSpPr/>
          <p:nvPr/>
        </p:nvSpPr>
        <p:spPr>
          <a:xfrm>
            <a:off x="4505597" y="1234440"/>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courts
</a:t>
            </a:r>
            <a:r>
              <a:rPr lang="en-US" sz="1100">
                <a:solidFill>
                  <a:srgbClr val="E9F4FF"/>
                </a:solidFill>
                <a:latin typeface="Segoe"/>
              </a:rPr>
              <a:t>Sân, loại sân, giá/giờ, trạng thái hoạt động.</a:t>
            </a:r>
            <a:endParaRPr lang="en-US" sz="1100">
              <a:latin typeface="Segoe"/>
            </a:endParaRPr>
          </a:p>
        </p:txBody>
      </p:sp>
      <p:sp>
        <p:nvSpPr>
          <p:cNvPr id="12" name="Text 10"/>
          <p:cNvSpPr/>
          <p:nvPr/>
        </p:nvSpPr>
        <p:spPr>
          <a:xfrm>
            <a:off x="8535486" y="1214085"/>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time_slots
</a:t>
            </a:r>
            <a:r>
              <a:rPr lang="en-US" sz="1100">
                <a:solidFill>
                  <a:srgbClr val="E9F4FF"/>
                </a:solidFill>
                <a:latin typeface="Segoe"/>
              </a:rPr>
              <a:t>Khung giờ bắt đầu/kết thúc phục vụ lịch đặt.</a:t>
            </a:r>
            <a:endParaRPr lang="en-US" sz="1100">
              <a:latin typeface="Segoe"/>
            </a:endParaRPr>
          </a:p>
        </p:txBody>
      </p:sp>
      <p:sp>
        <p:nvSpPr>
          <p:cNvPr id="13" name="Text 11"/>
          <p:cNvSpPr/>
          <p:nvPr/>
        </p:nvSpPr>
        <p:spPr>
          <a:xfrm>
            <a:off x="4505597" y="4324461"/>
            <a:ext cx="2194560" cy="10058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services
</a:t>
            </a:r>
            <a:r>
              <a:rPr lang="en-US" sz="1100">
                <a:solidFill>
                  <a:srgbClr val="E9F4FF"/>
                </a:solidFill>
                <a:latin typeface="Segoe"/>
              </a:rPr>
              <a:t>Dịch vụ, đơn vị tính, đơn giá, đang cung cấp.</a:t>
            </a:r>
            <a:endParaRPr lang="en-US" sz="1100">
              <a:latin typeface="Segoe"/>
            </a:endParaRPr>
          </a:p>
        </p:txBody>
      </p:sp>
      <p:sp>
        <p:nvSpPr>
          <p:cNvPr id="14" name="Text 12"/>
          <p:cNvSpPr/>
          <p:nvPr/>
        </p:nvSpPr>
        <p:spPr>
          <a:xfrm>
            <a:off x="8535486" y="2720340"/>
            <a:ext cx="2194562" cy="10287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bookings
</a:t>
            </a:r>
            <a:r>
              <a:rPr lang="en-US" sz="1100">
                <a:solidFill>
                  <a:srgbClr val="E9F4FF"/>
                </a:solidFill>
                <a:latin typeface="Segoe"/>
              </a:rPr>
              <a:t>Mã đơn, khách hàng, SĐT, ngày đặt, tổng tiền, trạng thái.</a:t>
            </a:r>
            <a:endParaRPr lang="en-US" sz="1100">
              <a:latin typeface="Segoe"/>
            </a:endParaRPr>
          </a:p>
        </p:txBody>
      </p:sp>
      <p:sp>
        <p:nvSpPr>
          <p:cNvPr id="15" name="Text 13"/>
          <p:cNvSpPr/>
          <p:nvPr/>
        </p:nvSpPr>
        <p:spPr>
          <a:xfrm>
            <a:off x="4505597" y="2720340"/>
            <a:ext cx="2194561" cy="102870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booking_slots
</a:t>
            </a:r>
            <a:r>
              <a:rPr lang="en-US" sz="1100">
                <a:solidFill>
                  <a:srgbClr val="E9F4FF"/>
                </a:solidFill>
                <a:latin typeface="Segoe"/>
              </a:rPr>
              <a:t>Liên kết booking </a:t>
            </a:r>
            <a:r>
              <a:rPr lang="en-US" sz="1100" err="1">
                <a:solidFill>
                  <a:srgbClr val="E9F4FF"/>
                </a:solidFill>
                <a:latin typeface="Segoe"/>
              </a:rPr>
              <a:t>với</a:t>
            </a:r>
            <a:r>
              <a:rPr lang="en-US" sz="1100">
                <a:solidFill>
                  <a:srgbClr val="E9F4FF"/>
                </a:solidFill>
                <a:latin typeface="Segoe"/>
              </a:rPr>
              <a:t> </a:t>
            </a:r>
            <a:r>
              <a:rPr lang="en-US" sz="1100" err="1">
                <a:solidFill>
                  <a:srgbClr val="E9F4FF"/>
                </a:solidFill>
                <a:latin typeface="Segoe"/>
              </a:rPr>
              <a:t>sân</a:t>
            </a:r>
            <a:r>
              <a:rPr lang="en-US" sz="1100">
                <a:solidFill>
                  <a:srgbClr val="E9F4FF"/>
                </a:solidFill>
                <a:latin typeface="Segoe"/>
              </a:rPr>
              <a:t>, </a:t>
            </a:r>
            <a:r>
              <a:rPr lang="en-US" sz="1100" err="1">
                <a:solidFill>
                  <a:srgbClr val="E9F4FF"/>
                </a:solidFill>
                <a:latin typeface="Segoe"/>
              </a:rPr>
              <a:t>ngày</a:t>
            </a:r>
            <a:r>
              <a:rPr lang="en-US" sz="1100">
                <a:solidFill>
                  <a:srgbClr val="E9F4FF"/>
                </a:solidFill>
                <a:latin typeface="Segoe"/>
              </a:rPr>
              <a:t> và </a:t>
            </a:r>
            <a:r>
              <a:rPr lang="en-US" sz="1100" err="1">
                <a:solidFill>
                  <a:srgbClr val="E9F4FF"/>
                </a:solidFill>
                <a:latin typeface="Segoe"/>
              </a:rPr>
              <a:t>khung</a:t>
            </a:r>
            <a:r>
              <a:rPr lang="en-US" sz="1100">
                <a:solidFill>
                  <a:srgbClr val="E9F4FF"/>
                </a:solidFill>
                <a:latin typeface="Segoe"/>
              </a:rPr>
              <a:t> </a:t>
            </a:r>
            <a:r>
              <a:rPr lang="en-US" sz="1100" err="1">
                <a:solidFill>
                  <a:srgbClr val="E9F4FF"/>
                </a:solidFill>
                <a:latin typeface="Segoe"/>
              </a:rPr>
              <a:t>giờ</a:t>
            </a:r>
            <a:r>
              <a:rPr lang="en-US" sz="1100">
                <a:solidFill>
                  <a:srgbClr val="E9F4FF"/>
                </a:solidFill>
                <a:latin typeface="Segoe"/>
              </a:rPr>
              <a:t> </a:t>
            </a:r>
            <a:r>
              <a:rPr lang="en-US" sz="1100" err="1">
                <a:solidFill>
                  <a:srgbClr val="E9F4FF"/>
                </a:solidFill>
                <a:latin typeface="Segoe"/>
              </a:rPr>
              <a:t>đặt</a:t>
            </a:r>
            <a:r>
              <a:rPr lang="en-US" sz="1100">
                <a:solidFill>
                  <a:srgbClr val="E9F4FF"/>
                </a:solidFill>
                <a:latin typeface="Segoe"/>
              </a:rPr>
              <a:t>.</a:t>
            </a:r>
            <a:endParaRPr lang="en-US" sz="1100">
              <a:latin typeface="Segoe"/>
            </a:endParaRPr>
          </a:p>
        </p:txBody>
      </p:sp>
      <p:sp>
        <p:nvSpPr>
          <p:cNvPr id="16" name="Text 14"/>
          <p:cNvSpPr/>
          <p:nvPr/>
        </p:nvSpPr>
        <p:spPr>
          <a:xfrm>
            <a:off x="8544191" y="4321393"/>
            <a:ext cx="2185857" cy="1005833"/>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buNone/>
            </a:pPr>
            <a:r>
              <a:rPr lang="en-US" sz="1100" b="1">
                <a:solidFill>
                  <a:srgbClr val="38F2C0"/>
                </a:solidFill>
                <a:latin typeface="Segoe"/>
              </a:rPr>
              <a:t>booking_services
</a:t>
            </a:r>
            <a:r>
              <a:rPr lang="en-US" sz="1100">
                <a:solidFill>
                  <a:srgbClr val="E9F4FF"/>
                </a:solidFill>
                <a:latin typeface="Segoe"/>
              </a:rPr>
              <a:t>Lưu dịch vụ đi kèm, số lượng và thành tiền.</a:t>
            </a:r>
            <a:endParaRPr lang="en-US" sz="1100">
              <a:latin typeface="Segoe"/>
            </a:endParaRPr>
          </a:p>
        </p:txBody>
      </p:sp>
      <p:sp>
        <p:nvSpPr>
          <p:cNvPr id="17" name="Text 15"/>
          <p:cNvSpPr/>
          <p:nvPr/>
        </p:nvSpPr>
        <p:spPr>
          <a:xfrm>
            <a:off x="685800" y="5453745"/>
            <a:ext cx="10424160" cy="6858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Segoe"/>
              </a:rPr>
              <a:t>Thiết</a:t>
            </a:r>
            <a:r>
              <a:rPr sz="1100" b="1">
                <a:solidFill>
                  <a:srgbClr val="00F5C6"/>
                </a:solidFill>
                <a:latin typeface="Segoe"/>
              </a:rPr>
              <a:t> </a:t>
            </a:r>
            <a:r>
              <a:rPr sz="1100" b="1" err="1">
                <a:solidFill>
                  <a:srgbClr val="00F5C6"/>
                </a:solidFill>
                <a:latin typeface="Segoe"/>
              </a:rPr>
              <a:t>kế</a:t>
            </a:r>
            <a:r>
              <a:rPr sz="1100" b="1">
                <a:solidFill>
                  <a:srgbClr val="00F5C6"/>
                </a:solidFill>
                <a:latin typeface="Segoe"/>
              </a:rPr>
              <a:t> </a:t>
            </a:r>
            <a:r>
              <a:rPr sz="1100" b="1" err="1">
                <a:solidFill>
                  <a:srgbClr val="00F5C6"/>
                </a:solidFill>
                <a:latin typeface="Segoe"/>
              </a:rPr>
              <a:t>dữ</a:t>
            </a:r>
            <a:r>
              <a:rPr sz="1100" b="1">
                <a:solidFill>
                  <a:srgbClr val="00F5C6"/>
                </a:solidFill>
                <a:latin typeface="Segoe"/>
              </a:rPr>
              <a:t> </a:t>
            </a:r>
            <a:r>
              <a:rPr sz="1100" b="1" err="1">
                <a:solidFill>
                  <a:srgbClr val="00F5C6"/>
                </a:solidFill>
                <a:latin typeface="Segoe"/>
              </a:rPr>
              <a:t>liệu</a:t>
            </a:r>
            <a:endParaRPr lang="en-US" sz="1100">
              <a:latin typeface="Segoe"/>
            </a:endParaRPr>
          </a:p>
          <a:p>
            <a:pPr>
              <a:spcBef>
                <a:spcPts val="0"/>
              </a:spcBef>
              <a:spcAft>
                <a:spcPts val="0"/>
              </a:spcAft>
            </a:pPr>
            <a:r>
              <a:rPr sz="1100" b="0" err="1">
                <a:solidFill>
                  <a:srgbClr val="FFFFFF"/>
                </a:solidFill>
                <a:latin typeface="Segoe"/>
              </a:rPr>
              <a:t>Tách</a:t>
            </a:r>
            <a:r>
              <a:rPr sz="1100" b="0">
                <a:solidFill>
                  <a:srgbClr val="FFFFFF"/>
                </a:solidFill>
                <a:latin typeface="Segoe"/>
              </a:rPr>
              <a:t> </a:t>
            </a:r>
            <a:r>
              <a:rPr sz="1100" b="0" err="1">
                <a:solidFill>
                  <a:srgbClr val="FFFFFF"/>
                </a:solidFill>
                <a:latin typeface="Segoe"/>
              </a:rPr>
              <a:t>danh</a:t>
            </a:r>
            <a:r>
              <a:rPr sz="1100" b="0">
                <a:solidFill>
                  <a:srgbClr val="FFFFFF"/>
                </a:solidFill>
                <a:latin typeface="Segoe"/>
              </a:rPr>
              <a:t> </a:t>
            </a:r>
            <a:r>
              <a:rPr sz="1100" b="0" err="1">
                <a:solidFill>
                  <a:srgbClr val="FFFFFF"/>
                </a:solidFill>
                <a:latin typeface="Segoe"/>
              </a:rPr>
              <a:t>mục</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khỏi</a:t>
            </a:r>
            <a:r>
              <a:rPr sz="1100" b="0">
                <a:solidFill>
                  <a:srgbClr val="FFFFFF"/>
                </a:solidFill>
                <a:latin typeface="Segoe"/>
              </a:rPr>
              <a:t> booking; </a:t>
            </a:r>
            <a:r>
              <a:rPr sz="1100" b="0" err="1">
                <a:solidFill>
                  <a:srgbClr val="FFFFFF"/>
                </a:solidFill>
                <a:latin typeface="Segoe"/>
              </a:rPr>
              <a:t>dùng</a:t>
            </a:r>
            <a:r>
              <a:rPr sz="1100" b="0">
                <a:solidFill>
                  <a:srgbClr val="FFFFFF"/>
                </a:solidFill>
                <a:latin typeface="Segoe"/>
              </a:rPr>
              <a:t> </a:t>
            </a:r>
            <a:r>
              <a:rPr sz="1100" b="0" err="1">
                <a:solidFill>
                  <a:srgbClr val="FFFFFF"/>
                </a:solidFill>
                <a:latin typeface="Segoe"/>
              </a:rPr>
              <a:t>booking_slots</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booking_services</a:t>
            </a:r>
            <a:r>
              <a:rPr sz="1100" b="0">
                <a:solidFill>
                  <a:srgbClr val="FFFFFF"/>
                </a:solidFill>
                <a:latin typeface="Segoe"/>
              </a:rPr>
              <a:t> </a:t>
            </a:r>
            <a:r>
              <a:rPr sz="1100" b="0" err="1">
                <a:solidFill>
                  <a:srgbClr val="FFFFFF"/>
                </a:solidFill>
                <a:latin typeface="Segoe"/>
              </a:rPr>
              <a:t>để</a:t>
            </a:r>
            <a:r>
              <a:rPr sz="1100" b="0">
                <a:solidFill>
                  <a:srgbClr val="FFFFFF"/>
                </a:solidFill>
                <a:latin typeface="Segoe"/>
              </a:rPr>
              <a:t> </a:t>
            </a:r>
            <a:r>
              <a:rPr sz="1100" b="0" err="1">
                <a:solidFill>
                  <a:srgbClr val="FFFFFF"/>
                </a:solidFill>
                <a:latin typeface="Segoe"/>
              </a:rPr>
              <a:t>một</a:t>
            </a:r>
            <a:r>
              <a:rPr sz="1100" b="0">
                <a:solidFill>
                  <a:srgbClr val="FFFFFF"/>
                </a:solidFill>
                <a:latin typeface="Segoe"/>
              </a:rPr>
              <a:t> booking </a:t>
            </a:r>
            <a:r>
              <a:rPr sz="1100" b="0" err="1">
                <a:solidFill>
                  <a:srgbClr val="FFFFFF"/>
                </a:solidFill>
                <a:latin typeface="Segoe"/>
              </a:rPr>
              <a:t>có</a:t>
            </a:r>
            <a:r>
              <a:rPr sz="1100" b="0">
                <a:solidFill>
                  <a:srgbClr val="FFFFFF"/>
                </a:solidFill>
                <a:latin typeface="Segoe"/>
              </a:rPr>
              <a:t> </a:t>
            </a:r>
            <a:r>
              <a:rPr sz="1100" b="0" err="1">
                <a:solidFill>
                  <a:srgbClr val="FFFFFF"/>
                </a:solidFill>
                <a:latin typeface="Segoe"/>
              </a:rPr>
              <a:t>thể</a:t>
            </a:r>
            <a:r>
              <a:rPr sz="1100" b="0">
                <a:solidFill>
                  <a:srgbClr val="FFFFFF"/>
                </a:solidFill>
                <a:latin typeface="Segoe"/>
              </a:rPr>
              <a:t> </a:t>
            </a:r>
            <a:r>
              <a:rPr sz="1100" b="0" err="1">
                <a:solidFill>
                  <a:srgbClr val="FFFFFF"/>
                </a:solidFill>
                <a:latin typeface="Segoe"/>
              </a:rPr>
              <a:t>gắn</a:t>
            </a:r>
            <a:r>
              <a:rPr sz="1100" b="0">
                <a:solidFill>
                  <a:srgbClr val="FFFFFF"/>
                </a:solidFill>
                <a:latin typeface="Segoe"/>
              </a:rPr>
              <a:t> </a:t>
            </a:r>
            <a:r>
              <a:rPr sz="1100" b="0" err="1">
                <a:solidFill>
                  <a:srgbClr val="FFFFFF"/>
                </a:solidFill>
                <a:latin typeface="Segoe"/>
              </a:rPr>
              <a:t>đúng</a:t>
            </a:r>
            <a:r>
              <a:rPr sz="1100" b="0">
                <a:solidFill>
                  <a:srgbClr val="FFFFFF"/>
                </a:solidFill>
                <a:latin typeface="Segoe"/>
              </a:rPr>
              <a:t> </a:t>
            </a:r>
            <a:r>
              <a:rPr sz="1100" b="0" err="1">
                <a:solidFill>
                  <a:srgbClr val="FFFFFF"/>
                </a:solidFill>
                <a:latin typeface="Segoe"/>
              </a:rPr>
              <a:t>khung</a:t>
            </a:r>
            <a:r>
              <a:rPr sz="1100" b="0">
                <a:solidFill>
                  <a:srgbClr val="FFFFFF"/>
                </a:solidFill>
                <a:latin typeface="Segoe"/>
              </a:rPr>
              <a:t> </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nhiều</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đi</a:t>
            </a:r>
            <a:r>
              <a:rPr sz="1100" b="0">
                <a:solidFill>
                  <a:srgbClr val="FFFFFF"/>
                </a:solidFill>
                <a:latin typeface="Segoe"/>
              </a:rPr>
              <a:t> </a:t>
            </a:r>
            <a:r>
              <a:rPr sz="1100" b="0" err="1">
                <a:solidFill>
                  <a:srgbClr val="FFFFFF"/>
                </a:solidFill>
                <a:latin typeface="Segoe"/>
              </a:rPr>
              <a:t>kèm</a:t>
            </a:r>
            <a:r>
              <a:rPr sz="1100" b="0">
                <a:solidFill>
                  <a:srgbClr val="FFFFFF"/>
                </a:solidFill>
                <a:latin typeface="Segoe"/>
              </a:rPr>
              <a:t>,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thời</a:t>
            </a:r>
            <a:r>
              <a:rPr sz="1100" b="0">
                <a:solidFill>
                  <a:srgbClr val="FFFFFF"/>
                </a:solidFill>
                <a:latin typeface="Segoe"/>
              </a:rPr>
              <a:t> </a:t>
            </a:r>
            <a:r>
              <a:rPr sz="1100" b="0" err="1">
                <a:solidFill>
                  <a:srgbClr val="FFFFFF"/>
                </a:solidFill>
                <a:latin typeface="Segoe"/>
              </a:rPr>
              <a:t>tính</a:t>
            </a:r>
            <a:r>
              <a:rPr sz="1100" b="0">
                <a:solidFill>
                  <a:srgbClr val="FFFFFF"/>
                </a:solidFill>
                <a:latin typeface="Segoe"/>
              </a:rPr>
              <a:t> </a:t>
            </a:r>
            <a:r>
              <a:rPr sz="1100" b="0" err="1">
                <a:solidFill>
                  <a:srgbClr val="FFFFFF"/>
                </a:solidFill>
                <a:latin typeface="Segoe"/>
              </a:rPr>
              <a:t>tổng</a:t>
            </a:r>
            <a:r>
              <a:rPr sz="1100" b="0">
                <a:solidFill>
                  <a:srgbClr val="FFFFFF"/>
                </a:solidFill>
                <a:latin typeface="Segoe"/>
              </a:rPr>
              <a:t> </a:t>
            </a:r>
            <a:r>
              <a:rPr sz="1100" b="0" err="1">
                <a:solidFill>
                  <a:srgbClr val="FFFFFF"/>
                </a:solidFill>
                <a:latin typeface="Segoe"/>
              </a:rPr>
              <a:t>tiền</a:t>
            </a:r>
            <a:r>
              <a:rPr sz="1100" b="0">
                <a:solidFill>
                  <a:srgbClr val="FFFFFF"/>
                </a:solidFill>
                <a:latin typeface="Segoe"/>
              </a:rPr>
              <a:t> </a:t>
            </a:r>
            <a:r>
              <a:rPr sz="1100" b="0" err="1">
                <a:solidFill>
                  <a:srgbClr val="FFFFFF"/>
                </a:solidFill>
                <a:latin typeface="Segoe"/>
              </a:rPr>
              <a:t>chính</a:t>
            </a:r>
            <a:r>
              <a:rPr sz="1100" b="0">
                <a:solidFill>
                  <a:srgbClr val="FFFFFF"/>
                </a:solidFill>
                <a:latin typeface="Segoe"/>
              </a:rPr>
              <a:t> </a:t>
            </a:r>
            <a:r>
              <a:rPr sz="1100" b="0" err="1">
                <a:solidFill>
                  <a:srgbClr val="FFFFFF"/>
                </a:solidFill>
                <a:latin typeface="Segoe"/>
              </a:rPr>
              <a:t>xác</a:t>
            </a:r>
            <a:r>
              <a:rPr sz="1100" b="0">
                <a:solidFill>
                  <a:srgbClr val="FFFFFF"/>
                </a:solidFill>
                <a:latin typeface="Segoe"/>
              </a:rPr>
              <a:t>.</a:t>
            </a:r>
          </a:p>
        </p:txBody>
      </p:sp>
      <p:pic>
        <p:nvPicPr>
          <p:cNvPr id="18" name="Picture 17"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9" name="Picture 18" descr="image.png"/>
          <p:cNvPicPr>
            <a:picLocks noChangeAspect="1"/>
          </p:cNvPicPr>
          <p:nvPr/>
        </p:nvPicPr>
        <p:blipFill>
          <a:blip r:embed="rId4"/>
          <a:stretch>
            <a:fillRect/>
          </a:stretch>
        </p:blipFill>
        <p:spPr>
          <a:xfrm>
            <a:off x="10195560" y="91440"/>
            <a:ext cx="1783080" cy="594360"/>
          </a:xfrm>
          <a:prstGeom prst="rect">
            <a:avLst/>
          </a:prstGeom>
        </p:spPr>
      </p:pic>
      <p:sp>
        <p:nvSpPr>
          <p:cNvPr id="21" name="Shape 6">
            <a:extLst>
              <a:ext uri="{FF2B5EF4-FFF2-40B4-BE49-F238E27FC236}">
                <a16:creationId xmlns:a16="http://schemas.microsoft.com/office/drawing/2014/main" id="{67919859-612E-48C0-9C38-0601991F693E}"/>
              </a:ext>
            </a:extLst>
          </p:cNvPr>
          <p:cNvSpPr/>
          <p:nvPr/>
        </p:nvSpPr>
        <p:spPr>
          <a:xfrm rot="10800000" flipH="1" flipV="1">
            <a:off x="7208516" y="4751604"/>
            <a:ext cx="693421" cy="0"/>
          </a:xfrm>
          <a:prstGeom prst="line">
            <a:avLst/>
          </a:prstGeom>
          <a:noFill/>
          <a:ln w="22860">
            <a:solidFill>
              <a:srgbClr val="F3C04E"/>
            </a:solidFill>
            <a:prstDash val="solid"/>
            <a:tailEnd type="triangle"/>
          </a:ln>
        </p:spPr>
        <p:txBody>
          <a:bodyPr/>
          <a:lstStyle/>
          <a:p>
            <a:endParaRPr lang="en-US"/>
          </a:p>
        </p:txBody>
      </p:sp>
      <p:sp>
        <p:nvSpPr>
          <p:cNvPr id="22" name="Shape 6">
            <a:extLst>
              <a:ext uri="{FF2B5EF4-FFF2-40B4-BE49-F238E27FC236}">
                <a16:creationId xmlns:a16="http://schemas.microsoft.com/office/drawing/2014/main" id="{72369555-D9F9-479F-9E33-7B1BDF494841}"/>
              </a:ext>
            </a:extLst>
          </p:cNvPr>
          <p:cNvSpPr/>
          <p:nvPr/>
        </p:nvSpPr>
        <p:spPr>
          <a:xfrm flipH="1" flipV="1">
            <a:off x="7208516" y="3234690"/>
            <a:ext cx="693421" cy="0"/>
          </a:xfrm>
          <a:prstGeom prst="line">
            <a:avLst/>
          </a:prstGeom>
          <a:noFill/>
          <a:ln w="22860">
            <a:solidFill>
              <a:srgbClr val="F3C04E"/>
            </a:solidFill>
            <a:prstDash val="solid"/>
            <a:tailEnd type="triangle"/>
          </a:ln>
        </p:spPr>
        <p:txBody>
          <a:bodyPr/>
          <a:lstStyle/>
          <a:p>
            <a:endParaRPr lang="en-US"/>
          </a:p>
        </p:txBody>
      </p:sp>
      <p:sp>
        <p:nvSpPr>
          <p:cNvPr id="23" name="Shape 5">
            <a:extLst>
              <a:ext uri="{FF2B5EF4-FFF2-40B4-BE49-F238E27FC236}">
                <a16:creationId xmlns:a16="http://schemas.microsoft.com/office/drawing/2014/main" id="{18AA655E-E242-447C-888F-E2C5FD37D66E}"/>
              </a:ext>
            </a:extLst>
          </p:cNvPr>
          <p:cNvSpPr/>
          <p:nvPr/>
        </p:nvSpPr>
        <p:spPr>
          <a:xfrm flipH="1">
            <a:off x="9640386" y="3900127"/>
            <a:ext cx="0" cy="315241"/>
          </a:xfrm>
          <a:prstGeom prst="line">
            <a:avLst/>
          </a:prstGeom>
          <a:noFill/>
          <a:ln w="22860">
            <a:solidFill>
              <a:srgbClr val="F3C04E"/>
            </a:solidFill>
            <a:prstDash val="solid"/>
            <a:tailEnd type="triangle"/>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KHAI BÁO API, AI, PROMPT &amp; SKILL</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07</a:t>
            </a:r>
            <a:endParaRPr lang="en-US" sz="850"/>
          </a:p>
        </p:txBody>
      </p:sp>
      <p:sp>
        <p:nvSpPr>
          <p:cNvPr id="6" name="Text 4"/>
          <p:cNvSpPr/>
          <p:nvPr/>
        </p:nvSpPr>
        <p:spPr>
          <a:xfrm>
            <a:off x="685800" y="1051560"/>
            <a:ext cx="347472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rPr>
              <a:t>Khai báo API
</a:t>
            </a:r>
            <a:r>
              <a:rPr lang="en-US" sz="1100">
                <a:solidFill>
                  <a:srgbClr val="E9F4FF"/>
                </a:solidFill>
              </a:rPr>
              <a:t>main.py </a:t>
            </a:r>
            <a:r>
              <a:rPr lang="en-US" sz="1100" err="1">
                <a:solidFill>
                  <a:srgbClr val="E9F4FF"/>
                </a:solidFill>
              </a:rPr>
              <a:t>khởi</a:t>
            </a:r>
            <a:r>
              <a:rPr lang="en-US" sz="1100">
                <a:solidFill>
                  <a:srgbClr val="E9F4FF"/>
                </a:solidFill>
              </a:rPr>
              <a:t> </a:t>
            </a:r>
            <a:r>
              <a:rPr lang="en-US" sz="1100" err="1">
                <a:solidFill>
                  <a:srgbClr val="E9F4FF"/>
                </a:solidFill>
              </a:rPr>
              <a:t>tạo</a:t>
            </a:r>
            <a:r>
              <a:rPr lang="en-US" sz="1100">
                <a:solidFill>
                  <a:srgbClr val="E9F4FF"/>
                </a:solidFill>
              </a:rPr>
              <a:t> </a:t>
            </a:r>
            <a:r>
              <a:rPr lang="en-US" sz="1100" err="1">
                <a:solidFill>
                  <a:srgbClr val="E9F4FF"/>
                </a:solidFill>
              </a:rPr>
              <a:t>FastAPI</a:t>
            </a:r>
            <a:r>
              <a:rPr lang="en-US" sz="1100">
                <a:solidFill>
                  <a:srgbClr val="E9F4FF"/>
                </a:solidFill>
              </a:rPr>
              <a:t> app, </a:t>
            </a:r>
            <a:r>
              <a:rPr lang="en-US" sz="1100" err="1">
                <a:solidFill>
                  <a:srgbClr val="E9F4FF"/>
                </a:solidFill>
              </a:rPr>
              <a:t>cấu</a:t>
            </a:r>
            <a:r>
              <a:rPr lang="en-US" sz="1100">
                <a:solidFill>
                  <a:srgbClr val="E9F4FF"/>
                </a:solidFill>
              </a:rPr>
              <a:t> </a:t>
            </a:r>
            <a:r>
              <a:rPr lang="en-US" sz="1100" err="1">
                <a:solidFill>
                  <a:srgbClr val="E9F4FF"/>
                </a:solidFill>
              </a:rPr>
              <a:t>hình</a:t>
            </a:r>
            <a:r>
              <a:rPr lang="en-US" sz="1100">
                <a:solidFill>
                  <a:srgbClr val="E9F4FF"/>
                </a:solidFill>
              </a:rPr>
              <a:t> CORS </a:t>
            </a:r>
            <a:r>
              <a:rPr lang="en-US" sz="1100" err="1">
                <a:solidFill>
                  <a:srgbClr val="E9F4FF"/>
                </a:solidFill>
              </a:rPr>
              <a:t>cho</a:t>
            </a:r>
            <a:r>
              <a:rPr lang="en-US" sz="1100">
                <a:solidFill>
                  <a:srgbClr val="E9F4FF"/>
                </a:solidFill>
              </a:rPr>
              <a:t> localhost, </a:t>
            </a:r>
            <a:r>
              <a:rPr lang="en-US" sz="1100" err="1">
                <a:solidFill>
                  <a:srgbClr val="E9F4FF"/>
                </a:solidFill>
              </a:rPr>
              <a:t>gắn</a:t>
            </a:r>
            <a:r>
              <a:rPr lang="en-US" sz="1100">
                <a:solidFill>
                  <a:srgbClr val="E9F4FF"/>
                </a:solidFill>
              </a:rPr>
              <a:t> router </a:t>
            </a:r>
            <a:r>
              <a:rPr lang="en-US" sz="1100" err="1">
                <a:solidFill>
                  <a:srgbClr val="E9F4FF"/>
                </a:solidFill>
              </a:rPr>
              <a:t>với</a:t>
            </a:r>
            <a:r>
              <a:rPr lang="en-US" sz="1100">
                <a:solidFill>
                  <a:srgbClr val="E9F4FF"/>
                </a:solidFill>
              </a:rPr>
              <a:t> prefix /</a:t>
            </a:r>
            <a:r>
              <a:rPr lang="en-US" sz="1100" err="1">
                <a:solidFill>
                  <a:srgbClr val="E9F4FF"/>
                </a:solidFill>
              </a:rPr>
              <a:t>api</a:t>
            </a:r>
            <a:r>
              <a:rPr lang="en-US" sz="1100">
                <a:solidFill>
                  <a:srgbClr val="E9F4FF"/>
                </a:solidFill>
              </a:rPr>
              <a:t>/v1, </a:t>
            </a:r>
            <a:r>
              <a:rPr lang="en-US" sz="1100" err="1">
                <a:solidFill>
                  <a:srgbClr val="E9F4FF"/>
                </a:solidFill>
              </a:rPr>
              <a:t>tạo</a:t>
            </a:r>
            <a:r>
              <a:rPr lang="en-US" sz="1100">
                <a:solidFill>
                  <a:srgbClr val="E9F4FF"/>
                </a:solidFill>
              </a:rPr>
              <a:t> </a:t>
            </a:r>
            <a:r>
              <a:rPr lang="en-US" sz="1100" err="1">
                <a:solidFill>
                  <a:srgbClr val="E9F4FF"/>
                </a:solidFill>
              </a:rPr>
              <a:t>tài</a:t>
            </a:r>
            <a:r>
              <a:rPr lang="en-US" sz="1100">
                <a:solidFill>
                  <a:srgbClr val="E9F4FF"/>
                </a:solidFill>
              </a:rPr>
              <a:t> </a:t>
            </a:r>
            <a:r>
              <a:rPr lang="en-US" sz="1100" err="1">
                <a:solidFill>
                  <a:srgbClr val="E9F4FF"/>
                </a:solidFill>
              </a:rPr>
              <a:t>khoản</a:t>
            </a:r>
            <a:r>
              <a:rPr lang="en-US" sz="1100">
                <a:solidFill>
                  <a:srgbClr val="E9F4FF"/>
                </a:solidFill>
              </a:rPr>
              <a:t> admin </a:t>
            </a:r>
            <a:r>
              <a:rPr lang="en-US" sz="1100" err="1">
                <a:solidFill>
                  <a:srgbClr val="E9F4FF"/>
                </a:solidFill>
              </a:rPr>
              <a:t>mặc</a:t>
            </a:r>
            <a:r>
              <a:rPr lang="en-US" sz="1100">
                <a:solidFill>
                  <a:srgbClr val="E9F4FF"/>
                </a:solidFill>
              </a:rPr>
              <a:t> </a:t>
            </a:r>
            <a:r>
              <a:rPr lang="en-US" sz="1100" err="1">
                <a:solidFill>
                  <a:srgbClr val="E9F4FF"/>
                </a:solidFill>
              </a:rPr>
              <a:t>định</a:t>
            </a:r>
            <a:r>
              <a:rPr lang="en-US" sz="1100">
                <a:solidFill>
                  <a:srgbClr val="E9F4FF"/>
                </a:solidFill>
              </a:rPr>
              <a:t> </a:t>
            </a:r>
            <a:r>
              <a:rPr lang="en-US" sz="1100" err="1">
                <a:solidFill>
                  <a:srgbClr val="E9F4FF"/>
                </a:solidFill>
              </a:rPr>
              <a:t>và</a:t>
            </a:r>
            <a:r>
              <a:rPr lang="en-US" sz="1100">
                <a:solidFill>
                  <a:srgbClr val="E9F4FF"/>
                </a:solidFill>
              </a:rPr>
              <a:t> </a:t>
            </a:r>
            <a:r>
              <a:rPr lang="en-US" sz="1100" err="1">
                <a:solidFill>
                  <a:srgbClr val="E9F4FF"/>
                </a:solidFill>
              </a:rPr>
              <a:t>cung</a:t>
            </a:r>
            <a:r>
              <a:rPr lang="en-US" sz="1100">
                <a:solidFill>
                  <a:srgbClr val="E9F4FF"/>
                </a:solidFill>
              </a:rPr>
              <a:t> </a:t>
            </a:r>
            <a:r>
              <a:rPr lang="en-US" sz="1100" err="1">
                <a:solidFill>
                  <a:srgbClr val="E9F4FF"/>
                </a:solidFill>
              </a:rPr>
              <a:t>cấp</a:t>
            </a:r>
            <a:r>
              <a:rPr lang="en-US" sz="1100">
                <a:solidFill>
                  <a:srgbClr val="E9F4FF"/>
                </a:solidFill>
              </a:rPr>
              <a:t> Swagger </a:t>
            </a:r>
            <a:r>
              <a:rPr lang="en-US" sz="1100" err="1">
                <a:solidFill>
                  <a:srgbClr val="E9F4FF"/>
                </a:solidFill>
              </a:rPr>
              <a:t>tại</a:t>
            </a:r>
            <a:r>
              <a:rPr lang="en-US" sz="1100">
                <a:solidFill>
                  <a:srgbClr val="E9F4FF"/>
                </a:solidFill>
              </a:rPr>
              <a:t> /docs.</a:t>
            </a:r>
            <a:endParaRPr lang="en-US" sz="1100"/>
          </a:p>
        </p:txBody>
      </p:sp>
      <p:sp>
        <p:nvSpPr>
          <p:cNvPr id="7" name="Text 5"/>
          <p:cNvSpPr/>
          <p:nvPr/>
        </p:nvSpPr>
        <p:spPr>
          <a:xfrm>
            <a:off x="4480560" y="1051560"/>
            <a:ext cx="347472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r>
              <a:rPr lang="en-US" sz="1100" b="1">
                <a:solidFill>
                  <a:srgbClr val="38F2C0"/>
                </a:solidFill>
              </a:rPr>
              <a:t>Khai báo AI
</a:t>
            </a:r>
            <a:r>
              <a:rPr lang="en-US" sz="1100" err="1">
                <a:solidFill>
                  <a:srgbClr val="E9F4FF"/>
                </a:solidFill>
              </a:rPr>
              <a:t>confi</a:t>
            </a:r>
            <a:r>
              <a:rPr lang="vi-VN" sz="1100">
                <a:solidFill>
                  <a:srgbClr val="E9F4FF"/>
                </a:solidFill>
                <a:latin typeface="Aptos (Body)"/>
              </a:rPr>
              <a:t>g.py khai báo GEMINI_API_KEY và GEMINI_MODEL.</a:t>
            </a:r>
            <a:endParaRPr lang="en-US" sz="1100">
              <a:solidFill>
                <a:srgbClr val="E9F4FF"/>
              </a:solidFill>
              <a:latin typeface="Aptos (Body)"/>
            </a:endParaRPr>
          </a:p>
          <a:p>
            <a:r>
              <a:rPr lang="vi-VN" sz="1100">
                <a:solidFill>
                  <a:srgbClr val="E9F4FF"/>
                </a:solidFill>
                <a:latin typeface="Aptos (Body)"/>
              </a:rPr>
              <a:t>AI được tách riêng trong ai_service.py và gọi Gemini API bằng requests.</a:t>
            </a:r>
            <a:endParaRPr lang="en-US" sz="1100">
              <a:latin typeface="Aptos (Body)"/>
            </a:endParaRPr>
          </a:p>
        </p:txBody>
      </p:sp>
      <p:sp>
        <p:nvSpPr>
          <p:cNvPr id="8" name="Text 6"/>
          <p:cNvSpPr/>
          <p:nvPr/>
        </p:nvSpPr>
        <p:spPr>
          <a:xfrm>
            <a:off x="8275320" y="1051560"/>
            <a:ext cx="3246120" cy="192024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a:solidFill>
                  <a:srgbClr val="00F5C6"/>
                </a:solidFill>
                <a:latin typeface="Aptos (Body)"/>
              </a:rPr>
              <a:t>Prompt</a:t>
            </a:r>
            <a:endParaRPr lang="en-US" sz="1100">
              <a:latin typeface="Aptos (Body)"/>
            </a:endParaRPr>
          </a:p>
          <a:p>
            <a:pPr>
              <a:spcBef>
                <a:spcPts val="0"/>
              </a:spcBef>
              <a:spcAft>
                <a:spcPts val="0"/>
              </a:spcAft>
            </a:pPr>
            <a:r>
              <a:rPr sz="1100" b="0" err="1">
                <a:solidFill>
                  <a:srgbClr val="FFFFFF"/>
                </a:solidFill>
                <a:latin typeface="Aptos (Body)"/>
              </a:rPr>
              <a:t>Hiểu</a:t>
            </a:r>
            <a:r>
              <a:rPr sz="1100" b="0">
                <a:solidFill>
                  <a:srgbClr val="FFFFFF"/>
                </a:solidFill>
                <a:latin typeface="Aptos (Body)"/>
              </a:rPr>
              <a:t> </a:t>
            </a:r>
            <a:r>
              <a:rPr sz="1100" b="0" err="1">
                <a:solidFill>
                  <a:srgbClr val="FFFFFF"/>
                </a:solidFill>
                <a:latin typeface="Aptos (Body)"/>
              </a:rPr>
              <a:t>yêu</a:t>
            </a:r>
            <a:r>
              <a:rPr sz="1100" b="0">
                <a:solidFill>
                  <a:srgbClr val="FFFFFF"/>
                </a:solidFill>
                <a:latin typeface="Aptos (Body)"/>
              </a:rPr>
              <a:t> </a:t>
            </a:r>
            <a:r>
              <a:rPr sz="1100" b="0" err="1">
                <a:solidFill>
                  <a:srgbClr val="FFFFFF"/>
                </a:solidFill>
                <a:latin typeface="Aptos (Body)"/>
              </a:rPr>
              <a:t>cầu</a:t>
            </a:r>
            <a:r>
              <a:rPr sz="1100" b="0">
                <a:solidFill>
                  <a:srgbClr val="FFFFFF"/>
                </a:solidFill>
                <a:latin typeface="Aptos (Body)"/>
              </a:rPr>
              <a:t> </a:t>
            </a:r>
            <a:r>
              <a:rPr sz="1100" b="0" err="1">
                <a:solidFill>
                  <a:srgbClr val="FFFFFF"/>
                </a:solidFill>
                <a:latin typeface="Aptos (Body)"/>
              </a:rPr>
              <a:t>đặt</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bằng</a:t>
            </a:r>
            <a:r>
              <a:rPr sz="1100" b="0">
                <a:solidFill>
                  <a:srgbClr val="FFFFFF"/>
                </a:solidFill>
                <a:latin typeface="Aptos (Body)"/>
              </a:rPr>
              <a:t> </a:t>
            </a:r>
            <a:r>
              <a:rPr sz="1100" b="0" err="1">
                <a:solidFill>
                  <a:srgbClr val="FFFFFF"/>
                </a:solidFill>
                <a:latin typeface="Aptos (Body)"/>
              </a:rPr>
              <a:t>tiếng</a:t>
            </a:r>
            <a:r>
              <a:rPr sz="1100" b="0">
                <a:solidFill>
                  <a:srgbClr val="FFFFFF"/>
                </a:solidFill>
                <a:latin typeface="Aptos (Body)"/>
              </a:rPr>
              <a:t> </a:t>
            </a:r>
            <a:r>
              <a:rPr sz="1100" b="0" err="1">
                <a:solidFill>
                  <a:srgbClr val="FFFFFF"/>
                </a:solidFill>
                <a:latin typeface="Aptos (Body)"/>
              </a:rPr>
              <a:t>Việt</a:t>
            </a:r>
            <a:r>
              <a:rPr sz="1100" b="0">
                <a:solidFill>
                  <a:srgbClr val="FFFFFF"/>
                </a:solidFill>
                <a:latin typeface="Aptos (Body)"/>
              </a:rPr>
              <a:t>; </a:t>
            </a:r>
            <a:r>
              <a:rPr sz="1100" b="0" err="1">
                <a:solidFill>
                  <a:srgbClr val="FFFFFF"/>
                </a:solidFill>
                <a:latin typeface="Aptos (Body)"/>
              </a:rPr>
              <a:t>xác</a:t>
            </a:r>
            <a:r>
              <a:rPr sz="1100" b="0">
                <a:solidFill>
                  <a:srgbClr val="FFFFFF"/>
                </a:solidFill>
                <a:latin typeface="Aptos (Body)"/>
              </a:rPr>
              <a:t> </a:t>
            </a:r>
            <a:r>
              <a:rPr sz="1100" b="0" err="1">
                <a:solidFill>
                  <a:srgbClr val="FFFFFF"/>
                </a:solidFill>
                <a:latin typeface="Aptos (Body)"/>
              </a:rPr>
              <a:t>định</a:t>
            </a:r>
            <a:r>
              <a:rPr sz="1100" b="0">
                <a:solidFill>
                  <a:srgbClr val="FFFFFF"/>
                </a:solidFill>
                <a:latin typeface="Aptos (Body)"/>
              </a:rPr>
              <a:t> </a:t>
            </a:r>
            <a:r>
              <a:rPr sz="1100" b="0" err="1">
                <a:solidFill>
                  <a:srgbClr val="FFFFFF"/>
                </a:solidFill>
                <a:latin typeface="Aptos (Body)"/>
              </a:rPr>
              <a:t>loại</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ngày</a:t>
            </a:r>
            <a:r>
              <a:rPr sz="1100" b="0">
                <a:solidFill>
                  <a:srgbClr val="FFFFFF"/>
                </a:solidFill>
                <a:latin typeface="Aptos (Body)"/>
              </a:rPr>
              <a:t>, </a:t>
            </a:r>
            <a:r>
              <a:rPr sz="1100" b="0" err="1">
                <a:solidFill>
                  <a:srgbClr val="FFFFFF"/>
                </a:solidFill>
                <a:latin typeface="Aptos (Body)"/>
              </a:rPr>
              <a:t>giờ</a:t>
            </a:r>
            <a:r>
              <a:rPr sz="1100" b="0">
                <a:solidFill>
                  <a:srgbClr val="FFFFFF"/>
                </a:solidFill>
                <a:latin typeface="Aptos (Body)"/>
              </a:rPr>
              <a:t> </a:t>
            </a:r>
            <a:r>
              <a:rPr sz="1100" b="0" err="1">
                <a:solidFill>
                  <a:srgbClr val="FFFFFF"/>
                </a:solidFill>
                <a:latin typeface="Aptos (Body)"/>
              </a:rPr>
              <a:t>và</a:t>
            </a:r>
            <a:r>
              <a:rPr sz="1100" b="0">
                <a:solidFill>
                  <a:srgbClr val="FFFFFF"/>
                </a:solidFill>
                <a:latin typeface="Aptos (Body)"/>
              </a:rPr>
              <a:t> </a:t>
            </a:r>
            <a:r>
              <a:rPr sz="1100" b="0" err="1">
                <a:solidFill>
                  <a:srgbClr val="FFFFFF"/>
                </a:solidFill>
                <a:latin typeface="Aptos (Body)"/>
              </a:rPr>
              <a:t>dịch</a:t>
            </a:r>
            <a:r>
              <a:rPr sz="1100" b="0">
                <a:solidFill>
                  <a:srgbClr val="FFFFFF"/>
                </a:solidFill>
                <a:latin typeface="Aptos (Body)"/>
              </a:rPr>
              <a:t> </a:t>
            </a:r>
            <a:r>
              <a:rPr sz="1100" b="0" err="1">
                <a:solidFill>
                  <a:srgbClr val="FFFFFF"/>
                </a:solidFill>
                <a:latin typeface="Aptos (Body)"/>
              </a:rPr>
              <a:t>vụ</a:t>
            </a:r>
            <a:r>
              <a:rPr sz="1100" b="0">
                <a:solidFill>
                  <a:srgbClr val="FFFFFF"/>
                </a:solidFill>
                <a:latin typeface="Aptos (Body)"/>
              </a:rPr>
              <a:t>; </a:t>
            </a:r>
            <a:r>
              <a:rPr sz="1100" b="0" err="1">
                <a:solidFill>
                  <a:srgbClr val="FFFFFF"/>
                </a:solidFill>
                <a:latin typeface="Aptos (Body)"/>
              </a:rPr>
              <a:t>hỏi</a:t>
            </a:r>
            <a:r>
              <a:rPr sz="1100" b="0">
                <a:solidFill>
                  <a:srgbClr val="FFFFFF"/>
                </a:solidFill>
                <a:latin typeface="Aptos (Body)"/>
              </a:rPr>
              <a:t> </a:t>
            </a:r>
            <a:r>
              <a:rPr sz="1100" b="0" err="1">
                <a:solidFill>
                  <a:srgbClr val="FFFFFF"/>
                </a:solidFill>
                <a:latin typeface="Aptos (Body)"/>
              </a:rPr>
              <a:t>bổ</a:t>
            </a:r>
            <a:r>
              <a:rPr sz="1100" b="0">
                <a:solidFill>
                  <a:srgbClr val="FFFFFF"/>
                </a:solidFill>
                <a:latin typeface="Aptos (Body)"/>
              </a:rPr>
              <a:t> sung </a:t>
            </a:r>
            <a:r>
              <a:rPr sz="1100" b="0" err="1">
                <a:solidFill>
                  <a:srgbClr val="FFFFFF"/>
                </a:solidFill>
                <a:latin typeface="Aptos (Body)"/>
              </a:rPr>
              <a:t>khi</a:t>
            </a:r>
            <a:r>
              <a:rPr sz="1100" b="0">
                <a:solidFill>
                  <a:srgbClr val="FFFFFF"/>
                </a:solidFill>
                <a:latin typeface="Aptos (Body)"/>
              </a:rPr>
              <a:t> </a:t>
            </a:r>
            <a:r>
              <a:rPr sz="1100" b="0" err="1">
                <a:solidFill>
                  <a:srgbClr val="FFFFFF"/>
                </a:solidFill>
                <a:latin typeface="Aptos (Body)"/>
              </a:rPr>
              <a:t>thiếu</a:t>
            </a:r>
            <a:r>
              <a:rPr sz="1100" b="0">
                <a:solidFill>
                  <a:srgbClr val="FFFFFF"/>
                </a:solidFill>
                <a:latin typeface="Aptos (Body)"/>
              </a:rPr>
              <a:t> </a:t>
            </a:r>
            <a:r>
              <a:rPr sz="1100" b="0" err="1">
                <a:solidFill>
                  <a:srgbClr val="FFFFFF"/>
                </a:solidFill>
                <a:latin typeface="Aptos (Body)"/>
              </a:rPr>
              <a:t>thông</a:t>
            </a:r>
            <a:r>
              <a:rPr sz="1100" b="0">
                <a:solidFill>
                  <a:srgbClr val="FFFFFF"/>
                </a:solidFill>
                <a:latin typeface="Aptos (Body)"/>
              </a:rPr>
              <a:t> tin; </a:t>
            </a:r>
            <a:r>
              <a:rPr sz="1100" b="0" err="1">
                <a:solidFill>
                  <a:srgbClr val="FFFFFF"/>
                </a:solidFill>
                <a:latin typeface="Aptos (Body)"/>
              </a:rPr>
              <a:t>kiểm</a:t>
            </a:r>
            <a:r>
              <a:rPr sz="1100" b="0">
                <a:solidFill>
                  <a:srgbClr val="FFFFFF"/>
                </a:solidFill>
                <a:latin typeface="Aptos (Body)"/>
              </a:rPr>
              <a:t> </a:t>
            </a:r>
            <a:r>
              <a:rPr sz="1100" b="0" err="1">
                <a:solidFill>
                  <a:srgbClr val="FFFFFF"/>
                </a:solidFill>
                <a:latin typeface="Aptos (Body)"/>
              </a:rPr>
              <a:t>tra</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trống</a:t>
            </a:r>
            <a:r>
              <a:rPr sz="1100" b="0">
                <a:solidFill>
                  <a:srgbClr val="FFFFFF"/>
                </a:solidFill>
                <a:latin typeface="Aptos (Body)"/>
              </a:rPr>
              <a:t> </a:t>
            </a:r>
            <a:r>
              <a:rPr sz="1100" b="0" err="1">
                <a:solidFill>
                  <a:srgbClr val="FFFFFF"/>
                </a:solidFill>
                <a:latin typeface="Aptos (Body)"/>
              </a:rPr>
              <a:t>trước</a:t>
            </a:r>
            <a:r>
              <a:rPr sz="1100" b="0">
                <a:solidFill>
                  <a:srgbClr val="FFFFFF"/>
                </a:solidFill>
                <a:latin typeface="Aptos (Body)"/>
              </a:rPr>
              <a:t> </a:t>
            </a:r>
            <a:r>
              <a:rPr sz="1100" b="0" err="1">
                <a:solidFill>
                  <a:srgbClr val="FFFFFF"/>
                </a:solidFill>
                <a:latin typeface="Aptos (Body)"/>
              </a:rPr>
              <a:t>khi</a:t>
            </a:r>
            <a:r>
              <a:rPr sz="1100" b="0">
                <a:solidFill>
                  <a:srgbClr val="FFFFFF"/>
                </a:solidFill>
                <a:latin typeface="Aptos (Body)"/>
              </a:rPr>
              <a:t> </a:t>
            </a:r>
            <a:r>
              <a:rPr sz="1100" b="0" err="1">
                <a:solidFill>
                  <a:srgbClr val="FFFFFF"/>
                </a:solidFill>
                <a:latin typeface="Aptos (Body)"/>
              </a:rPr>
              <a:t>cho</a:t>
            </a:r>
            <a:r>
              <a:rPr sz="1100" b="0">
                <a:solidFill>
                  <a:srgbClr val="FFFFFF"/>
                </a:solidFill>
                <a:latin typeface="Aptos (Body)"/>
              </a:rPr>
              <a:t> </a:t>
            </a:r>
            <a:r>
              <a:rPr sz="1100" b="0" err="1">
                <a:solidFill>
                  <a:srgbClr val="FFFFFF"/>
                </a:solidFill>
                <a:latin typeface="Aptos (Body)"/>
              </a:rPr>
              <a:t>xác</a:t>
            </a:r>
            <a:r>
              <a:rPr sz="1100" b="0">
                <a:solidFill>
                  <a:srgbClr val="FFFFFF"/>
                </a:solidFill>
                <a:latin typeface="Aptos (Body)"/>
              </a:rPr>
              <a:t> </a:t>
            </a:r>
            <a:r>
              <a:rPr sz="1100" b="0" err="1">
                <a:solidFill>
                  <a:srgbClr val="FFFFFF"/>
                </a:solidFill>
                <a:latin typeface="Aptos (Body)"/>
              </a:rPr>
              <a:t>nhận</a:t>
            </a:r>
            <a:r>
              <a:rPr sz="1100" b="0">
                <a:solidFill>
                  <a:srgbClr val="FFFFFF"/>
                </a:solidFill>
                <a:latin typeface="Aptos (Body)"/>
              </a:rPr>
              <a:t>.</a:t>
            </a:r>
          </a:p>
        </p:txBody>
      </p:sp>
      <p:sp>
        <p:nvSpPr>
          <p:cNvPr id="9" name="Text 7"/>
          <p:cNvSpPr/>
          <p:nvPr/>
        </p:nvSpPr>
        <p:spPr>
          <a:xfrm>
            <a:off x="822960" y="3520440"/>
            <a:ext cx="5029200" cy="1965960"/>
          </a:xfrm>
          <a:prstGeom prst="rect">
            <a:avLst/>
          </a:prstGeom>
          <a:solidFill>
            <a:srgbClr val="04121F"/>
          </a:solidFill>
          <a:ln w="12700">
            <a:solidFill>
              <a:srgbClr val="24445C"/>
            </a:solidFill>
          </a:ln>
        </p:spPr>
        <p:txBody>
          <a:bodyPr wrap="square" lIns="1524" tIns="1524" rIns="1524" bIns="1524" rtlCol="0" anchor="ctr">
            <a:normAutofit/>
          </a:bodyPr>
          <a:lstStyle/>
          <a:p>
            <a:pPr>
              <a:spcBef>
                <a:spcPts val="0"/>
              </a:spcBef>
              <a:spcAft>
                <a:spcPts val="0"/>
              </a:spcAft>
            </a:pPr>
            <a:r>
              <a:rPr sz="850" b="0">
                <a:solidFill>
                  <a:srgbClr val="FFFFFF"/>
                </a:solidFill>
                <a:latin typeface="Consolas"/>
              </a:rPr>
              <a:t>1 app = FastAPI(...)</a:t>
            </a:r>
          </a:p>
          <a:p>
            <a:pPr>
              <a:spcBef>
                <a:spcPts val="0"/>
              </a:spcBef>
              <a:spcAft>
                <a:spcPts val="0"/>
              </a:spcAft>
            </a:pPr>
            <a:r>
              <a:rPr sz="850" b="0">
                <a:solidFill>
                  <a:srgbClr val="FFFFFF"/>
                </a:solidFill>
                <a:latin typeface="Consolas"/>
              </a:rPr>
              <a:t>2 app.add_middleware(CORSMiddleware, ...)</a:t>
            </a:r>
          </a:p>
          <a:p>
            <a:pPr>
              <a:spcBef>
                <a:spcPts val="0"/>
              </a:spcBef>
              <a:spcAft>
                <a:spcPts val="0"/>
              </a:spcAft>
            </a:pPr>
            <a:r>
              <a:rPr sz="850" b="0">
                <a:solidFill>
                  <a:srgbClr val="FFFFFF"/>
                </a:solidFill>
                <a:latin typeface="Consolas"/>
              </a:rPr>
              <a:t>3 app.include_router(api_router, prefix="/api/v1")</a:t>
            </a:r>
          </a:p>
          <a:p>
            <a:pPr>
              <a:spcBef>
                <a:spcPts val="0"/>
              </a:spcBef>
              <a:spcAft>
                <a:spcPts val="0"/>
              </a:spcAft>
            </a:pPr>
            <a:r>
              <a:rPr sz="850" b="0">
                <a:solidFill>
                  <a:srgbClr val="FFFFFF"/>
                </a:solidFill>
                <a:latin typeface="Consolas"/>
              </a:rPr>
              <a:t>4 GEMINI_API_KEY = os.getenv(...)</a:t>
            </a:r>
          </a:p>
          <a:p>
            <a:pPr>
              <a:spcBef>
                <a:spcPts val="0"/>
              </a:spcBef>
              <a:spcAft>
                <a:spcPts val="0"/>
              </a:spcAft>
            </a:pPr>
            <a:r>
              <a:rPr sz="850" b="0">
                <a:solidFill>
                  <a:srgbClr val="FFFFFF"/>
                </a:solidFill>
                <a:latin typeface="Consolas"/>
              </a:rPr>
              <a:t>5 response = requests.post(...)</a:t>
            </a:r>
          </a:p>
          <a:p>
            <a:pPr>
              <a:spcBef>
                <a:spcPts val="0"/>
              </a:spcBef>
              <a:spcAft>
                <a:spcPts val="0"/>
              </a:spcAft>
            </a:pPr>
            <a:r>
              <a:rPr sz="850" b="0">
                <a:solidFill>
                  <a:srgbClr val="FFFFFF"/>
                </a:solidFill>
                <a:latin typeface="Consolas"/>
              </a:rPr>
              <a:t>6 kiểm tra sân trống → tạo booking qua API</a:t>
            </a:r>
          </a:p>
        </p:txBody>
      </p:sp>
      <p:sp>
        <p:nvSpPr>
          <p:cNvPr id="10" name="Text 8"/>
          <p:cNvSpPr/>
          <p:nvPr/>
        </p:nvSpPr>
        <p:spPr>
          <a:xfrm>
            <a:off x="6263640" y="3520440"/>
            <a:ext cx="4983480" cy="196596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a:spcBef>
                <a:spcPts val="0"/>
              </a:spcBef>
              <a:spcAft>
                <a:spcPts val="0"/>
              </a:spcAft>
            </a:pPr>
            <a:r>
              <a:rPr sz="1100" b="1" err="1">
                <a:solidFill>
                  <a:srgbClr val="00F5C6"/>
                </a:solidFill>
                <a:latin typeface="Aptos (Body)"/>
              </a:rPr>
              <a:t>Năng</a:t>
            </a:r>
            <a:r>
              <a:rPr sz="1100" b="1">
                <a:solidFill>
                  <a:srgbClr val="00F5C6"/>
                </a:solidFill>
                <a:latin typeface="Aptos (Body)"/>
              </a:rPr>
              <a:t> </a:t>
            </a:r>
            <a:r>
              <a:rPr sz="1100" b="1" err="1">
                <a:solidFill>
                  <a:srgbClr val="00F5C6"/>
                </a:solidFill>
                <a:latin typeface="Aptos (Body)"/>
              </a:rPr>
              <a:t>lực</a:t>
            </a:r>
            <a:r>
              <a:rPr sz="1100" b="1">
                <a:solidFill>
                  <a:srgbClr val="00F5C6"/>
                </a:solidFill>
                <a:latin typeface="Aptos (Body)"/>
              </a:rPr>
              <a:t> </a:t>
            </a:r>
            <a:r>
              <a:rPr sz="1100" b="1" err="1">
                <a:solidFill>
                  <a:srgbClr val="00F5C6"/>
                </a:solidFill>
                <a:latin typeface="Aptos (Body)"/>
              </a:rPr>
              <a:t>nghiệp</a:t>
            </a:r>
            <a:r>
              <a:rPr sz="1100" b="1">
                <a:solidFill>
                  <a:srgbClr val="00F5C6"/>
                </a:solidFill>
                <a:latin typeface="Aptos (Body)"/>
              </a:rPr>
              <a:t> </a:t>
            </a:r>
            <a:r>
              <a:rPr sz="1100" b="1" err="1">
                <a:solidFill>
                  <a:srgbClr val="00F5C6"/>
                </a:solidFill>
                <a:latin typeface="Aptos (Body)"/>
              </a:rPr>
              <a:t>vụ</a:t>
            </a:r>
            <a:r>
              <a:rPr sz="1100" b="1">
                <a:solidFill>
                  <a:srgbClr val="00F5C6"/>
                </a:solidFill>
                <a:latin typeface="Aptos (Body)"/>
              </a:rPr>
              <a:t> AI</a:t>
            </a:r>
            <a:endParaRPr lang="en-US" sz="1100">
              <a:latin typeface="Aptos (Body)"/>
            </a:endParaRPr>
          </a:p>
          <a:p>
            <a:pPr>
              <a:spcBef>
                <a:spcPts val="0"/>
              </a:spcBef>
              <a:spcAft>
                <a:spcPts val="0"/>
              </a:spcAft>
            </a:pPr>
            <a:r>
              <a:rPr sz="1100" b="0" err="1">
                <a:solidFill>
                  <a:srgbClr val="FFFFFF"/>
                </a:solidFill>
                <a:latin typeface="Aptos (Body)"/>
              </a:rPr>
              <a:t>Nhận</a:t>
            </a:r>
            <a:r>
              <a:rPr sz="1100" b="0">
                <a:solidFill>
                  <a:srgbClr val="FFFFFF"/>
                </a:solidFill>
                <a:latin typeface="Aptos (Body)"/>
              </a:rPr>
              <a:t> </a:t>
            </a:r>
            <a:r>
              <a:rPr sz="1100" b="0" err="1">
                <a:solidFill>
                  <a:srgbClr val="FFFFFF"/>
                </a:solidFill>
                <a:latin typeface="Aptos (Body)"/>
              </a:rPr>
              <a:t>diện</a:t>
            </a:r>
            <a:r>
              <a:rPr sz="1100" b="0">
                <a:solidFill>
                  <a:srgbClr val="FFFFFF"/>
                </a:solidFill>
                <a:latin typeface="Aptos (Body)"/>
              </a:rPr>
              <a:t> ý </a:t>
            </a:r>
            <a:r>
              <a:rPr sz="1100" b="0" err="1">
                <a:solidFill>
                  <a:srgbClr val="FFFFFF"/>
                </a:solidFill>
                <a:latin typeface="Aptos (Body)"/>
              </a:rPr>
              <a:t>định</a:t>
            </a:r>
            <a:r>
              <a:rPr sz="1100" b="0">
                <a:solidFill>
                  <a:srgbClr val="FFFFFF"/>
                </a:solidFill>
                <a:latin typeface="Aptos (Body)"/>
              </a:rPr>
              <a:t> </a:t>
            </a:r>
            <a:r>
              <a:rPr sz="1100" b="0" err="1">
                <a:solidFill>
                  <a:srgbClr val="FFFFFF"/>
                </a:solidFill>
                <a:latin typeface="Aptos (Body)"/>
              </a:rPr>
              <a:t>người</a:t>
            </a:r>
            <a:r>
              <a:rPr sz="1100" b="0">
                <a:solidFill>
                  <a:srgbClr val="FFFFFF"/>
                </a:solidFill>
                <a:latin typeface="Aptos (Body)"/>
              </a:rPr>
              <a:t> </a:t>
            </a:r>
            <a:r>
              <a:rPr sz="1100" b="0" err="1">
                <a:solidFill>
                  <a:srgbClr val="FFFFFF"/>
                </a:solidFill>
                <a:latin typeface="Aptos (Body)"/>
              </a:rPr>
              <a:t>dùng</a:t>
            </a:r>
            <a:r>
              <a:rPr sz="1100" b="0">
                <a:solidFill>
                  <a:srgbClr val="FFFFFF"/>
                </a:solidFill>
                <a:latin typeface="Aptos (Body)"/>
              </a:rPr>
              <a:t>, </a:t>
            </a:r>
            <a:r>
              <a:rPr sz="1100" b="0" err="1">
                <a:solidFill>
                  <a:srgbClr val="FFFFFF"/>
                </a:solidFill>
                <a:latin typeface="Aptos (Body)"/>
              </a:rPr>
              <a:t>tư</a:t>
            </a:r>
            <a:r>
              <a:rPr sz="1100" b="0">
                <a:solidFill>
                  <a:srgbClr val="FFFFFF"/>
                </a:solidFill>
                <a:latin typeface="Aptos (Body)"/>
              </a:rPr>
              <a:t> </a:t>
            </a:r>
            <a:r>
              <a:rPr sz="1100" b="0" err="1">
                <a:solidFill>
                  <a:srgbClr val="FFFFFF"/>
                </a:solidFill>
                <a:latin typeface="Aptos (Body)"/>
              </a:rPr>
              <a:t>vấn</a:t>
            </a:r>
            <a:r>
              <a:rPr sz="1100" b="0">
                <a:solidFill>
                  <a:srgbClr val="FFFFFF"/>
                </a:solidFill>
                <a:latin typeface="Aptos (Body)"/>
              </a:rPr>
              <a:t> </a:t>
            </a:r>
            <a:r>
              <a:rPr sz="1100" b="0" err="1">
                <a:solidFill>
                  <a:srgbClr val="FFFFFF"/>
                </a:solidFill>
                <a:latin typeface="Aptos (Body)"/>
              </a:rPr>
              <a:t>giá</a:t>
            </a:r>
            <a:r>
              <a:rPr sz="1100" b="0">
                <a:solidFill>
                  <a:srgbClr val="FFFFFF"/>
                </a:solidFill>
                <a:latin typeface="Aptos (Body)"/>
              </a:rPr>
              <a:t>/</a:t>
            </a:r>
            <a:r>
              <a:rPr sz="1100" b="0" err="1">
                <a:solidFill>
                  <a:srgbClr val="FFFFFF"/>
                </a:solidFill>
                <a:latin typeface="Aptos (Body)"/>
              </a:rPr>
              <a:t>dịch</a:t>
            </a:r>
            <a:r>
              <a:rPr sz="1100" b="0">
                <a:solidFill>
                  <a:srgbClr val="FFFFFF"/>
                </a:solidFill>
                <a:latin typeface="Aptos (Body)"/>
              </a:rPr>
              <a:t> </a:t>
            </a:r>
            <a:r>
              <a:rPr sz="1100" b="0" err="1">
                <a:solidFill>
                  <a:srgbClr val="FFFFFF"/>
                </a:solidFill>
                <a:latin typeface="Aptos (Body)"/>
              </a:rPr>
              <a:t>vụ</a:t>
            </a:r>
            <a:r>
              <a:rPr sz="1100" b="0">
                <a:solidFill>
                  <a:srgbClr val="FFFFFF"/>
                </a:solidFill>
                <a:latin typeface="Aptos (Body)"/>
              </a:rPr>
              <a:t>, </a:t>
            </a:r>
            <a:r>
              <a:rPr sz="1100" b="0" err="1">
                <a:solidFill>
                  <a:srgbClr val="FFFFFF"/>
                </a:solidFill>
                <a:latin typeface="Aptos (Body)"/>
              </a:rPr>
              <a:t>gợi</a:t>
            </a:r>
            <a:r>
              <a:rPr sz="1100" b="0">
                <a:solidFill>
                  <a:srgbClr val="FFFFFF"/>
                </a:solidFill>
                <a:latin typeface="Aptos (Body)"/>
              </a:rPr>
              <a:t> ý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hoặc</a:t>
            </a:r>
            <a:r>
              <a:rPr sz="1100" b="0">
                <a:solidFill>
                  <a:srgbClr val="FFFFFF"/>
                </a:solidFill>
                <a:latin typeface="Aptos (Body)"/>
              </a:rPr>
              <a:t> </a:t>
            </a:r>
            <a:r>
              <a:rPr sz="1100" b="0" err="1">
                <a:solidFill>
                  <a:srgbClr val="FFFFFF"/>
                </a:solidFill>
                <a:latin typeface="Aptos (Body)"/>
              </a:rPr>
              <a:t>khung</a:t>
            </a:r>
            <a:r>
              <a:rPr sz="1100" b="0">
                <a:solidFill>
                  <a:srgbClr val="FFFFFF"/>
                </a:solidFill>
                <a:latin typeface="Aptos (Body)"/>
              </a:rPr>
              <a:t> </a:t>
            </a:r>
            <a:r>
              <a:rPr sz="1100" b="0" err="1">
                <a:solidFill>
                  <a:srgbClr val="FFFFFF"/>
                </a:solidFill>
                <a:latin typeface="Aptos (Body)"/>
              </a:rPr>
              <a:t>giờ</a:t>
            </a:r>
            <a:r>
              <a:rPr sz="1100" b="0">
                <a:solidFill>
                  <a:srgbClr val="FFFFFF"/>
                </a:solidFill>
                <a:latin typeface="Aptos (Body)"/>
              </a:rPr>
              <a:t> </a:t>
            </a:r>
            <a:r>
              <a:rPr sz="1100" b="0" err="1">
                <a:solidFill>
                  <a:srgbClr val="FFFFFF"/>
                </a:solidFill>
                <a:latin typeface="Aptos (Body)"/>
              </a:rPr>
              <a:t>còn</a:t>
            </a:r>
            <a:r>
              <a:rPr sz="1100" b="0">
                <a:solidFill>
                  <a:srgbClr val="FFFFFF"/>
                </a:solidFill>
                <a:latin typeface="Aptos (Body)"/>
              </a:rPr>
              <a:t> </a:t>
            </a:r>
            <a:r>
              <a:rPr sz="1100" b="0" err="1">
                <a:solidFill>
                  <a:srgbClr val="FFFFFF"/>
                </a:solidFill>
                <a:latin typeface="Aptos (Body)"/>
              </a:rPr>
              <a:t>trống</a:t>
            </a:r>
            <a:r>
              <a:rPr sz="1100" b="0">
                <a:solidFill>
                  <a:srgbClr val="FFFFFF"/>
                </a:solidFill>
                <a:latin typeface="Aptos (Body)"/>
              </a:rPr>
              <a:t>, </a:t>
            </a:r>
            <a:r>
              <a:rPr sz="1100" b="0" err="1">
                <a:solidFill>
                  <a:srgbClr val="FFFFFF"/>
                </a:solidFill>
                <a:latin typeface="Aptos (Body)"/>
              </a:rPr>
              <a:t>từ</a:t>
            </a:r>
            <a:r>
              <a:rPr sz="1100" b="0">
                <a:solidFill>
                  <a:srgbClr val="FFFFFF"/>
                </a:solidFill>
                <a:latin typeface="Aptos (Body)"/>
              </a:rPr>
              <a:t> </a:t>
            </a:r>
            <a:r>
              <a:rPr sz="1100" b="0" err="1">
                <a:solidFill>
                  <a:srgbClr val="FFFFFF"/>
                </a:solidFill>
                <a:latin typeface="Aptos (Body)"/>
              </a:rPr>
              <a:t>chối</a:t>
            </a:r>
            <a:r>
              <a:rPr sz="1100" b="0">
                <a:solidFill>
                  <a:srgbClr val="FFFFFF"/>
                </a:solidFill>
                <a:latin typeface="Aptos (Body)"/>
              </a:rPr>
              <a:t> </a:t>
            </a:r>
            <a:r>
              <a:rPr sz="1100" b="0" err="1">
                <a:solidFill>
                  <a:srgbClr val="FFFFFF"/>
                </a:solidFill>
                <a:latin typeface="Aptos (Body)"/>
              </a:rPr>
              <a:t>sân</a:t>
            </a:r>
            <a:r>
              <a:rPr sz="1100" b="0">
                <a:solidFill>
                  <a:srgbClr val="FFFFFF"/>
                </a:solidFill>
                <a:latin typeface="Aptos (Body)"/>
              </a:rPr>
              <a:t> </a:t>
            </a:r>
            <a:r>
              <a:rPr sz="1100" b="0" err="1">
                <a:solidFill>
                  <a:srgbClr val="FFFFFF"/>
                </a:solidFill>
                <a:latin typeface="Aptos (Body)"/>
              </a:rPr>
              <a:t>đã</a:t>
            </a:r>
            <a:r>
              <a:rPr sz="1100" b="0">
                <a:solidFill>
                  <a:srgbClr val="FFFFFF"/>
                </a:solidFill>
                <a:latin typeface="Aptos (Body)"/>
              </a:rPr>
              <a:t> </a:t>
            </a:r>
            <a:r>
              <a:rPr sz="1100" b="0" err="1">
                <a:solidFill>
                  <a:srgbClr val="FFFFFF"/>
                </a:solidFill>
                <a:latin typeface="Aptos (Body)"/>
              </a:rPr>
              <a:t>có</a:t>
            </a:r>
            <a:r>
              <a:rPr sz="1100" b="0">
                <a:solidFill>
                  <a:srgbClr val="FFFFFF"/>
                </a:solidFill>
                <a:latin typeface="Aptos (Body)"/>
              </a:rPr>
              <a:t> </a:t>
            </a:r>
            <a:r>
              <a:rPr sz="1100" b="0" err="1">
                <a:solidFill>
                  <a:srgbClr val="FFFFFF"/>
                </a:solidFill>
                <a:latin typeface="Aptos (Body)"/>
              </a:rPr>
              <a:t>khách</a:t>
            </a:r>
            <a:r>
              <a:rPr sz="1100" b="0">
                <a:solidFill>
                  <a:srgbClr val="FFFFFF"/>
                </a:solidFill>
                <a:latin typeface="Aptos (Body)"/>
              </a:rPr>
              <a:t> </a:t>
            </a:r>
            <a:r>
              <a:rPr sz="1100" b="0" err="1">
                <a:solidFill>
                  <a:srgbClr val="FFFFFF"/>
                </a:solidFill>
                <a:latin typeface="Aptos (Body)"/>
              </a:rPr>
              <a:t>và</a:t>
            </a:r>
            <a:r>
              <a:rPr sz="1100" b="0">
                <a:solidFill>
                  <a:srgbClr val="FFFFFF"/>
                </a:solidFill>
                <a:latin typeface="Aptos (Body)"/>
              </a:rPr>
              <a:t> </a:t>
            </a:r>
            <a:r>
              <a:rPr sz="1100" b="0" err="1">
                <a:solidFill>
                  <a:srgbClr val="FFFFFF"/>
                </a:solidFill>
                <a:latin typeface="Aptos (Body)"/>
              </a:rPr>
              <a:t>hỗ</a:t>
            </a:r>
            <a:r>
              <a:rPr sz="1100" b="0">
                <a:solidFill>
                  <a:srgbClr val="FFFFFF"/>
                </a:solidFill>
                <a:latin typeface="Aptos (Body)"/>
              </a:rPr>
              <a:t> </a:t>
            </a:r>
            <a:r>
              <a:rPr sz="1100" b="0" err="1">
                <a:solidFill>
                  <a:srgbClr val="FFFFFF"/>
                </a:solidFill>
                <a:latin typeface="Aptos (Body)"/>
              </a:rPr>
              <a:t>trợ</a:t>
            </a:r>
            <a:r>
              <a:rPr sz="1100" b="0">
                <a:solidFill>
                  <a:srgbClr val="FFFFFF"/>
                </a:solidFill>
                <a:latin typeface="Aptos (Body)"/>
              </a:rPr>
              <a:t> </a:t>
            </a:r>
            <a:r>
              <a:rPr sz="1100" b="0" err="1">
                <a:solidFill>
                  <a:srgbClr val="FFFFFF"/>
                </a:solidFill>
                <a:latin typeface="Aptos (Body)"/>
              </a:rPr>
              <a:t>tạo</a:t>
            </a:r>
            <a:r>
              <a:rPr sz="1100" b="0">
                <a:solidFill>
                  <a:srgbClr val="FFFFFF"/>
                </a:solidFill>
                <a:latin typeface="Aptos (Body)"/>
              </a:rPr>
              <a:t> booking </a:t>
            </a:r>
            <a:r>
              <a:rPr sz="1100" b="0" err="1">
                <a:solidFill>
                  <a:srgbClr val="FFFFFF"/>
                </a:solidFill>
                <a:latin typeface="Aptos (Body)"/>
              </a:rPr>
              <a:t>sau</a:t>
            </a:r>
            <a:r>
              <a:rPr sz="1100" b="0">
                <a:solidFill>
                  <a:srgbClr val="FFFFFF"/>
                </a:solidFill>
                <a:latin typeface="Aptos (Body)"/>
              </a:rPr>
              <a:t> </a:t>
            </a:r>
            <a:r>
              <a:rPr sz="1100" b="0" err="1">
                <a:solidFill>
                  <a:srgbClr val="FFFFFF"/>
                </a:solidFill>
                <a:latin typeface="Aptos (Body)"/>
              </a:rPr>
              <a:t>khi</a:t>
            </a:r>
            <a:r>
              <a:rPr sz="1100" b="0">
                <a:solidFill>
                  <a:srgbClr val="FFFFFF"/>
                </a:solidFill>
                <a:latin typeface="Aptos (Body)"/>
              </a:rPr>
              <a:t> </a:t>
            </a:r>
            <a:r>
              <a:rPr sz="1100" b="0" err="1">
                <a:solidFill>
                  <a:srgbClr val="FFFFFF"/>
                </a:solidFill>
                <a:latin typeface="Aptos (Body)"/>
              </a:rPr>
              <a:t>khách</a:t>
            </a:r>
            <a:r>
              <a:rPr sz="1100" b="0">
                <a:solidFill>
                  <a:srgbClr val="FFFFFF"/>
                </a:solidFill>
                <a:latin typeface="Aptos (Body)"/>
              </a:rPr>
              <a:t> </a:t>
            </a:r>
            <a:r>
              <a:rPr sz="1100" b="0" err="1">
                <a:solidFill>
                  <a:srgbClr val="FFFFFF"/>
                </a:solidFill>
                <a:latin typeface="Aptos (Body)"/>
              </a:rPr>
              <a:t>xác</a:t>
            </a:r>
            <a:r>
              <a:rPr sz="1100" b="0">
                <a:solidFill>
                  <a:srgbClr val="FFFFFF"/>
                </a:solidFill>
                <a:latin typeface="Aptos (Body)"/>
              </a:rPr>
              <a:t> </a:t>
            </a:r>
            <a:r>
              <a:rPr sz="1100" b="0" err="1">
                <a:solidFill>
                  <a:srgbClr val="FFFFFF"/>
                </a:solidFill>
                <a:latin typeface="Aptos (Body)"/>
              </a:rPr>
              <a:t>nhận</a:t>
            </a:r>
            <a:r>
              <a:rPr sz="1100" b="0">
                <a:solidFill>
                  <a:srgbClr val="FFFFFF"/>
                </a:solidFill>
                <a:latin typeface="Aptos (Body)"/>
              </a:rPr>
              <a:t>.</a:t>
            </a:r>
          </a:p>
        </p:txBody>
      </p:sp>
      <p:sp>
        <p:nvSpPr>
          <p:cNvPr id="11" name="Text 9"/>
          <p:cNvSpPr/>
          <p:nvPr/>
        </p:nvSpPr>
        <p:spPr>
          <a:xfrm>
            <a:off x="2926080" y="5897880"/>
            <a:ext cx="6583680" cy="292608"/>
          </a:xfrm>
          <a:prstGeom prst="roundRect">
            <a:avLst/>
          </a:prstGeom>
          <a:solidFill>
            <a:srgbClr val="F3C04E"/>
          </a:solidFill>
          <a:ln>
            <a:solidFill>
              <a:srgbClr val="F3C04E">
                <a:alpha val="90000"/>
              </a:srgbClr>
            </a:solidFill>
          </a:ln>
        </p:spPr>
        <p:txBody>
          <a:bodyPr wrap="square" lIns="254" tIns="254" rIns="254" bIns="254" rtlCol="0" anchor="ctr">
            <a:normAutofit/>
          </a:bodyPr>
          <a:lstStyle/>
          <a:p>
            <a:pPr marL="0" indent="0" algn="ctr">
              <a:buNone/>
            </a:pPr>
            <a:r>
              <a:rPr sz="800" b="1">
                <a:solidFill>
                  <a:srgbClr val="051424"/>
                </a:solidFill>
                <a:latin typeface="Arial"/>
              </a:rPr>
              <a:t>AI </a:t>
            </a:r>
            <a:r>
              <a:rPr sz="800" b="1" err="1">
                <a:solidFill>
                  <a:srgbClr val="051424"/>
                </a:solidFill>
                <a:latin typeface="Arial"/>
              </a:rPr>
              <a:t>hỗ</a:t>
            </a:r>
            <a:r>
              <a:rPr sz="800" b="1">
                <a:solidFill>
                  <a:srgbClr val="051424"/>
                </a:solidFill>
                <a:latin typeface="Arial"/>
              </a:rPr>
              <a:t> </a:t>
            </a:r>
            <a:r>
              <a:rPr sz="800" b="1" err="1">
                <a:solidFill>
                  <a:srgbClr val="051424"/>
                </a:solidFill>
                <a:latin typeface="Arial"/>
              </a:rPr>
              <a:t>trợ</a:t>
            </a:r>
            <a:r>
              <a:rPr sz="800" b="1">
                <a:solidFill>
                  <a:srgbClr val="051424"/>
                </a:solidFill>
                <a:latin typeface="Arial"/>
              </a:rPr>
              <a:t> </a:t>
            </a:r>
            <a:r>
              <a:rPr sz="800" b="1" err="1">
                <a:solidFill>
                  <a:srgbClr val="051424"/>
                </a:solidFill>
                <a:latin typeface="Arial"/>
              </a:rPr>
              <a:t>giao</a:t>
            </a:r>
            <a:r>
              <a:rPr sz="800" b="1">
                <a:solidFill>
                  <a:srgbClr val="051424"/>
                </a:solidFill>
                <a:latin typeface="Arial"/>
              </a:rPr>
              <a:t> </a:t>
            </a:r>
            <a:r>
              <a:rPr sz="800" b="1" err="1">
                <a:solidFill>
                  <a:srgbClr val="051424"/>
                </a:solidFill>
                <a:latin typeface="Arial"/>
              </a:rPr>
              <a:t>tiếp</a:t>
            </a:r>
            <a:r>
              <a:rPr sz="800" b="1">
                <a:solidFill>
                  <a:srgbClr val="051424"/>
                </a:solidFill>
                <a:latin typeface="Arial"/>
              </a:rPr>
              <a:t> </a:t>
            </a:r>
            <a:r>
              <a:rPr sz="800" b="1" err="1">
                <a:solidFill>
                  <a:srgbClr val="051424"/>
                </a:solidFill>
                <a:latin typeface="Arial"/>
              </a:rPr>
              <a:t>và</a:t>
            </a:r>
            <a:r>
              <a:rPr sz="800" b="1">
                <a:solidFill>
                  <a:srgbClr val="051424"/>
                </a:solidFill>
                <a:latin typeface="Arial"/>
              </a:rPr>
              <a:t> </a:t>
            </a:r>
            <a:r>
              <a:rPr sz="800" b="1" err="1">
                <a:solidFill>
                  <a:srgbClr val="051424"/>
                </a:solidFill>
                <a:latin typeface="Arial"/>
              </a:rPr>
              <a:t>đề</a:t>
            </a:r>
            <a:r>
              <a:rPr sz="800" b="1">
                <a:solidFill>
                  <a:srgbClr val="051424"/>
                </a:solidFill>
                <a:latin typeface="Arial"/>
              </a:rPr>
              <a:t> </a:t>
            </a:r>
            <a:r>
              <a:rPr sz="800" b="1" err="1">
                <a:solidFill>
                  <a:srgbClr val="051424"/>
                </a:solidFill>
                <a:latin typeface="Arial"/>
              </a:rPr>
              <a:t>xuất</a:t>
            </a:r>
            <a:r>
              <a:rPr sz="800" b="1">
                <a:solidFill>
                  <a:srgbClr val="051424"/>
                </a:solidFill>
                <a:latin typeface="Arial"/>
              </a:rPr>
              <a:t>; </a:t>
            </a:r>
            <a:r>
              <a:rPr sz="800" b="1" err="1">
                <a:solidFill>
                  <a:srgbClr val="051424"/>
                </a:solidFill>
                <a:latin typeface="Arial"/>
              </a:rPr>
              <a:t>thao</a:t>
            </a:r>
            <a:r>
              <a:rPr sz="800" b="1">
                <a:solidFill>
                  <a:srgbClr val="051424"/>
                </a:solidFill>
                <a:latin typeface="Arial"/>
              </a:rPr>
              <a:t> </a:t>
            </a:r>
            <a:r>
              <a:rPr sz="800" b="1" err="1">
                <a:solidFill>
                  <a:srgbClr val="051424"/>
                </a:solidFill>
                <a:latin typeface="Arial"/>
              </a:rPr>
              <a:t>tác</a:t>
            </a:r>
            <a:r>
              <a:rPr sz="800" b="1">
                <a:solidFill>
                  <a:srgbClr val="051424"/>
                </a:solidFill>
                <a:latin typeface="Arial"/>
              </a:rPr>
              <a:t> </a:t>
            </a:r>
            <a:r>
              <a:rPr sz="800" b="1" err="1">
                <a:solidFill>
                  <a:srgbClr val="051424"/>
                </a:solidFill>
                <a:latin typeface="Arial"/>
              </a:rPr>
              <a:t>tạo</a:t>
            </a:r>
            <a:r>
              <a:rPr sz="800" b="1">
                <a:solidFill>
                  <a:srgbClr val="051424"/>
                </a:solidFill>
                <a:latin typeface="Arial"/>
              </a:rPr>
              <a:t> booking </a:t>
            </a:r>
            <a:r>
              <a:rPr sz="800" b="1" err="1">
                <a:solidFill>
                  <a:srgbClr val="051424"/>
                </a:solidFill>
                <a:latin typeface="Arial"/>
              </a:rPr>
              <a:t>vẫn</a:t>
            </a:r>
            <a:r>
              <a:rPr sz="800" b="1">
                <a:solidFill>
                  <a:srgbClr val="051424"/>
                </a:solidFill>
                <a:latin typeface="Arial"/>
              </a:rPr>
              <a:t> </a:t>
            </a:r>
            <a:r>
              <a:rPr sz="800" b="1" err="1">
                <a:solidFill>
                  <a:srgbClr val="051424"/>
                </a:solidFill>
                <a:latin typeface="Arial"/>
              </a:rPr>
              <a:t>đi</a:t>
            </a:r>
            <a:r>
              <a:rPr sz="800" b="1">
                <a:solidFill>
                  <a:srgbClr val="051424"/>
                </a:solidFill>
                <a:latin typeface="Arial"/>
              </a:rPr>
              <a:t> qua API </a:t>
            </a:r>
            <a:r>
              <a:rPr sz="800" b="1" err="1">
                <a:solidFill>
                  <a:srgbClr val="051424"/>
                </a:solidFill>
                <a:latin typeface="Arial"/>
              </a:rPr>
              <a:t>để</a:t>
            </a:r>
            <a:r>
              <a:rPr sz="800" b="1">
                <a:solidFill>
                  <a:srgbClr val="051424"/>
                </a:solidFill>
                <a:latin typeface="Arial"/>
              </a:rPr>
              <a:t> </a:t>
            </a:r>
            <a:r>
              <a:rPr sz="800" b="1" err="1">
                <a:solidFill>
                  <a:srgbClr val="051424"/>
                </a:solidFill>
                <a:latin typeface="Arial"/>
              </a:rPr>
              <a:t>kiểm</a:t>
            </a:r>
            <a:r>
              <a:rPr sz="800" b="1">
                <a:solidFill>
                  <a:srgbClr val="051424"/>
                </a:solidFill>
                <a:latin typeface="Arial"/>
              </a:rPr>
              <a:t> </a:t>
            </a:r>
            <a:r>
              <a:rPr sz="800" b="1" err="1">
                <a:solidFill>
                  <a:srgbClr val="051424"/>
                </a:solidFill>
                <a:latin typeface="Arial"/>
              </a:rPr>
              <a:t>tra</a:t>
            </a:r>
            <a:r>
              <a:rPr sz="800" b="1">
                <a:solidFill>
                  <a:srgbClr val="051424"/>
                </a:solidFill>
                <a:latin typeface="Arial"/>
              </a:rPr>
              <a:t> </a:t>
            </a:r>
            <a:r>
              <a:rPr sz="800" b="1" err="1">
                <a:solidFill>
                  <a:srgbClr val="051424"/>
                </a:solidFill>
                <a:latin typeface="Arial"/>
              </a:rPr>
              <a:t>dữ</a:t>
            </a:r>
            <a:r>
              <a:rPr sz="800" b="1">
                <a:solidFill>
                  <a:srgbClr val="051424"/>
                </a:solidFill>
                <a:latin typeface="Arial"/>
              </a:rPr>
              <a:t> </a:t>
            </a:r>
            <a:r>
              <a:rPr sz="800" b="1" err="1">
                <a:solidFill>
                  <a:srgbClr val="051424"/>
                </a:solidFill>
                <a:latin typeface="Arial"/>
              </a:rPr>
              <a:t>liệu</a:t>
            </a:r>
            <a:r>
              <a:rPr sz="800" b="1">
                <a:solidFill>
                  <a:srgbClr val="051424"/>
                </a:solidFill>
                <a:latin typeface="Arial"/>
              </a:rPr>
              <a:t>, </a:t>
            </a:r>
            <a:r>
              <a:rPr sz="800" b="1" err="1">
                <a:solidFill>
                  <a:srgbClr val="051424"/>
                </a:solidFill>
                <a:latin typeface="Arial"/>
              </a:rPr>
              <a:t>chống</a:t>
            </a:r>
            <a:r>
              <a:rPr sz="800" b="1">
                <a:solidFill>
                  <a:srgbClr val="051424"/>
                </a:solidFill>
                <a:latin typeface="Arial"/>
              </a:rPr>
              <a:t> </a:t>
            </a:r>
            <a:r>
              <a:rPr sz="800" b="1" err="1">
                <a:solidFill>
                  <a:srgbClr val="051424"/>
                </a:solidFill>
                <a:latin typeface="Arial"/>
              </a:rPr>
              <a:t>đặt</a:t>
            </a:r>
            <a:r>
              <a:rPr sz="800" b="1">
                <a:solidFill>
                  <a:srgbClr val="051424"/>
                </a:solidFill>
                <a:latin typeface="Arial"/>
              </a:rPr>
              <a:t> </a:t>
            </a:r>
            <a:r>
              <a:rPr sz="800" b="1" err="1">
                <a:solidFill>
                  <a:srgbClr val="051424"/>
                </a:solidFill>
                <a:latin typeface="Arial"/>
              </a:rPr>
              <a:t>trùng</a:t>
            </a:r>
            <a:r>
              <a:rPr sz="800" b="1">
                <a:solidFill>
                  <a:srgbClr val="051424"/>
                </a:solidFill>
                <a:latin typeface="Arial"/>
              </a:rPr>
              <a:t> </a:t>
            </a:r>
            <a:r>
              <a:rPr sz="800" b="1" err="1">
                <a:solidFill>
                  <a:srgbClr val="051424"/>
                </a:solidFill>
                <a:latin typeface="Arial"/>
              </a:rPr>
              <a:t>và</a:t>
            </a:r>
            <a:r>
              <a:rPr sz="800" b="1">
                <a:solidFill>
                  <a:srgbClr val="051424"/>
                </a:solidFill>
                <a:latin typeface="Arial"/>
              </a:rPr>
              <a:t> </a:t>
            </a:r>
            <a:r>
              <a:rPr sz="800" b="1" err="1">
                <a:solidFill>
                  <a:srgbClr val="051424"/>
                </a:solidFill>
                <a:latin typeface="Arial"/>
              </a:rPr>
              <a:t>lưu</a:t>
            </a:r>
            <a:r>
              <a:rPr sz="800" b="1">
                <a:solidFill>
                  <a:srgbClr val="051424"/>
                </a:solidFill>
                <a:latin typeface="Arial"/>
              </a:rPr>
              <a:t> </a:t>
            </a:r>
            <a:r>
              <a:rPr sz="800" b="1" err="1">
                <a:solidFill>
                  <a:srgbClr val="051424"/>
                </a:solidFill>
                <a:latin typeface="Arial"/>
              </a:rPr>
              <a:t>vào</a:t>
            </a:r>
            <a:r>
              <a:rPr sz="800" b="1">
                <a:solidFill>
                  <a:srgbClr val="051424"/>
                </a:solidFill>
                <a:latin typeface="Arial"/>
              </a:rPr>
              <a:t> database.</a:t>
            </a:r>
            <a:endParaRPr lang="en-US" sz="1000"/>
          </a:p>
        </p:txBody>
      </p:sp>
      <p:pic>
        <p:nvPicPr>
          <p:cNvPr id="12" name="Picture 11"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3" name="Picture 12" descr="image.png"/>
          <p:cNvPicPr>
            <a:picLocks noChangeAspect="1"/>
          </p:cNvPicPr>
          <p:nvPr/>
        </p:nvPicPr>
        <p:blipFill>
          <a:blip r:embed="rId4"/>
          <a:stretch>
            <a:fillRect/>
          </a:stretch>
        </p:blipFill>
        <p:spPr>
          <a:xfrm>
            <a:off x="10195560" y="91440"/>
            <a:ext cx="1783080" cy="594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WEB CLIENT – TRẢI NGHIỆM ĐẶT SÂN</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08</a:t>
            </a:r>
            <a:endParaRPr lang="en-US" sz="850"/>
          </a:p>
        </p:txBody>
      </p:sp>
      <p:sp>
        <p:nvSpPr>
          <p:cNvPr id="7" name="Text 4"/>
          <p:cNvSpPr/>
          <p:nvPr/>
        </p:nvSpPr>
        <p:spPr>
          <a:xfrm>
            <a:off x="6537960" y="960120"/>
            <a:ext cx="4800600" cy="109728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Luồng</a:t>
            </a:r>
            <a:r>
              <a:rPr sz="1100" b="1">
                <a:solidFill>
                  <a:srgbClr val="00F5C6"/>
                </a:solidFill>
                <a:latin typeface="Segoe"/>
              </a:rPr>
              <a:t> </a:t>
            </a:r>
            <a:r>
              <a:rPr sz="1100" b="1" err="1">
                <a:solidFill>
                  <a:srgbClr val="00F5C6"/>
                </a:solidFill>
                <a:latin typeface="Segoe"/>
              </a:rPr>
              <a:t>đặt</a:t>
            </a:r>
            <a:r>
              <a:rPr sz="1100" b="1">
                <a:solidFill>
                  <a:srgbClr val="00F5C6"/>
                </a:solidFill>
                <a:latin typeface="Segoe"/>
              </a:rPr>
              <a:t> </a:t>
            </a:r>
            <a:r>
              <a:rPr sz="1100" b="1" err="1">
                <a:solidFill>
                  <a:srgbClr val="00F5C6"/>
                </a:solidFill>
                <a:latin typeface="Segoe"/>
              </a:rPr>
              <a:t>sân</a:t>
            </a:r>
            <a:endParaRPr lang="en-US" sz="1100">
              <a:latin typeface="Segoe"/>
            </a:endParaRPr>
          </a:p>
          <a:p>
            <a:pPr>
              <a:spcBef>
                <a:spcPts val="0"/>
              </a:spcBef>
              <a:spcAft>
                <a:spcPts val="0"/>
              </a:spcAft>
            </a:pP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môn</a:t>
            </a:r>
            <a:r>
              <a:rPr sz="1100" b="0">
                <a:solidFill>
                  <a:srgbClr val="FFFFFF"/>
                </a:solidFill>
                <a:latin typeface="Segoe"/>
              </a:rPr>
              <a:t> →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ngày</a:t>
            </a:r>
            <a:r>
              <a:rPr sz="1100" b="0">
                <a:solidFill>
                  <a:srgbClr val="FFFFFF"/>
                </a:solidFill>
                <a:latin typeface="Segoe"/>
              </a:rPr>
              <a:t>/</a:t>
            </a:r>
            <a:r>
              <a:rPr sz="1100" b="0" err="1">
                <a:solidFill>
                  <a:srgbClr val="FFFFFF"/>
                </a:solidFill>
                <a:latin typeface="Segoe"/>
              </a:rPr>
              <a:t>giờ</a:t>
            </a:r>
            <a:r>
              <a:rPr sz="1100" b="0">
                <a:solidFill>
                  <a:srgbClr val="FFFFFF"/>
                </a:solidFill>
                <a:latin typeface="Segoe"/>
              </a:rPr>
              <a:t> →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 </a:t>
            </a:r>
            <a:r>
              <a:rPr sz="1100" b="0" err="1">
                <a:solidFill>
                  <a:srgbClr val="FFFFFF"/>
                </a:solidFill>
                <a:latin typeface="Segoe"/>
              </a:rPr>
              <a:t>nhập</a:t>
            </a:r>
            <a:r>
              <a:rPr sz="1100" b="0">
                <a:solidFill>
                  <a:srgbClr val="FFFFFF"/>
                </a:solidFill>
                <a:latin typeface="Segoe"/>
              </a:rPr>
              <a:t> </a:t>
            </a:r>
            <a:r>
              <a:rPr sz="1100" b="0" err="1">
                <a:solidFill>
                  <a:srgbClr val="FFFFFF"/>
                </a:solidFill>
                <a:latin typeface="Segoe"/>
              </a:rPr>
              <a:t>tên</a:t>
            </a:r>
            <a:r>
              <a:rPr sz="1100" b="0">
                <a:solidFill>
                  <a:srgbClr val="FFFFFF"/>
                </a:solidFill>
                <a:latin typeface="Segoe"/>
              </a:rPr>
              <a:t>/SĐT </a:t>
            </a:r>
            <a:r>
              <a:rPr sz="1100" b="0" err="1">
                <a:solidFill>
                  <a:srgbClr val="FFFFFF"/>
                </a:solidFill>
                <a:latin typeface="Segoe"/>
              </a:rPr>
              <a:t>hợp</a:t>
            </a:r>
            <a:r>
              <a:rPr sz="1100" b="0">
                <a:solidFill>
                  <a:srgbClr val="FFFFFF"/>
                </a:solidFill>
                <a:latin typeface="Segoe"/>
              </a:rPr>
              <a:t> </a:t>
            </a:r>
            <a:r>
              <a:rPr sz="1100" b="0" err="1">
                <a:solidFill>
                  <a:srgbClr val="FFFFFF"/>
                </a:solidFill>
                <a:latin typeface="Segoe"/>
              </a:rPr>
              <a:t>lệ</a:t>
            </a:r>
            <a:r>
              <a:rPr sz="1100" b="0">
                <a:solidFill>
                  <a:srgbClr val="FFFFFF"/>
                </a:solidFill>
                <a:latin typeface="Segoe"/>
              </a:rPr>
              <a:t> → </a:t>
            </a:r>
            <a:r>
              <a:rPr sz="1100" b="0" err="1">
                <a:solidFill>
                  <a:srgbClr val="FFFFFF"/>
                </a:solidFill>
                <a:latin typeface="Segoe"/>
              </a:rPr>
              <a:t>xác</a:t>
            </a:r>
            <a:r>
              <a:rPr sz="1100" b="0">
                <a:solidFill>
                  <a:srgbClr val="FFFFFF"/>
                </a:solidFill>
                <a:latin typeface="Segoe"/>
              </a:rPr>
              <a:t> </a:t>
            </a:r>
            <a:r>
              <a:rPr sz="1100" b="0" err="1">
                <a:solidFill>
                  <a:srgbClr val="FFFFFF"/>
                </a:solidFill>
                <a:latin typeface="Segoe"/>
              </a:rPr>
              <a:t>nhận</a:t>
            </a:r>
            <a:r>
              <a:rPr sz="1100" b="0">
                <a:solidFill>
                  <a:srgbClr val="FFFFFF"/>
                </a:solidFill>
                <a:latin typeface="Segoe"/>
              </a:rPr>
              <a:t> </a:t>
            </a:r>
            <a:r>
              <a:rPr sz="1100" b="0" err="1">
                <a:solidFill>
                  <a:srgbClr val="FFFFFF"/>
                </a:solidFill>
                <a:latin typeface="Segoe"/>
              </a:rPr>
              <a:t>giữ</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bộ</a:t>
            </a:r>
            <a:r>
              <a:rPr sz="1100" b="0">
                <a:solidFill>
                  <a:srgbClr val="FFFFFF"/>
                </a:solidFill>
                <a:latin typeface="Segoe"/>
              </a:rPr>
              <a:t> sang Admin.</a:t>
            </a:r>
          </a:p>
        </p:txBody>
      </p:sp>
      <p:sp>
        <p:nvSpPr>
          <p:cNvPr id="8" name="Text 5"/>
          <p:cNvSpPr/>
          <p:nvPr/>
        </p:nvSpPr>
        <p:spPr>
          <a:xfrm>
            <a:off x="6537960" y="2423160"/>
            <a:ext cx="4800600" cy="210312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Tính</a:t>
            </a:r>
            <a:r>
              <a:rPr sz="1100" b="1">
                <a:solidFill>
                  <a:srgbClr val="00F5C6"/>
                </a:solidFill>
                <a:latin typeface="Segoe"/>
              </a:rPr>
              <a:t> </a:t>
            </a:r>
            <a:r>
              <a:rPr sz="1100" b="1" err="1">
                <a:solidFill>
                  <a:srgbClr val="00F5C6"/>
                </a:solidFill>
                <a:latin typeface="Segoe"/>
              </a:rPr>
              <a:t>năng</a:t>
            </a:r>
            <a:r>
              <a:rPr sz="1100" b="1">
                <a:solidFill>
                  <a:srgbClr val="00F5C6"/>
                </a:solidFill>
                <a:latin typeface="Segoe"/>
              </a:rPr>
              <a:t> </a:t>
            </a:r>
            <a:r>
              <a:rPr sz="1100" b="1" err="1">
                <a:solidFill>
                  <a:srgbClr val="00F5C6"/>
                </a:solidFill>
                <a:latin typeface="Segoe"/>
              </a:rPr>
              <a:t>nổi</a:t>
            </a:r>
            <a:r>
              <a:rPr sz="1100" b="1">
                <a:solidFill>
                  <a:srgbClr val="00F5C6"/>
                </a:solidFill>
                <a:latin typeface="Segoe"/>
              </a:rPr>
              <a:t> </a:t>
            </a:r>
            <a:r>
              <a:rPr sz="1100" b="1" err="1">
                <a:solidFill>
                  <a:srgbClr val="00F5C6"/>
                </a:solidFill>
                <a:latin typeface="Segoe"/>
              </a:rPr>
              <a:t>bật</a:t>
            </a:r>
            <a:endParaRPr lang="en-US" sz="1100">
              <a:latin typeface="Segoe"/>
            </a:endParaRPr>
          </a:p>
          <a:p>
            <a:pPr>
              <a:spcBef>
                <a:spcPts val="0"/>
              </a:spcBef>
              <a:spcAft>
                <a:spcPts val="0"/>
              </a:spcAft>
            </a:pPr>
            <a:r>
              <a:rPr sz="1100" b="0">
                <a:solidFill>
                  <a:srgbClr val="FFFFFF"/>
                </a:solidFill>
                <a:latin typeface="Segoe"/>
              </a:rPr>
              <a:t>• </a:t>
            </a:r>
            <a:r>
              <a:rPr sz="1100" b="0" err="1">
                <a:solidFill>
                  <a:srgbClr val="FFFFFF"/>
                </a:solidFill>
                <a:latin typeface="Segoe"/>
              </a:rPr>
              <a:t>Điều</a:t>
            </a:r>
            <a:r>
              <a:rPr sz="1100" b="0">
                <a:solidFill>
                  <a:srgbClr val="FFFFFF"/>
                </a:solidFill>
                <a:latin typeface="Segoe"/>
              </a:rPr>
              <a:t> </a:t>
            </a:r>
            <a:r>
              <a:rPr sz="1100" b="0" err="1">
                <a:solidFill>
                  <a:srgbClr val="FFFFFF"/>
                </a:solidFill>
                <a:latin typeface="Segoe"/>
              </a:rPr>
              <a:t>hướng</a:t>
            </a:r>
            <a:r>
              <a:rPr sz="1100" b="0">
                <a:solidFill>
                  <a:srgbClr val="FFFFFF"/>
                </a:solidFill>
                <a:latin typeface="Segoe"/>
              </a:rPr>
              <a:t> </a:t>
            </a:r>
            <a:r>
              <a:rPr sz="1100" b="0" err="1">
                <a:solidFill>
                  <a:srgbClr val="FFFFFF"/>
                </a:solidFill>
                <a:latin typeface="Segoe"/>
              </a:rPr>
              <a:t>trang</a:t>
            </a:r>
            <a:r>
              <a:rPr sz="1100" b="0">
                <a:solidFill>
                  <a:srgbClr val="FFFFFF"/>
                </a:solidFill>
                <a:latin typeface="Segoe"/>
              </a:rPr>
              <a:t> </a:t>
            </a:r>
            <a:r>
              <a:rPr sz="1100" b="0" err="1">
                <a:solidFill>
                  <a:srgbClr val="FFFFFF"/>
                </a:solidFill>
                <a:latin typeface="Segoe"/>
              </a:rPr>
              <a:t>chính</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card </a:t>
            </a:r>
            <a:r>
              <a:rPr sz="1100" b="0" err="1">
                <a:solidFill>
                  <a:srgbClr val="FFFFFF"/>
                </a:solidFill>
                <a:latin typeface="Segoe"/>
              </a:rPr>
              <a:t>sân</a:t>
            </a:r>
            <a:r>
              <a:rPr lang="en-US" sz="1100" b="0">
                <a:solidFill>
                  <a:srgbClr val="FFFFFF"/>
                </a:solidFill>
                <a:latin typeface="Segoe"/>
              </a:rPr>
              <a:t>.</a:t>
            </a:r>
            <a:r>
              <a:rPr sz="1100" b="0">
                <a:solidFill>
                  <a:srgbClr val="FFFFFF"/>
                </a:solidFill>
                <a:latin typeface="Segoe"/>
              </a:rPr>
              <a:t>
• </a:t>
            </a:r>
            <a:r>
              <a:rPr sz="1100" b="0" err="1">
                <a:solidFill>
                  <a:srgbClr val="FFFFFF"/>
                </a:solidFill>
                <a:latin typeface="Segoe"/>
              </a:rPr>
              <a:t>Mô</a:t>
            </a:r>
            <a:r>
              <a:rPr sz="1100" b="0">
                <a:solidFill>
                  <a:srgbClr val="FFFFFF"/>
                </a:solidFill>
                <a:latin typeface="Segoe"/>
              </a:rPr>
              <a:t> </a:t>
            </a:r>
            <a:r>
              <a:rPr sz="1100" b="0" err="1">
                <a:solidFill>
                  <a:srgbClr val="FFFFFF"/>
                </a:solidFill>
                <a:latin typeface="Segoe"/>
              </a:rPr>
              <a:t>phỏng</a:t>
            </a:r>
            <a:r>
              <a:rPr sz="1100" b="0">
                <a:solidFill>
                  <a:srgbClr val="FFFFFF"/>
                </a:solidFill>
                <a:latin typeface="Segoe"/>
              </a:rPr>
              <a:t> robot </a:t>
            </a:r>
            <a:r>
              <a:rPr sz="1100" b="0" err="1">
                <a:solidFill>
                  <a:srgbClr val="FFFFFF"/>
                </a:solidFill>
                <a:latin typeface="Segoe"/>
              </a:rPr>
              <a:t>theo</a:t>
            </a:r>
            <a:r>
              <a:rPr sz="1100" b="0">
                <a:solidFill>
                  <a:srgbClr val="FFFFFF"/>
                </a:solidFill>
                <a:latin typeface="Segoe"/>
              </a:rPr>
              <a:t> </a:t>
            </a:r>
            <a:r>
              <a:rPr sz="1100" b="0" err="1">
                <a:solidFill>
                  <a:srgbClr val="FFFFFF"/>
                </a:solidFill>
                <a:latin typeface="Segoe"/>
              </a:rPr>
              <a:t>môn</a:t>
            </a:r>
            <a:r>
              <a:rPr lang="en-US" sz="1100" b="0">
                <a:solidFill>
                  <a:srgbClr val="FFFFFF"/>
                </a:solidFill>
                <a:latin typeface="Segoe"/>
              </a:rPr>
              <a:t>.</a:t>
            </a:r>
            <a:r>
              <a:rPr sz="1100" b="0">
                <a:solidFill>
                  <a:srgbClr val="FFFFFF"/>
                </a:solidFill>
                <a:latin typeface="Segoe"/>
              </a:rPr>
              <a:t>
• </a:t>
            </a:r>
            <a:r>
              <a:rPr sz="1100" b="0" err="1">
                <a:solidFill>
                  <a:srgbClr val="FFFFFF"/>
                </a:solidFill>
                <a:latin typeface="Segoe"/>
              </a:rPr>
              <a:t>Khóa</a:t>
            </a:r>
            <a:r>
              <a:rPr sz="1100" b="0">
                <a:solidFill>
                  <a:srgbClr val="FFFFFF"/>
                </a:solidFill>
                <a:latin typeface="Segoe"/>
              </a:rPr>
              <a:t> </a:t>
            </a:r>
            <a:r>
              <a:rPr sz="1100" b="0" err="1">
                <a:solidFill>
                  <a:srgbClr val="FFFFFF"/>
                </a:solidFill>
                <a:latin typeface="Segoe"/>
              </a:rPr>
              <a:t>giờ</a:t>
            </a:r>
            <a:r>
              <a:rPr sz="1100" b="0">
                <a:solidFill>
                  <a:srgbClr val="FFFFFF"/>
                </a:solidFill>
                <a:latin typeface="Segoe"/>
              </a:rPr>
              <a:t> </a:t>
            </a:r>
            <a:r>
              <a:rPr sz="1100" b="0" err="1">
                <a:solidFill>
                  <a:srgbClr val="FFFFFF"/>
                </a:solidFill>
                <a:latin typeface="Segoe"/>
              </a:rPr>
              <a:t>đã</a:t>
            </a:r>
            <a:r>
              <a:rPr sz="1100" b="0">
                <a:solidFill>
                  <a:srgbClr val="FFFFFF"/>
                </a:solidFill>
                <a:latin typeface="Segoe"/>
              </a:rPr>
              <a:t> qua/</a:t>
            </a:r>
            <a:r>
              <a:rPr sz="1100" b="0" err="1">
                <a:solidFill>
                  <a:srgbClr val="FFFFFF"/>
                </a:solidFill>
                <a:latin typeface="Segoe"/>
              </a:rPr>
              <a:t>đã</a:t>
            </a:r>
            <a:r>
              <a:rPr sz="1100" b="0">
                <a:solidFill>
                  <a:srgbClr val="FFFFFF"/>
                </a:solidFill>
                <a:latin typeface="Segoe"/>
              </a:rPr>
              <a:t> </a:t>
            </a:r>
            <a:r>
              <a:rPr sz="1100" b="0" err="1">
                <a:solidFill>
                  <a:srgbClr val="FFFFFF"/>
                </a:solidFill>
                <a:latin typeface="Segoe"/>
              </a:rPr>
              <a:t>đặ</a:t>
            </a:r>
            <a:r>
              <a:rPr lang="en-US" sz="1100" err="1">
                <a:solidFill>
                  <a:srgbClr val="FFFFFF"/>
                </a:solidFill>
                <a:latin typeface="Segoe"/>
              </a:rPr>
              <a:t>t</a:t>
            </a:r>
            <a:r>
              <a:rPr lang="en-US" sz="1100">
                <a:solidFill>
                  <a:srgbClr val="FFFFFF"/>
                </a:solidFill>
                <a:latin typeface="Segoe"/>
              </a:rPr>
              <a:t>.</a:t>
            </a:r>
            <a:r>
              <a:rPr sz="1100" b="0">
                <a:solidFill>
                  <a:srgbClr val="FFFFFF"/>
                </a:solidFill>
                <a:latin typeface="Segoe"/>
              </a:rPr>
              <a:t>
• </a:t>
            </a:r>
            <a:r>
              <a:rPr sz="1100" b="0" err="1">
                <a:solidFill>
                  <a:srgbClr val="FFFFFF"/>
                </a:solidFill>
                <a:latin typeface="Segoe"/>
              </a:rPr>
              <a:t>Chọn</a:t>
            </a:r>
            <a:r>
              <a:rPr sz="1100" b="0">
                <a:solidFill>
                  <a:srgbClr val="FFFFFF"/>
                </a:solidFill>
                <a:latin typeface="Segoe"/>
              </a:rPr>
              <a:t> </a:t>
            </a:r>
            <a:r>
              <a:rPr sz="1100" b="0" err="1">
                <a:solidFill>
                  <a:srgbClr val="FFFFFF"/>
                </a:solidFill>
                <a:latin typeface="Segoe"/>
              </a:rPr>
              <a:t>nhiều</a:t>
            </a:r>
            <a:r>
              <a:rPr sz="1100" b="0">
                <a:solidFill>
                  <a:srgbClr val="FFFFFF"/>
                </a:solidFill>
                <a:latin typeface="Segoe"/>
              </a:rPr>
              <a:t> </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tính</a:t>
            </a:r>
            <a:r>
              <a:rPr sz="1100" b="0">
                <a:solidFill>
                  <a:srgbClr val="FFFFFF"/>
                </a:solidFill>
                <a:latin typeface="Segoe"/>
              </a:rPr>
              <a:t> </a:t>
            </a:r>
            <a:r>
              <a:rPr sz="1100" b="0" err="1">
                <a:solidFill>
                  <a:srgbClr val="FFFFFF"/>
                </a:solidFill>
                <a:latin typeface="Segoe"/>
              </a:rPr>
              <a:t>tổng</a:t>
            </a:r>
            <a:r>
              <a:rPr sz="1100" b="0">
                <a:solidFill>
                  <a:srgbClr val="FFFFFF"/>
                </a:solidFill>
                <a:latin typeface="Segoe"/>
              </a:rPr>
              <a:t> </a:t>
            </a:r>
            <a:r>
              <a:rPr sz="1100" b="0" err="1">
                <a:solidFill>
                  <a:srgbClr val="FFFFFF"/>
                </a:solidFill>
                <a:latin typeface="Segoe"/>
              </a:rPr>
              <a:t>tiề</a:t>
            </a:r>
            <a:r>
              <a:rPr lang="en-US" sz="1100" b="0" err="1">
                <a:solidFill>
                  <a:srgbClr val="FFFFFF"/>
                </a:solidFill>
                <a:latin typeface="Segoe"/>
              </a:rPr>
              <a:t>n</a:t>
            </a:r>
            <a:r>
              <a:rPr lang="en-US" sz="1100" b="0">
                <a:solidFill>
                  <a:srgbClr val="FFFFFF"/>
                </a:solidFill>
                <a:latin typeface="Segoe"/>
              </a:rPr>
              <a:t>.</a:t>
            </a:r>
            <a:r>
              <a:rPr sz="1100" b="0">
                <a:solidFill>
                  <a:srgbClr val="FFFFFF"/>
                </a:solidFill>
                <a:latin typeface="Segoe"/>
              </a:rPr>
              <a:t>
• Validation </a:t>
            </a:r>
            <a:r>
              <a:rPr sz="1100" b="0" err="1">
                <a:solidFill>
                  <a:srgbClr val="FFFFFF"/>
                </a:solidFill>
                <a:latin typeface="Segoe"/>
              </a:rPr>
              <a:t>tên</a:t>
            </a:r>
            <a:r>
              <a:rPr sz="1100" b="0">
                <a:solidFill>
                  <a:srgbClr val="FFFFFF"/>
                </a:solidFill>
                <a:latin typeface="Segoe"/>
              </a:rPr>
              <a:t>/SĐT </a:t>
            </a:r>
            <a:r>
              <a:rPr sz="1100" b="0" err="1">
                <a:solidFill>
                  <a:srgbClr val="FFFFFF"/>
                </a:solidFill>
                <a:latin typeface="Segoe"/>
              </a:rPr>
              <a:t>và</a:t>
            </a:r>
            <a:r>
              <a:rPr sz="1100" b="0">
                <a:solidFill>
                  <a:srgbClr val="FFFFFF"/>
                </a:solidFill>
                <a:latin typeface="Segoe"/>
              </a:rPr>
              <a:t> AI </a:t>
            </a:r>
            <a:r>
              <a:rPr sz="1100" b="0" err="1">
                <a:solidFill>
                  <a:srgbClr val="FFFFFF"/>
                </a:solidFill>
                <a:latin typeface="Segoe"/>
              </a:rPr>
              <a:t>hỗ</a:t>
            </a:r>
            <a:r>
              <a:rPr sz="1100" b="0">
                <a:solidFill>
                  <a:srgbClr val="FFFFFF"/>
                </a:solidFill>
                <a:latin typeface="Segoe"/>
              </a:rPr>
              <a:t> </a:t>
            </a:r>
            <a:r>
              <a:rPr sz="1100" b="0" err="1">
                <a:solidFill>
                  <a:srgbClr val="FFFFFF"/>
                </a:solidFill>
                <a:latin typeface="Segoe"/>
              </a:rPr>
              <a:t>trợ</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sân</a:t>
            </a:r>
            <a:r>
              <a:rPr lang="en-US" sz="1100">
                <a:solidFill>
                  <a:srgbClr val="FFFFFF"/>
                </a:solidFill>
                <a:latin typeface="Segoe"/>
              </a:rPr>
              <a:t>.</a:t>
            </a:r>
            <a:endParaRPr sz="1100" b="0">
              <a:solidFill>
                <a:srgbClr val="FFFFFF"/>
              </a:solidFill>
              <a:latin typeface="Segoe"/>
            </a:endParaRPr>
          </a:p>
        </p:txBody>
      </p:sp>
      <p:sp>
        <p:nvSpPr>
          <p:cNvPr id="9" name="Text 6"/>
          <p:cNvSpPr/>
          <p:nvPr/>
        </p:nvSpPr>
        <p:spPr>
          <a:xfrm>
            <a:off x="1188720" y="5577840"/>
            <a:ext cx="9692640" cy="292608"/>
          </a:xfrm>
          <a:prstGeom prst="roundRect">
            <a:avLst/>
          </a:prstGeom>
          <a:solidFill>
            <a:srgbClr val="08C391"/>
          </a:solidFill>
          <a:ln>
            <a:solidFill>
              <a:srgbClr val="08C391">
                <a:alpha val="90000"/>
              </a:srgbClr>
            </a:solidFill>
          </a:ln>
        </p:spPr>
        <p:txBody>
          <a:bodyPr wrap="square" lIns="254" tIns="254" rIns="254" bIns="254" rtlCol="0" anchor="ctr">
            <a:normAutofit/>
          </a:bodyPr>
          <a:lstStyle/>
          <a:p>
            <a:pPr marL="0" indent="0" algn="ctr">
              <a:buNone/>
            </a:pPr>
            <a:r>
              <a:rPr lang="en-US" sz="800" b="1">
                <a:solidFill>
                  <a:srgbClr val="051424"/>
                </a:solidFill>
                <a:latin typeface="Segoe"/>
              </a:rPr>
              <a:t>Web Client </a:t>
            </a:r>
            <a:r>
              <a:rPr lang="en-US" sz="800" b="1" err="1">
                <a:solidFill>
                  <a:srgbClr val="051424"/>
                </a:solidFill>
                <a:latin typeface="Segoe"/>
              </a:rPr>
              <a:t>hỗ</a:t>
            </a:r>
            <a:r>
              <a:rPr lang="en-US" sz="800" b="1">
                <a:solidFill>
                  <a:srgbClr val="051424"/>
                </a:solidFill>
                <a:latin typeface="Segoe"/>
              </a:rPr>
              <a:t> </a:t>
            </a:r>
            <a:r>
              <a:rPr lang="en-US" sz="800" b="1" err="1">
                <a:solidFill>
                  <a:srgbClr val="051424"/>
                </a:solidFill>
                <a:latin typeface="Segoe"/>
              </a:rPr>
              <a:t>trợ</a:t>
            </a:r>
            <a:r>
              <a:rPr lang="en-US" sz="800" b="1">
                <a:solidFill>
                  <a:srgbClr val="051424"/>
                </a:solidFill>
                <a:latin typeface="Segoe"/>
              </a:rPr>
              <a:t> </a:t>
            </a:r>
            <a:r>
              <a:rPr lang="en-US" sz="800" b="1" err="1">
                <a:solidFill>
                  <a:srgbClr val="051424"/>
                </a:solidFill>
                <a:latin typeface="Segoe"/>
              </a:rPr>
              <a:t>khách</a:t>
            </a:r>
            <a:r>
              <a:rPr lang="en-US" sz="800" b="1">
                <a:solidFill>
                  <a:srgbClr val="051424"/>
                </a:solidFill>
                <a:latin typeface="Segoe"/>
              </a:rPr>
              <a:t> hang </a:t>
            </a:r>
            <a:r>
              <a:rPr sz="800" b="1" err="1">
                <a:solidFill>
                  <a:srgbClr val="051424"/>
                </a:solidFill>
                <a:latin typeface="Segoe"/>
              </a:rPr>
              <a:t>đặt</a:t>
            </a:r>
            <a:r>
              <a:rPr sz="800" b="1">
                <a:solidFill>
                  <a:srgbClr val="051424"/>
                </a:solidFill>
                <a:latin typeface="Segoe"/>
              </a:rPr>
              <a:t> </a:t>
            </a:r>
            <a:r>
              <a:rPr sz="800" b="1" err="1">
                <a:solidFill>
                  <a:srgbClr val="051424"/>
                </a:solidFill>
                <a:latin typeface="Segoe"/>
              </a:rPr>
              <a:t>sân</a:t>
            </a:r>
            <a:r>
              <a:rPr sz="800" b="1">
                <a:solidFill>
                  <a:srgbClr val="051424"/>
                </a:solidFill>
                <a:latin typeface="Segoe"/>
              </a:rPr>
              <a:t> </a:t>
            </a:r>
            <a:r>
              <a:rPr sz="800" b="1" err="1">
                <a:solidFill>
                  <a:srgbClr val="051424"/>
                </a:solidFill>
                <a:latin typeface="Segoe"/>
              </a:rPr>
              <a:t>thủ</a:t>
            </a:r>
            <a:r>
              <a:rPr sz="800" b="1">
                <a:solidFill>
                  <a:srgbClr val="051424"/>
                </a:solidFill>
                <a:latin typeface="Segoe"/>
              </a:rPr>
              <a:t> </a:t>
            </a:r>
            <a:r>
              <a:rPr sz="800" b="1" err="1">
                <a:solidFill>
                  <a:srgbClr val="051424"/>
                </a:solidFill>
                <a:latin typeface="Segoe"/>
              </a:rPr>
              <a:t>công</a:t>
            </a:r>
            <a:r>
              <a:rPr sz="800" b="1">
                <a:solidFill>
                  <a:srgbClr val="051424"/>
                </a:solidFill>
                <a:latin typeface="Segoe"/>
              </a:rPr>
              <a:t> </a:t>
            </a:r>
            <a:r>
              <a:rPr sz="800" b="1" err="1">
                <a:solidFill>
                  <a:srgbClr val="051424"/>
                </a:solidFill>
                <a:latin typeface="Segoe"/>
              </a:rPr>
              <a:t>hoặc</a:t>
            </a:r>
            <a:r>
              <a:rPr sz="800" b="1">
                <a:solidFill>
                  <a:srgbClr val="051424"/>
                </a:solidFill>
                <a:latin typeface="Segoe"/>
              </a:rPr>
              <a:t> qua AI; booking, </a:t>
            </a:r>
            <a:r>
              <a:rPr sz="800" b="1" err="1">
                <a:solidFill>
                  <a:srgbClr val="051424"/>
                </a:solidFill>
                <a:latin typeface="Segoe"/>
              </a:rPr>
              <a:t>dịch</a:t>
            </a:r>
            <a:r>
              <a:rPr sz="800" b="1">
                <a:solidFill>
                  <a:srgbClr val="051424"/>
                </a:solidFill>
                <a:latin typeface="Segoe"/>
              </a:rPr>
              <a:t> </a:t>
            </a:r>
            <a:r>
              <a:rPr sz="800" b="1" err="1">
                <a:solidFill>
                  <a:srgbClr val="051424"/>
                </a:solidFill>
                <a:latin typeface="Segoe"/>
              </a:rPr>
              <a:t>vụ</a:t>
            </a:r>
            <a:r>
              <a:rPr sz="800" b="1">
                <a:solidFill>
                  <a:srgbClr val="051424"/>
                </a:solidFill>
                <a:latin typeface="Segoe"/>
              </a:rPr>
              <a:t> </a:t>
            </a:r>
            <a:r>
              <a:rPr sz="800" b="1" err="1">
                <a:solidFill>
                  <a:srgbClr val="051424"/>
                </a:solidFill>
                <a:latin typeface="Segoe"/>
              </a:rPr>
              <a:t>đi</a:t>
            </a:r>
            <a:r>
              <a:rPr sz="800" b="1">
                <a:solidFill>
                  <a:srgbClr val="051424"/>
                </a:solidFill>
                <a:latin typeface="Segoe"/>
              </a:rPr>
              <a:t> </a:t>
            </a:r>
            <a:r>
              <a:rPr sz="800" b="1" err="1">
                <a:solidFill>
                  <a:srgbClr val="051424"/>
                </a:solidFill>
                <a:latin typeface="Segoe"/>
              </a:rPr>
              <a:t>kèm</a:t>
            </a:r>
            <a:r>
              <a:rPr sz="800" b="1">
                <a:solidFill>
                  <a:srgbClr val="051424"/>
                </a:solidFill>
                <a:latin typeface="Segoe"/>
              </a:rPr>
              <a:t> </a:t>
            </a:r>
            <a:r>
              <a:rPr sz="800" b="1" err="1">
                <a:solidFill>
                  <a:srgbClr val="051424"/>
                </a:solidFill>
                <a:latin typeface="Segoe"/>
              </a:rPr>
              <a:t>và</a:t>
            </a:r>
            <a:r>
              <a:rPr sz="800" b="1">
                <a:solidFill>
                  <a:srgbClr val="051424"/>
                </a:solidFill>
                <a:latin typeface="Segoe"/>
              </a:rPr>
              <a:t> </a:t>
            </a:r>
            <a:r>
              <a:rPr sz="800" b="1" err="1">
                <a:solidFill>
                  <a:srgbClr val="051424"/>
                </a:solidFill>
                <a:latin typeface="Segoe"/>
              </a:rPr>
              <a:t>tổng</a:t>
            </a:r>
            <a:r>
              <a:rPr sz="800" b="1">
                <a:solidFill>
                  <a:srgbClr val="051424"/>
                </a:solidFill>
                <a:latin typeface="Segoe"/>
              </a:rPr>
              <a:t> </a:t>
            </a:r>
            <a:r>
              <a:rPr sz="800" b="1" err="1">
                <a:solidFill>
                  <a:srgbClr val="051424"/>
                </a:solidFill>
                <a:latin typeface="Segoe"/>
              </a:rPr>
              <a:t>tiền</a:t>
            </a:r>
            <a:r>
              <a:rPr sz="800" b="1">
                <a:solidFill>
                  <a:srgbClr val="051424"/>
                </a:solidFill>
                <a:latin typeface="Segoe"/>
              </a:rPr>
              <a:t> </a:t>
            </a:r>
            <a:r>
              <a:rPr sz="800" b="1" err="1">
                <a:solidFill>
                  <a:srgbClr val="051424"/>
                </a:solidFill>
                <a:latin typeface="Segoe"/>
              </a:rPr>
              <a:t>được</a:t>
            </a:r>
            <a:r>
              <a:rPr sz="800" b="1">
                <a:solidFill>
                  <a:srgbClr val="051424"/>
                </a:solidFill>
                <a:latin typeface="Segoe"/>
              </a:rPr>
              <a:t> </a:t>
            </a:r>
            <a:r>
              <a:rPr sz="800" b="1" err="1">
                <a:solidFill>
                  <a:srgbClr val="051424"/>
                </a:solidFill>
                <a:latin typeface="Segoe"/>
              </a:rPr>
              <a:t>lưu</a:t>
            </a:r>
            <a:r>
              <a:rPr sz="800" b="1">
                <a:solidFill>
                  <a:srgbClr val="051424"/>
                </a:solidFill>
                <a:latin typeface="Segoe"/>
              </a:rPr>
              <a:t> </a:t>
            </a:r>
            <a:r>
              <a:rPr sz="800" b="1" err="1">
                <a:solidFill>
                  <a:srgbClr val="051424"/>
                </a:solidFill>
                <a:latin typeface="Segoe"/>
              </a:rPr>
              <a:t>đúng</a:t>
            </a:r>
            <a:r>
              <a:rPr sz="800" b="1">
                <a:solidFill>
                  <a:srgbClr val="051424"/>
                </a:solidFill>
                <a:latin typeface="Segoe"/>
              </a:rPr>
              <a:t>, </a:t>
            </a:r>
            <a:r>
              <a:rPr sz="800" b="1" err="1">
                <a:solidFill>
                  <a:srgbClr val="051424"/>
                </a:solidFill>
                <a:latin typeface="Segoe"/>
              </a:rPr>
              <a:t>hiển</a:t>
            </a:r>
            <a:r>
              <a:rPr sz="800" b="1">
                <a:solidFill>
                  <a:srgbClr val="051424"/>
                </a:solidFill>
                <a:latin typeface="Segoe"/>
              </a:rPr>
              <a:t> </a:t>
            </a:r>
            <a:r>
              <a:rPr sz="800" b="1" err="1">
                <a:solidFill>
                  <a:srgbClr val="051424"/>
                </a:solidFill>
                <a:latin typeface="Segoe"/>
              </a:rPr>
              <a:t>thị</a:t>
            </a:r>
            <a:r>
              <a:rPr sz="800" b="1">
                <a:solidFill>
                  <a:srgbClr val="051424"/>
                </a:solidFill>
                <a:latin typeface="Segoe"/>
              </a:rPr>
              <a:t> </a:t>
            </a:r>
            <a:r>
              <a:rPr sz="800" b="1" err="1">
                <a:solidFill>
                  <a:srgbClr val="051424"/>
                </a:solidFill>
                <a:latin typeface="Segoe"/>
              </a:rPr>
              <a:t>đầy</a:t>
            </a:r>
            <a:r>
              <a:rPr sz="800" b="1">
                <a:solidFill>
                  <a:srgbClr val="051424"/>
                </a:solidFill>
                <a:latin typeface="Segoe"/>
              </a:rPr>
              <a:t> </a:t>
            </a:r>
            <a:r>
              <a:rPr sz="800" b="1" err="1">
                <a:solidFill>
                  <a:srgbClr val="051424"/>
                </a:solidFill>
                <a:latin typeface="Segoe"/>
              </a:rPr>
              <a:t>đủ</a:t>
            </a:r>
            <a:r>
              <a:rPr sz="800" b="1">
                <a:solidFill>
                  <a:srgbClr val="051424"/>
                </a:solidFill>
                <a:latin typeface="Segoe"/>
              </a:rPr>
              <a:t> </a:t>
            </a:r>
            <a:r>
              <a:rPr lang="en-US" sz="800" b="1">
                <a:solidFill>
                  <a:srgbClr val="051424"/>
                </a:solidFill>
                <a:latin typeface="Segoe"/>
              </a:rPr>
              <a:t>ở Web</a:t>
            </a:r>
            <a:r>
              <a:rPr sz="800" b="1">
                <a:solidFill>
                  <a:srgbClr val="051424"/>
                </a:solidFill>
                <a:latin typeface="Segoe"/>
              </a:rPr>
              <a:t> Admin.</a:t>
            </a:r>
            <a:endParaRPr lang="en-US" sz="1050">
              <a:latin typeface="Segoe"/>
            </a:endParaRPr>
          </a:p>
        </p:txBody>
      </p:sp>
      <p:pic>
        <p:nvPicPr>
          <p:cNvPr id="10" name="Picture 9"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1" name="Picture 10" descr="image.png"/>
          <p:cNvPicPr>
            <a:picLocks noChangeAspect="1"/>
          </p:cNvPicPr>
          <p:nvPr/>
        </p:nvPicPr>
        <p:blipFill>
          <a:blip r:embed="rId4"/>
          <a:stretch>
            <a:fillRect/>
          </a:stretch>
        </p:blipFill>
        <p:spPr>
          <a:xfrm>
            <a:off x="10195560" y="91440"/>
            <a:ext cx="1783080" cy="594360"/>
          </a:xfrm>
          <a:prstGeom prst="rect">
            <a:avLst/>
          </a:prstGeom>
        </p:spPr>
      </p:pic>
      <p:pic>
        <p:nvPicPr>
          <p:cNvPr id="6" name="Picture 5">
            <a:extLst>
              <a:ext uri="{FF2B5EF4-FFF2-40B4-BE49-F238E27FC236}">
                <a16:creationId xmlns:a16="http://schemas.microsoft.com/office/drawing/2014/main" id="{B1508354-F18F-4D25-871C-B26071CF8044}"/>
              </a:ext>
            </a:extLst>
          </p:cNvPr>
          <p:cNvPicPr>
            <a:picLocks noChangeAspect="1"/>
          </p:cNvPicPr>
          <p:nvPr/>
        </p:nvPicPr>
        <p:blipFill rotWithShape="1">
          <a:blip r:embed="rId5"/>
          <a:srcRect l="14684"/>
          <a:stretch/>
        </p:blipFill>
        <p:spPr>
          <a:xfrm>
            <a:off x="504097" y="999276"/>
            <a:ext cx="5448589" cy="3538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WEB ADMIN – QUẢN LÝ VẬN HÀNH</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09</a:t>
            </a:r>
            <a:endParaRPr lang="en-US" sz="850"/>
          </a:p>
        </p:txBody>
      </p:sp>
      <p:pic>
        <p:nvPicPr>
          <p:cNvPr id="6" name="Image 0" descr="/mnt/data/es8_extract/word/media/image43.png"/>
          <p:cNvPicPr>
            <a:picLocks noChangeAspect="1"/>
          </p:cNvPicPr>
          <p:nvPr/>
        </p:nvPicPr>
        <p:blipFill>
          <a:blip r:embed="rId3"/>
          <a:srcRect l="925" r="925"/>
          <a:stretch/>
        </p:blipFill>
        <p:spPr>
          <a:xfrm>
            <a:off x="594360" y="960120"/>
            <a:ext cx="5074920" cy="2651760"/>
          </a:xfrm>
          <a:prstGeom prst="rect">
            <a:avLst/>
          </a:prstGeom>
        </p:spPr>
      </p:pic>
      <p:pic>
        <p:nvPicPr>
          <p:cNvPr id="7" name="Image 1" descr="/mnt/data/es8_extract/word/media/image56.png"/>
          <p:cNvPicPr>
            <a:picLocks noChangeAspect="1"/>
          </p:cNvPicPr>
          <p:nvPr/>
        </p:nvPicPr>
        <p:blipFill>
          <a:blip r:embed="rId4"/>
          <a:srcRect t="17329" b="17329"/>
          <a:stretch/>
        </p:blipFill>
        <p:spPr>
          <a:xfrm>
            <a:off x="5989320" y="960120"/>
            <a:ext cx="5440680" cy="2651760"/>
          </a:xfrm>
          <a:prstGeom prst="rect">
            <a:avLst/>
          </a:prstGeom>
        </p:spPr>
      </p:pic>
      <p:sp>
        <p:nvSpPr>
          <p:cNvPr id="8" name="Text 4"/>
          <p:cNvSpPr/>
          <p:nvPr/>
        </p:nvSpPr>
        <p:spPr>
          <a:xfrm>
            <a:off x="685800" y="3977640"/>
            <a:ext cx="2606040" cy="11430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Lịch</a:t>
            </a:r>
            <a:r>
              <a:rPr sz="1100" b="1">
                <a:solidFill>
                  <a:srgbClr val="00F5C6"/>
                </a:solidFill>
                <a:latin typeface="Segoe"/>
              </a:rPr>
              <a:t> </a:t>
            </a:r>
            <a:r>
              <a:rPr sz="1100" b="1" err="1">
                <a:solidFill>
                  <a:srgbClr val="00F5C6"/>
                </a:solidFill>
                <a:latin typeface="Segoe"/>
              </a:rPr>
              <a:t>đặt</a:t>
            </a:r>
            <a:r>
              <a:rPr sz="1100" b="1">
                <a:solidFill>
                  <a:srgbClr val="00F5C6"/>
                </a:solidFill>
                <a:latin typeface="Segoe"/>
              </a:rPr>
              <a:t> &amp; </a:t>
            </a:r>
            <a:r>
              <a:rPr sz="1100" b="1" err="1">
                <a:solidFill>
                  <a:srgbClr val="00F5C6"/>
                </a:solidFill>
                <a:latin typeface="Segoe"/>
              </a:rPr>
              <a:t>khung</a:t>
            </a:r>
            <a:r>
              <a:rPr sz="1100" b="1">
                <a:solidFill>
                  <a:srgbClr val="00F5C6"/>
                </a:solidFill>
                <a:latin typeface="Segoe"/>
              </a:rPr>
              <a:t> </a:t>
            </a:r>
            <a:r>
              <a:rPr sz="1100" b="1" err="1">
                <a:solidFill>
                  <a:srgbClr val="00F5C6"/>
                </a:solidFill>
                <a:latin typeface="Segoe"/>
              </a:rPr>
              <a:t>giờ</a:t>
            </a:r>
            <a:endParaRPr lang="en-US" sz="1100">
              <a:latin typeface="Segoe"/>
            </a:endParaRPr>
          </a:p>
          <a:p>
            <a:pPr>
              <a:spcBef>
                <a:spcPts val="0"/>
              </a:spcBef>
              <a:spcAft>
                <a:spcPts val="0"/>
              </a:spcAft>
            </a:pPr>
            <a:r>
              <a:rPr sz="1100" b="0" err="1">
                <a:solidFill>
                  <a:srgbClr val="FFFFFF"/>
                </a:solidFill>
                <a:latin typeface="Segoe"/>
              </a:rPr>
              <a:t>Bảng</a:t>
            </a:r>
            <a:r>
              <a:rPr sz="1100" b="0">
                <a:solidFill>
                  <a:srgbClr val="FFFFFF"/>
                </a:solidFill>
                <a:latin typeface="Segoe"/>
              </a:rPr>
              <a:t> </a:t>
            </a:r>
            <a:r>
              <a:rPr sz="1100" b="0" err="1">
                <a:solidFill>
                  <a:srgbClr val="FFFFFF"/>
                </a:solidFill>
                <a:latin typeface="Segoe"/>
              </a:rPr>
              <a:t>lưới</a:t>
            </a:r>
            <a:r>
              <a:rPr sz="1100" b="0">
                <a:solidFill>
                  <a:srgbClr val="FFFFFF"/>
                </a:solidFill>
                <a:latin typeface="Segoe"/>
              </a:rPr>
              <a:t> </a:t>
            </a:r>
            <a:r>
              <a:rPr sz="1100" b="0" err="1">
                <a:solidFill>
                  <a:srgbClr val="FFFFFF"/>
                </a:solidFill>
                <a:latin typeface="Segoe"/>
              </a:rPr>
              <a:t>theo</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ngày</a:t>
            </a:r>
            <a:r>
              <a:rPr sz="1100" b="0">
                <a:solidFill>
                  <a:srgbClr val="FFFFFF"/>
                </a:solidFill>
                <a:latin typeface="Segoe"/>
              </a:rPr>
              <a:t>, </a:t>
            </a:r>
            <a:r>
              <a:rPr sz="1100" b="0" err="1">
                <a:solidFill>
                  <a:srgbClr val="FFFFFF"/>
                </a:solidFill>
                <a:latin typeface="Segoe"/>
              </a:rPr>
              <a:t>lọc</a:t>
            </a:r>
            <a:r>
              <a:rPr sz="1100" b="0">
                <a:solidFill>
                  <a:srgbClr val="FFFFFF"/>
                </a:solidFill>
                <a:latin typeface="Segoe"/>
              </a:rPr>
              <a:t> </a:t>
            </a:r>
            <a:r>
              <a:rPr sz="1100" b="0" err="1">
                <a:solidFill>
                  <a:srgbClr val="FFFFFF"/>
                </a:solidFill>
                <a:latin typeface="Segoe"/>
              </a:rPr>
              <a:t>loại</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phân</a:t>
            </a:r>
            <a:r>
              <a:rPr sz="1100" b="0">
                <a:solidFill>
                  <a:srgbClr val="FFFFFF"/>
                </a:solidFill>
                <a:latin typeface="Segoe"/>
              </a:rPr>
              <a:t> </a:t>
            </a:r>
            <a:r>
              <a:rPr sz="1100" b="0" err="1">
                <a:solidFill>
                  <a:srgbClr val="FFFFFF"/>
                </a:solidFill>
                <a:latin typeface="Segoe"/>
              </a:rPr>
              <a:t>trang</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màu</a:t>
            </a:r>
            <a:r>
              <a:rPr sz="1100" b="0">
                <a:solidFill>
                  <a:srgbClr val="FFFFFF"/>
                </a:solidFill>
                <a:latin typeface="Segoe"/>
              </a:rPr>
              <a:t> </a:t>
            </a:r>
            <a:r>
              <a:rPr sz="1100" b="0" err="1">
                <a:solidFill>
                  <a:srgbClr val="FFFFFF"/>
                </a:solidFill>
                <a:latin typeface="Segoe"/>
              </a:rPr>
              <a:t>trạng</a:t>
            </a:r>
            <a:r>
              <a:rPr sz="1100" b="0">
                <a:solidFill>
                  <a:srgbClr val="FFFFFF"/>
                </a:solidFill>
                <a:latin typeface="Segoe"/>
              </a:rPr>
              <a:t> </a:t>
            </a:r>
            <a:r>
              <a:rPr sz="1100" b="0" err="1">
                <a:solidFill>
                  <a:srgbClr val="FFFFFF"/>
                </a:solidFill>
                <a:latin typeface="Segoe"/>
              </a:rPr>
              <a:t>thái</a:t>
            </a:r>
            <a:r>
              <a:rPr sz="1100" b="0">
                <a:solidFill>
                  <a:srgbClr val="FFFFFF"/>
                </a:solidFill>
                <a:latin typeface="Segoe"/>
              </a:rPr>
              <a:t>: </a:t>
            </a:r>
            <a:r>
              <a:rPr sz="1100" b="0" err="1">
                <a:solidFill>
                  <a:srgbClr val="FFFFFF"/>
                </a:solidFill>
                <a:latin typeface="Segoe"/>
              </a:rPr>
              <a:t>còn</a:t>
            </a:r>
            <a:r>
              <a:rPr sz="1100" b="0">
                <a:solidFill>
                  <a:srgbClr val="FFFFFF"/>
                </a:solidFill>
                <a:latin typeface="Segoe"/>
              </a:rPr>
              <a:t> </a:t>
            </a:r>
            <a:r>
              <a:rPr sz="1100" b="0" err="1">
                <a:solidFill>
                  <a:srgbClr val="FFFFFF"/>
                </a:solidFill>
                <a:latin typeface="Segoe"/>
              </a:rPr>
              <a:t>trống</a:t>
            </a:r>
            <a:r>
              <a:rPr sz="1100" b="0">
                <a:solidFill>
                  <a:srgbClr val="FFFFFF"/>
                </a:solidFill>
                <a:latin typeface="Segoe"/>
              </a:rPr>
              <a:t>, </a:t>
            </a:r>
            <a:r>
              <a:rPr sz="1100" b="0" err="1">
                <a:solidFill>
                  <a:srgbClr val="FFFFFF"/>
                </a:solidFill>
                <a:latin typeface="Segoe"/>
              </a:rPr>
              <a:t>đã</a:t>
            </a:r>
            <a:r>
              <a:rPr sz="1100" b="0">
                <a:solidFill>
                  <a:srgbClr val="FFFFFF"/>
                </a:solidFill>
                <a:latin typeface="Segoe"/>
              </a:rPr>
              <a:t> </a:t>
            </a:r>
            <a:r>
              <a:rPr sz="1100" b="0" err="1">
                <a:solidFill>
                  <a:srgbClr val="FFFFFF"/>
                </a:solidFill>
                <a:latin typeface="Segoe"/>
              </a:rPr>
              <a:t>đặt</a:t>
            </a:r>
            <a:r>
              <a:rPr sz="1100" b="0">
                <a:solidFill>
                  <a:srgbClr val="FFFFFF"/>
                </a:solidFill>
                <a:latin typeface="Segoe"/>
              </a:rPr>
              <a:t>, </a:t>
            </a:r>
            <a:r>
              <a:rPr sz="1100" b="0" err="1">
                <a:solidFill>
                  <a:srgbClr val="FFFFFF"/>
                </a:solidFill>
                <a:latin typeface="Segoe"/>
              </a:rPr>
              <a:t>đang</a:t>
            </a:r>
            <a:r>
              <a:rPr sz="1100" b="0">
                <a:solidFill>
                  <a:srgbClr val="FFFFFF"/>
                </a:solidFill>
                <a:latin typeface="Segoe"/>
              </a:rPr>
              <a:t> </a:t>
            </a:r>
            <a:r>
              <a:rPr sz="1100" b="0" err="1">
                <a:solidFill>
                  <a:srgbClr val="FFFFFF"/>
                </a:solidFill>
                <a:latin typeface="Segoe"/>
              </a:rPr>
              <a:t>chơi</a:t>
            </a:r>
            <a:r>
              <a:rPr sz="1100" b="0">
                <a:solidFill>
                  <a:srgbClr val="FFFFFF"/>
                </a:solidFill>
                <a:latin typeface="Segoe"/>
              </a:rPr>
              <a:t>, </a:t>
            </a:r>
            <a:r>
              <a:rPr sz="1100" b="0" err="1">
                <a:solidFill>
                  <a:srgbClr val="FFFFFF"/>
                </a:solidFill>
                <a:latin typeface="Segoe"/>
              </a:rPr>
              <a:t>đã</a:t>
            </a:r>
            <a:r>
              <a:rPr sz="1100" b="0">
                <a:solidFill>
                  <a:srgbClr val="FFFFFF"/>
                </a:solidFill>
                <a:latin typeface="Segoe"/>
              </a:rPr>
              <a:t> qua </a:t>
            </a:r>
            <a:r>
              <a:rPr sz="1100" b="0" err="1">
                <a:solidFill>
                  <a:srgbClr val="FFFFFF"/>
                </a:solidFill>
                <a:latin typeface="Segoe"/>
              </a:rPr>
              <a:t>giờ</a:t>
            </a:r>
            <a:r>
              <a:rPr sz="1100" b="0">
                <a:solidFill>
                  <a:srgbClr val="FFFFFF"/>
                </a:solidFill>
                <a:latin typeface="Segoe"/>
              </a:rPr>
              <a:t>.</a:t>
            </a:r>
          </a:p>
        </p:txBody>
      </p:sp>
      <p:sp>
        <p:nvSpPr>
          <p:cNvPr id="9" name="Text 5"/>
          <p:cNvSpPr/>
          <p:nvPr/>
        </p:nvSpPr>
        <p:spPr>
          <a:xfrm>
            <a:off x="3520440" y="3977640"/>
            <a:ext cx="2606040" cy="11430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Quản</a:t>
            </a:r>
            <a:r>
              <a:rPr sz="1100" b="1">
                <a:solidFill>
                  <a:srgbClr val="00F5C6"/>
                </a:solidFill>
                <a:latin typeface="Segoe"/>
              </a:rPr>
              <a:t> </a:t>
            </a:r>
            <a:r>
              <a:rPr sz="1100" b="1" err="1">
                <a:solidFill>
                  <a:srgbClr val="00F5C6"/>
                </a:solidFill>
                <a:latin typeface="Segoe"/>
              </a:rPr>
              <a:t>lý</a:t>
            </a:r>
            <a:r>
              <a:rPr sz="1100" b="1">
                <a:solidFill>
                  <a:srgbClr val="00F5C6"/>
                </a:solidFill>
                <a:latin typeface="Segoe"/>
              </a:rPr>
              <a:t> </a:t>
            </a:r>
            <a:r>
              <a:rPr sz="1100" b="1" err="1">
                <a:solidFill>
                  <a:srgbClr val="00F5C6"/>
                </a:solidFill>
                <a:latin typeface="Segoe"/>
              </a:rPr>
              <a:t>đơn</a:t>
            </a:r>
            <a:r>
              <a:rPr sz="1100" b="1">
                <a:solidFill>
                  <a:srgbClr val="00F5C6"/>
                </a:solidFill>
                <a:latin typeface="Segoe"/>
              </a:rPr>
              <a:t> </a:t>
            </a:r>
            <a:r>
              <a:rPr sz="1100" b="1" err="1">
                <a:solidFill>
                  <a:srgbClr val="00F5C6"/>
                </a:solidFill>
                <a:latin typeface="Segoe"/>
              </a:rPr>
              <a:t>đặt</a:t>
            </a:r>
            <a:endParaRPr lang="en-US" sz="1100">
              <a:latin typeface="Segoe"/>
            </a:endParaRPr>
          </a:p>
          <a:p>
            <a:pPr>
              <a:spcBef>
                <a:spcPts val="0"/>
              </a:spcBef>
              <a:spcAft>
                <a:spcPts val="0"/>
              </a:spcAft>
            </a:pPr>
            <a:r>
              <a:rPr sz="1100" b="0" err="1">
                <a:solidFill>
                  <a:srgbClr val="FFFFFF"/>
                </a:solidFill>
                <a:latin typeface="Segoe"/>
              </a:rPr>
              <a:t>Tìm</a:t>
            </a:r>
            <a:r>
              <a:rPr sz="1100" b="0">
                <a:solidFill>
                  <a:srgbClr val="FFFFFF"/>
                </a:solidFill>
                <a:latin typeface="Segoe"/>
              </a:rPr>
              <a:t> </a:t>
            </a:r>
            <a:r>
              <a:rPr sz="1100" b="0" err="1">
                <a:solidFill>
                  <a:srgbClr val="FFFFFF"/>
                </a:solidFill>
                <a:latin typeface="Segoe"/>
              </a:rPr>
              <a:t>kiếm</a:t>
            </a:r>
            <a:r>
              <a:rPr sz="1100" b="0">
                <a:solidFill>
                  <a:srgbClr val="FFFFFF"/>
                </a:solidFill>
                <a:latin typeface="Segoe"/>
              </a:rPr>
              <a:t>, </a:t>
            </a:r>
            <a:r>
              <a:rPr sz="1100" b="0" err="1">
                <a:solidFill>
                  <a:srgbClr val="FFFFFF"/>
                </a:solidFill>
                <a:latin typeface="Segoe"/>
              </a:rPr>
              <a:t>lọc</a:t>
            </a:r>
            <a:r>
              <a:rPr sz="1100" b="0">
                <a:solidFill>
                  <a:srgbClr val="FFFFFF"/>
                </a:solidFill>
                <a:latin typeface="Segoe"/>
              </a:rPr>
              <a:t> </a:t>
            </a:r>
            <a:r>
              <a:rPr sz="1100" b="0" err="1">
                <a:solidFill>
                  <a:srgbClr val="FFFFFF"/>
                </a:solidFill>
                <a:latin typeface="Segoe"/>
              </a:rPr>
              <a:t>trạng</a:t>
            </a:r>
            <a:r>
              <a:rPr sz="1100" b="0">
                <a:solidFill>
                  <a:srgbClr val="FFFFFF"/>
                </a:solidFill>
                <a:latin typeface="Segoe"/>
              </a:rPr>
              <a:t> </a:t>
            </a:r>
            <a:r>
              <a:rPr sz="1100" b="0" err="1">
                <a:solidFill>
                  <a:srgbClr val="FFFFFF"/>
                </a:solidFill>
                <a:latin typeface="Segoe"/>
              </a:rPr>
              <a:t>thái</a:t>
            </a:r>
            <a:r>
              <a:rPr sz="1100" b="0">
                <a:solidFill>
                  <a:srgbClr val="FFFFFF"/>
                </a:solidFill>
                <a:latin typeface="Segoe"/>
              </a:rPr>
              <a:t>/</a:t>
            </a:r>
            <a:r>
              <a:rPr sz="1100" b="0" err="1">
                <a:solidFill>
                  <a:srgbClr val="FFFFFF"/>
                </a:solidFill>
                <a:latin typeface="Segoe"/>
              </a:rPr>
              <a:t>ngày</a:t>
            </a:r>
            <a:r>
              <a:rPr sz="1100" b="0">
                <a:solidFill>
                  <a:srgbClr val="FFFFFF"/>
                </a:solidFill>
                <a:latin typeface="Segoe"/>
              </a:rPr>
              <a:t>, </a:t>
            </a:r>
            <a:r>
              <a:rPr sz="1100" b="0" err="1">
                <a:solidFill>
                  <a:srgbClr val="FFFFFF"/>
                </a:solidFill>
                <a:latin typeface="Segoe"/>
              </a:rPr>
              <a:t>xem</a:t>
            </a:r>
            <a:r>
              <a:rPr sz="1100" b="0">
                <a:solidFill>
                  <a:srgbClr val="FFFFFF"/>
                </a:solidFill>
                <a:latin typeface="Segoe"/>
              </a:rPr>
              <a:t> chi </a:t>
            </a:r>
            <a:r>
              <a:rPr sz="1100" b="0" err="1">
                <a:solidFill>
                  <a:srgbClr val="FFFFFF"/>
                </a:solidFill>
                <a:latin typeface="Segoe"/>
              </a:rPr>
              <a:t>tiết</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a:t>
            </a:r>
            <a:r>
              <a:rPr sz="1100" b="0" err="1">
                <a:solidFill>
                  <a:srgbClr val="FFFFFF"/>
                </a:solidFill>
                <a:latin typeface="Segoe"/>
              </a:rPr>
              <a:t>khung</a:t>
            </a:r>
            <a:r>
              <a:rPr sz="1100" b="0">
                <a:solidFill>
                  <a:srgbClr val="FFFFFF"/>
                </a:solidFill>
                <a:latin typeface="Segoe"/>
              </a:rPr>
              <a:t> </a:t>
            </a:r>
            <a:r>
              <a:rPr sz="1100" b="0" err="1">
                <a:solidFill>
                  <a:srgbClr val="FFFFFF"/>
                </a:solidFill>
                <a:latin typeface="Segoe"/>
              </a:rPr>
              <a:t>giờ</a:t>
            </a:r>
            <a:r>
              <a:rPr sz="1100" b="0">
                <a:solidFill>
                  <a:srgbClr val="FFFFFF"/>
                </a:solidFill>
                <a:latin typeface="Segoe"/>
              </a:rPr>
              <a:t>/</a:t>
            </a:r>
            <a:r>
              <a:rPr sz="1100" b="0" err="1">
                <a:solidFill>
                  <a:srgbClr val="FFFFFF"/>
                </a:solidFill>
                <a:latin typeface="Segoe"/>
              </a:rPr>
              <a:t>dịch</a:t>
            </a:r>
            <a:r>
              <a:rPr sz="1100" b="0">
                <a:solidFill>
                  <a:srgbClr val="FFFFFF"/>
                </a:solidFill>
                <a:latin typeface="Segoe"/>
              </a:rPr>
              <a:t> </a:t>
            </a:r>
            <a:r>
              <a:rPr sz="1100" b="0" err="1">
                <a:solidFill>
                  <a:srgbClr val="FFFFFF"/>
                </a:solidFill>
                <a:latin typeface="Segoe"/>
              </a:rPr>
              <a:t>vụ</a:t>
            </a:r>
            <a:r>
              <a:rPr sz="1100" b="0">
                <a:solidFill>
                  <a:srgbClr val="FFFFFF"/>
                </a:solidFill>
                <a:latin typeface="Segoe"/>
              </a:rPr>
              <a:t>, </a:t>
            </a:r>
            <a:r>
              <a:rPr sz="1100" b="0" err="1">
                <a:solidFill>
                  <a:srgbClr val="FFFFFF"/>
                </a:solidFill>
                <a:latin typeface="Segoe"/>
              </a:rPr>
              <a:t>xử</a:t>
            </a:r>
            <a:r>
              <a:rPr sz="1100" b="0">
                <a:solidFill>
                  <a:srgbClr val="FFFFFF"/>
                </a:solidFill>
                <a:latin typeface="Segoe"/>
              </a:rPr>
              <a:t> </a:t>
            </a:r>
            <a:r>
              <a:rPr sz="1100" b="0" err="1">
                <a:solidFill>
                  <a:srgbClr val="FFFFFF"/>
                </a:solidFill>
                <a:latin typeface="Segoe"/>
              </a:rPr>
              <a:t>lý</a:t>
            </a:r>
            <a:r>
              <a:rPr sz="1100" b="0">
                <a:solidFill>
                  <a:srgbClr val="FFFFFF"/>
                </a:solidFill>
                <a:latin typeface="Segoe"/>
              </a:rPr>
              <a:t> </a:t>
            </a:r>
            <a:r>
              <a:rPr sz="1100" b="0" err="1">
                <a:solidFill>
                  <a:srgbClr val="FFFFFF"/>
                </a:solidFill>
                <a:latin typeface="Segoe"/>
              </a:rPr>
              <a:t>vào</a:t>
            </a:r>
            <a:r>
              <a:rPr sz="1100" b="0">
                <a:solidFill>
                  <a:srgbClr val="FFFFFF"/>
                </a:solidFill>
                <a:latin typeface="Segoe"/>
              </a:rPr>
              <a:t> </a:t>
            </a:r>
            <a:r>
              <a:rPr sz="1100" b="0" err="1">
                <a:solidFill>
                  <a:srgbClr val="FFFFFF"/>
                </a:solidFill>
                <a:latin typeface="Segoe"/>
              </a:rPr>
              <a:t>chơi</a:t>
            </a:r>
            <a:r>
              <a:rPr sz="1100" b="0">
                <a:solidFill>
                  <a:srgbClr val="FFFFFF"/>
                </a:solidFill>
                <a:latin typeface="Segoe"/>
              </a:rPr>
              <a:t>, </a:t>
            </a:r>
            <a:r>
              <a:rPr sz="1100" b="0" err="1">
                <a:solidFill>
                  <a:srgbClr val="FFFFFF"/>
                </a:solidFill>
                <a:latin typeface="Segoe"/>
              </a:rPr>
              <a:t>hoàn</a:t>
            </a:r>
            <a:r>
              <a:rPr sz="1100" b="0">
                <a:solidFill>
                  <a:srgbClr val="FFFFFF"/>
                </a:solidFill>
                <a:latin typeface="Segoe"/>
              </a:rPr>
              <a:t> </a:t>
            </a:r>
            <a:r>
              <a:rPr sz="1100" b="0" err="1">
                <a:solidFill>
                  <a:srgbClr val="FFFFFF"/>
                </a:solidFill>
                <a:latin typeface="Segoe"/>
              </a:rPr>
              <a:t>thành</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hủy</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a:t>
            </a:r>
          </a:p>
        </p:txBody>
      </p:sp>
      <p:sp>
        <p:nvSpPr>
          <p:cNvPr id="10" name="Text 6"/>
          <p:cNvSpPr/>
          <p:nvPr/>
        </p:nvSpPr>
        <p:spPr>
          <a:xfrm>
            <a:off x="6355080" y="3977640"/>
            <a:ext cx="2606040" cy="11430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Sân</a:t>
            </a:r>
            <a:r>
              <a:rPr sz="1100" b="1">
                <a:solidFill>
                  <a:srgbClr val="00F5C6"/>
                </a:solidFill>
                <a:latin typeface="Segoe"/>
              </a:rPr>
              <a:t> &amp; </a:t>
            </a:r>
            <a:r>
              <a:rPr sz="1100" b="1" err="1">
                <a:solidFill>
                  <a:srgbClr val="00F5C6"/>
                </a:solidFill>
                <a:latin typeface="Segoe"/>
              </a:rPr>
              <a:t>dịch</a:t>
            </a:r>
            <a:r>
              <a:rPr sz="1100" b="1">
                <a:solidFill>
                  <a:srgbClr val="00F5C6"/>
                </a:solidFill>
                <a:latin typeface="Segoe"/>
              </a:rPr>
              <a:t> </a:t>
            </a:r>
            <a:r>
              <a:rPr sz="1100" b="1" err="1">
                <a:solidFill>
                  <a:srgbClr val="00F5C6"/>
                </a:solidFill>
                <a:latin typeface="Segoe"/>
              </a:rPr>
              <a:t>vụ</a:t>
            </a:r>
            <a:endParaRPr lang="en-US" sz="1100">
              <a:latin typeface="Segoe"/>
            </a:endParaRPr>
          </a:p>
          <a:p>
            <a:pPr>
              <a:spcBef>
                <a:spcPts val="0"/>
              </a:spcBef>
              <a:spcAft>
                <a:spcPts val="0"/>
              </a:spcAft>
            </a:pPr>
            <a:r>
              <a:rPr sz="1100" b="0" err="1">
                <a:solidFill>
                  <a:srgbClr val="FFFFFF"/>
                </a:solidFill>
                <a:latin typeface="Segoe"/>
              </a:rPr>
              <a:t>Thêm</a:t>
            </a:r>
            <a:r>
              <a:rPr sz="1100" b="0">
                <a:solidFill>
                  <a:srgbClr val="FFFFFF"/>
                </a:solidFill>
                <a:latin typeface="Segoe"/>
              </a:rPr>
              <a:t>/</a:t>
            </a:r>
            <a:r>
              <a:rPr sz="1100" b="0" err="1">
                <a:solidFill>
                  <a:srgbClr val="FFFFFF"/>
                </a:solidFill>
                <a:latin typeface="Segoe"/>
              </a:rPr>
              <a:t>sửa</a:t>
            </a:r>
            <a:r>
              <a:rPr sz="1100" b="0">
                <a:solidFill>
                  <a:srgbClr val="FFFFFF"/>
                </a:solidFill>
                <a:latin typeface="Segoe"/>
              </a:rPr>
              <a:t>, validation </a:t>
            </a:r>
            <a:r>
              <a:rPr sz="1100" b="0" err="1">
                <a:solidFill>
                  <a:srgbClr val="FFFFFF"/>
                </a:solidFill>
                <a:latin typeface="Segoe"/>
              </a:rPr>
              <a:t>dữ</a:t>
            </a:r>
            <a:r>
              <a:rPr sz="1100" b="0">
                <a:solidFill>
                  <a:srgbClr val="FFFFFF"/>
                </a:solidFill>
                <a:latin typeface="Segoe"/>
              </a:rPr>
              <a:t> </a:t>
            </a:r>
            <a:r>
              <a:rPr sz="1100" b="0" err="1">
                <a:solidFill>
                  <a:srgbClr val="FFFFFF"/>
                </a:solidFill>
                <a:latin typeface="Segoe"/>
              </a:rPr>
              <a:t>liệu</a:t>
            </a:r>
            <a:r>
              <a:rPr sz="1100" b="0">
                <a:solidFill>
                  <a:srgbClr val="FFFFFF"/>
                </a:solidFill>
                <a:latin typeface="Segoe"/>
              </a:rPr>
              <a:t>, </a:t>
            </a:r>
            <a:r>
              <a:rPr sz="1100" b="0" err="1">
                <a:solidFill>
                  <a:srgbClr val="FFFFFF"/>
                </a:solidFill>
                <a:latin typeface="Segoe"/>
              </a:rPr>
              <a:t>cấu</a:t>
            </a:r>
            <a:r>
              <a:rPr sz="1100" b="0">
                <a:solidFill>
                  <a:srgbClr val="FFFFFF"/>
                </a:solidFill>
                <a:latin typeface="Segoe"/>
              </a:rPr>
              <a:t> </a:t>
            </a:r>
            <a:r>
              <a:rPr sz="1100" b="0" err="1">
                <a:solidFill>
                  <a:srgbClr val="FFFFFF"/>
                </a:solidFill>
                <a:latin typeface="Segoe"/>
              </a:rPr>
              <a:t>hình</a:t>
            </a:r>
            <a:r>
              <a:rPr sz="1100" b="0">
                <a:solidFill>
                  <a:srgbClr val="FFFFFF"/>
                </a:solidFill>
                <a:latin typeface="Segoe"/>
              </a:rPr>
              <a:t> </a:t>
            </a:r>
            <a:r>
              <a:rPr sz="1100" b="0" err="1">
                <a:solidFill>
                  <a:srgbClr val="FFFFFF"/>
                </a:solidFill>
                <a:latin typeface="Segoe"/>
              </a:rPr>
              <a:t>giá</a:t>
            </a:r>
            <a:r>
              <a:rPr sz="1100" b="0">
                <a:solidFill>
                  <a:srgbClr val="FFFFFF"/>
                </a:solidFill>
                <a:latin typeface="Segoe"/>
              </a:rPr>
              <a:t>, </a:t>
            </a:r>
            <a:r>
              <a:rPr sz="1100" b="0" err="1">
                <a:solidFill>
                  <a:srgbClr val="FFFFFF"/>
                </a:solidFill>
                <a:latin typeface="Segoe"/>
              </a:rPr>
              <a:t>bật</a:t>
            </a:r>
            <a:r>
              <a:rPr sz="1100" b="0">
                <a:solidFill>
                  <a:srgbClr val="FFFFFF"/>
                </a:solidFill>
                <a:latin typeface="Segoe"/>
              </a:rPr>
              <a:t>/</a:t>
            </a:r>
            <a:r>
              <a:rPr sz="1100" b="0" err="1">
                <a:solidFill>
                  <a:srgbClr val="FFFFFF"/>
                </a:solidFill>
                <a:latin typeface="Segoe"/>
              </a:rPr>
              <a:t>tắt</a:t>
            </a:r>
            <a:r>
              <a:rPr sz="1100" b="0">
                <a:solidFill>
                  <a:srgbClr val="FFFFFF"/>
                </a:solidFill>
                <a:latin typeface="Segoe"/>
              </a:rPr>
              <a:t> </a:t>
            </a:r>
            <a:r>
              <a:rPr sz="1100" b="0" err="1">
                <a:solidFill>
                  <a:srgbClr val="FFFFFF"/>
                </a:solidFill>
                <a:latin typeface="Segoe"/>
              </a:rPr>
              <a:t>trạng</a:t>
            </a:r>
            <a:r>
              <a:rPr sz="1100" b="0">
                <a:solidFill>
                  <a:srgbClr val="FFFFFF"/>
                </a:solidFill>
                <a:latin typeface="Segoe"/>
              </a:rPr>
              <a:t> </a:t>
            </a:r>
            <a:r>
              <a:rPr sz="1100" b="0" err="1">
                <a:solidFill>
                  <a:srgbClr val="FFFFFF"/>
                </a:solidFill>
                <a:latin typeface="Segoe"/>
              </a:rPr>
              <a:t>thái</a:t>
            </a:r>
            <a:r>
              <a:rPr sz="1100" b="0">
                <a:solidFill>
                  <a:srgbClr val="FFFFFF"/>
                </a:solidFill>
                <a:latin typeface="Segoe"/>
              </a:rPr>
              <a:t> </a:t>
            </a:r>
            <a:r>
              <a:rPr sz="1100" b="0" err="1">
                <a:solidFill>
                  <a:srgbClr val="FFFFFF"/>
                </a:solidFill>
                <a:latin typeface="Segoe"/>
              </a:rPr>
              <a:t>hoạt</a:t>
            </a:r>
            <a:r>
              <a:rPr sz="1100" b="0">
                <a:solidFill>
                  <a:srgbClr val="FFFFFF"/>
                </a:solidFill>
                <a:latin typeface="Segoe"/>
              </a:rPr>
              <a:t> </a:t>
            </a:r>
            <a:r>
              <a:rPr sz="1100" b="0" err="1">
                <a:solidFill>
                  <a:srgbClr val="FFFFFF"/>
                </a:solidFill>
                <a:latin typeface="Segoe"/>
              </a:rPr>
              <a:t>động</a:t>
            </a:r>
            <a:r>
              <a:rPr sz="1100" b="0">
                <a:solidFill>
                  <a:srgbClr val="FFFFFF"/>
                </a:solidFill>
                <a:latin typeface="Segoe"/>
              </a:rPr>
              <a:t>/</a:t>
            </a:r>
            <a:r>
              <a:rPr sz="1100" b="0" err="1">
                <a:solidFill>
                  <a:srgbClr val="FFFFFF"/>
                </a:solidFill>
                <a:latin typeface="Segoe"/>
              </a:rPr>
              <a:t>cung</a:t>
            </a:r>
            <a:r>
              <a:rPr sz="1100" b="0">
                <a:solidFill>
                  <a:srgbClr val="FFFFFF"/>
                </a:solidFill>
                <a:latin typeface="Segoe"/>
              </a:rPr>
              <a:t> </a:t>
            </a:r>
            <a:r>
              <a:rPr sz="1100" b="0" err="1">
                <a:solidFill>
                  <a:srgbClr val="FFFFFF"/>
                </a:solidFill>
                <a:latin typeface="Segoe"/>
              </a:rPr>
              <a:t>cấp</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đồng</a:t>
            </a:r>
            <a:r>
              <a:rPr sz="1100" b="0">
                <a:solidFill>
                  <a:srgbClr val="FFFFFF"/>
                </a:solidFill>
                <a:latin typeface="Segoe"/>
              </a:rPr>
              <a:t> </a:t>
            </a:r>
            <a:r>
              <a:rPr sz="1100" b="0" err="1">
                <a:solidFill>
                  <a:srgbClr val="FFFFFF"/>
                </a:solidFill>
                <a:latin typeface="Segoe"/>
              </a:rPr>
              <a:t>bộ</a:t>
            </a:r>
            <a:r>
              <a:rPr sz="1100" b="0">
                <a:solidFill>
                  <a:srgbClr val="FFFFFF"/>
                </a:solidFill>
                <a:latin typeface="Segoe"/>
              </a:rPr>
              <a:t> sang Client.</a:t>
            </a:r>
          </a:p>
        </p:txBody>
      </p:sp>
      <p:sp>
        <p:nvSpPr>
          <p:cNvPr id="11" name="Text 7"/>
          <p:cNvSpPr/>
          <p:nvPr/>
        </p:nvSpPr>
        <p:spPr>
          <a:xfrm>
            <a:off x="9189720" y="3977640"/>
            <a:ext cx="2606040" cy="114300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Thống</a:t>
            </a:r>
            <a:r>
              <a:rPr sz="1100" b="1">
                <a:solidFill>
                  <a:srgbClr val="00F5C6"/>
                </a:solidFill>
                <a:latin typeface="Segoe"/>
              </a:rPr>
              <a:t> </a:t>
            </a:r>
            <a:r>
              <a:rPr sz="1100" b="1" err="1">
                <a:solidFill>
                  <a:srgbClr val="00F5C6"/>
                </a:solidFill>
                <a:latin typeface="Segoe"/>
              </a:rPr>
              <a:t>kê</a:t>
            </a:r>
            <a:r>
              <a:rPr sz="1100" b="1">
                <a:solidFill>
                  <a:srgbClr val="00F5C6"/>
                </a:solidFill>
                <a:latin typeface="Segoe"/>
              </a:rPr>
              <a:t> </a:t>
            </a:r>
            <a:r>
              <a:rPr sz="1100" b="1" err="1">
                <a:solidFill>
                  <a:srgbClr val="00F5C6"/>
                </a:solidFill>
                <a:latin typeface="Segoe"/>
              </a:rPr>
              <a:t>nhanh</a:t>
            </a:r>
            <a:endParaRPr lang="en-US" sz="1100">
              <a:latin typeface="Segoe"/>
            </a:endParaRPr>
          </a:p>
          <a:p>
            <a:pPr>
              <a:spcBef>
                <a:spcPts val="0"/>
              </a:spcBef>
              <a:spcAft>
                <a:spcPts val="0"/>
              </a:spcAft>
            </a:pPr>
            <a:r>
              <a:rPr sz="1100" b="0">
                <a:solidFill>
                  <a:srgbClr val="FFFFFF"/>
                </a:solidFill>
                <a:latin typeface="Segoe"/>
              </a:rPr>
              <a:t>Theo </a:t>
            </a:r>
            <a:r>
              <a:rPr sz="1100" b="0" err="1">
                <a:solidFill>
                  <a:srgbClr val="FFFFFF"/>
                </a:solidFill>
                <a:latin typeface="Segoe"/>
              </a:rPr>
              <a:t>dõi</a:t>
            </a:r>
            <a:r>
              <a:rPr sz="1100" b="0">
                <a:solidFill>
                  <a:srgbClr val="FFFFFF"/>
                </a:solidFill>
                <a:latin typeface="Segoe"/>
              </a:rPr>
              <a:t> </a:t>
            </a:r>
            <a:r>
              <a:rPr sz="1100" b="0" err="1">
                <a:solidFill>
                  <a:srgbClr val="FFFFFF"/>
                </a:solidFill>
                <a:latin typeface="Segoe"/>
              </a:rPr>
              <a:t>tổng</a:t>
            </a:r>
            <a:r>
              <a:rPr sz="1100" b="0">
                <a:solidFill>
                  <a:srgbClr val="FFFFFF"/>
                </a:solidFill>
                <a:latin typeface="Segoe"/>
              </a:rPr>
              <a:t>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 </a:t>
            </a:r>
            <a:r>
              <a:rPr sz="1100" b="0" err="1">
                <a:solidFill>
                  <a:srgbClr val="FFFFFF"/>
                </a:solidFill>
                <a:latin typeface="Segoe"/>
              </a:rPr>
              <a:t>hôm</a:t>
            </a:r>
            <a:r>
              <a:rPr sz="1100" b="0">
                <a:solidFill>
                  <a:srgbClr val="FFFFFF"/>
                </a:solidFill>
                <a:latin typeface="Segoe"/>
              </a:rPr>
              <a:t> nay, </a:t>
            </a:r>
            <a:r>
              <a:rPr sz="1100" b="0" err="1">
                <a:solidFill>
                  <a:srgbClr val="FFFFFF"/>
                </a:solidFill>
                <a:latin typeface="Segoe"/>
              </a:rPr>
              <a:t>doanh</a:t>
            </a:r>
            <a:r>
              <a:rPr sz="1100" b="0">
                <a:solidFill>
                  <a:srgbClr val="FFFFFF"/>
                </a:solidFill>
                <a:latin typeface="Segoe"/>
              </a:rPr>
              <a:t> </a:t>
            </a:r>
            <a:r>
              <a:rPr sz="1100" b="0" err="1">
                <a:solidFill>
                  <a:srgbClr val="FFFFFF"/>
                </a:solidFill>
                <a:latin typeface="Segoe"/>
              </a:rPr>
              <a:t>thu</a:t>
            </a:r>
            <a:r>
              <a:rPr sz="1100" b="0">
                <a:solidFill>
                  <a:srgbClr val="FFFFFF"/>
                </a:solidFill>
                <a:latin typeface="Segoe"/>
              </a:rPr>
              <a:t>, </a:t>
            </a:r>
            <a:r>
              <a:rPr sz="1100" b="0" err="1">
                <a:solidFill>
                  <a:srgbClr val="FFFFFF"/>
                </a:solidFill>
                <a:latin typeface="Segoe"/>
              </a:rPr>
              <a:t>trạng</a:t>
            </a:r>
            <a:r>
              <a:rPr sz="1100" b="0">
                <a:solidFill>
                  <a:srgbClr val="FFFFFF"/>
                </a:solidFill>
                <a:latin typeface="Segoe"/>
              </a:rPr>
              <a:t> </a:t>
            </a:r>
            <a:r>
              <a:rPr sz="1100" b="0" err="1">
                <a:solidFill>
                  <a:srgbClr val="FFFFFF"/>
                </a:solidFill>
                <a:latin typeface="Segoe"/>
              </a:rPr>
              <a:t>thái</a:t>
            </a:r>
            <a:r>
              <a:rPr sz="1100" b="0">
                <a:solidFill>
                  <a:srgbClr val="FFFFFF"/>
                </a:solidFill>
                <a:latin typeface="Segoe"/>
              </a:rPr>
              <a:t> </a:t>
            </a:r>
            <a:r>
              <a:rPr sz="1100" b="0" err="1">
                <a:solidFill>
                  <a:srgbClr val="FFFFFF"/>
                </a:solidFill>
                <a:latin typeface="Segoe"/>
              </a:rPr>
              <a:t>đơn</a:t>
            </a:r>
            <a:r>
              <a:rPr sz="1100" b="0">
                <a:solidFill>
                  <a:srgbClr val="FFFFFF"/>
                </a:solidFill>
                <a:latin typeface="Segoe"/>
              </a:rPr>
              <a:t>, top </a:t>
            </a:r>
            <a:r>
              <a:rPr sz="1100" b="0" err="1">
                <a:solidFill>
                  <a:srgbClr val="FFFFFF"/>
                </a:solidFill>
                <a:latin typeface="Segoe"/>
              </a:rPr>
              <a:t>sân</a:t>
            </a:r>
            <a:r>
              <a:rPr sz="1100" b="0">
                <a:solidFill>
                  <a:srgbClr val="FFFFFF"/>
                </a:solidFill>
                <a:latin typeface="Segoe"/>
              </a:rPr>
              <a:t> </a:t>
            </a:r>
            <a:r>
              <a:rPr sz="1100" b="0" err="1">
                <a:solidFill>
                  <a:srgbClr val="FFFFFF"/>
                </a:solidFill>
                <a:latin typeface="Segoe"/>
              </a:rPr>
              <a:t>và</a:t>
            </a:r>
            <a:r>
              <a:rPr sz="1100" b="0">
                <a:solidFill>
                  <a:srgbClr val="FFFFFF"/>
                </a:solidFill>
                <a:latin typeface="Segoe"/>
              </a:rPr>
              <a:t> </a:t>
            </a:r>
            <a:r>
              <a:rPr sz="1100" b="0" err="1">
                <a:solidFill>
                  <a:srgbClr val="FFFFFF"/>
                </a:solidFill>
                <a:latin typeface="Segoe"/>
              </a:rPr>
              <a:t>dữ</a:t>
            </a:r>
            <a:r>
              <a:rPr sz="1100" b="0">
                <a:solidFill>
                  <a:srgbClr val="FFFFFF"/>
                </a:solidFill>
                <a:latin typeface="Segoe"/>
              </a:rPr>
              <a:t> </a:t>
            </a:r>
            <a:r>
              <a:rPr sz="1100" b="0" err="1">
                <a:solidFill>
                  <a:srgbClr val="FFFFFF"/>
                </a:solidFill>
                <a:latin typeface="Segoe"/>
              </a:rPr>
              <a:t>liệu</a:t>
            </a:r>
            <a:r>
              <a:rPr sz="1100" b="0">
                <a:solidFill>
                  <a:srgbClr val="FFFFFF"/>
                </a:solidFill>
                <a:latin typeface="Segoe"/>
              </a:rPr>
              <a:t> </a:t>
            </a:r>
            <a:r>
              <a:rPr sz="1100" b="0" err="1">
                <a:solidFill>
                  <a:srgbClr val="FFFFFF"/>
                </a:solidFill>
                <a:latin typeface="Segoe"/>
              </a:rPr>
              <a:t>thay</a:t>
            </a:r>
            <a:r>
              <a:rPr sz="1100" b="0">
                <a:solidFill>
                  <a:srgbClr val="FFFFFF"/>
                </a:solidFill>
                <a:latin typeface="Segoe"/>
              </a:rPr>
              <a:t> </a:t>
            </a:r>
            <a:r>
              <a:rPr sz="1100" b="0" err="1">
                <a:solidFill>
                  <a:srgbClr val="FFFFFF"/>
                </a:solidFill>
                <a:latin typeface="Segoe"/>
              </a:rPr>
              <a:t>đổi</a:t>
            </a:r>
            <a:r>
              <a:rPr sz="1100" b="0">
                <a:solidFill>
                  <a:srgbClr val="FFFFFF"/>
                </a:solidFill>
                <a:latin typeface="Segoe"/>
              </a:rPr>
              <a:t> </a:t>
            </a:r>
            <a:r>
              <a:rPr sz="1100" b="0" err="1">
                <a:solidFill>
                  <a:srgbClr val="FFFFFF"/>
                </a:solidFill>
                <a:latin typeface="Segoe"/>
              </a:rPr>
              <a:t>theo</a:t>
            </a:r>
            <a:r>
              <a:rPr sz="1100" b="0">
                <a:solidFill>
                  <a:srgbClr val="FFFFFF"/>
                </a:solidFill>
                <a:latin typeface="Segoe"/>
              </a:rPr>
              <a:t> </a:t>
            </a:r>
            <a:r>
              <a:rPr sz="1100" b="0" err="1">
                <a:solidFill>
                  <a:srgbClr val="FFFFFF"/>
                </a:solidFill>
                <a:latin typeface="Segoe"/>
              </a:rPr>
              <a:t>thao</a:t>
            </a:r>
            <a:r>
              <a:rPr sz="1100" b="0">
                <a:solidFill>
                  <a:srgbClr val="FFFFFF"/>
                </a:solidFill>
                <a:latin typeface="Segoe"/>
              </a:rPr>
              <a:t> </a:t>
            </a:r>
            <a:r>
              <a:rPr sz="1100" b="0" err="1">
                <a:solidFill>
                  <a:srgbClr val="FFFFFF"/>
                </a:solidFill>
                <a:latin typeface="Segoe"/>
              </a:rPr>
              <a:t>tác</a:t>
            </a:r>
            <a:r>
              <a:rPr sz="1100" b="0">
                <a:solidFill>
                  <a:srgbClr val="FFFFFF"/>
                </a:solidFill>
                <a:latin typeface="Segoe"/>
              </a:rPr>
              <a:t> booking.</a:t>
            </a:r>
          </a:p>
        </p:txBody>
      </p:sp>
      <p:sp>
        <p:nvSpPr>
          <p:cNvPr id="12" name="Text 8"/>
          <p:cNvSpPr/>
          <p:nvPr/>
        </p:nvSpPr>
        <p:spPr>
          <a:xfrm>
            <a:off x="2754086" y="5715000"/>
            <a:ext cx="6858000" cy="292608"/>
          </a:xfrm>
          <a:prstGeom prst="roundRect">
            <a:avLst/>
          </a:prstGeom>
          <a:solidFill>
            <a:srgbClr val="F3C04E"/>
          </a:solidFill>
          <a:ln>
            <a:solidFill>
              <a:srgbClr val="F3C04E">
                <a:alpha val="90000"/>
              </a:srgbClr>
            </a:solidFill>
          </a:ln>
        </p:spPr>
        <p:txBody>
          <a:bodyPr wrap="square" lIns="254" tIns="254" rIns="254" bIns="254" rtlCol="0" anchor="ctr">
            <a:normAutofit/>
          </a:bodyPr>
          <a:lstStyle/>
          <a:p>
            <a:pPr marL="0" indent="0" algn="ctr">
              <a:buNone/>
            </a:pPr>
            <a:r>
              <a:rPr sz="800" b="1">
                <a:solidFill>
                  <a:srgbClr val="051424"/>
                </a:solidFill>
                <a:latin typeface="Segoe"/>
              </a:rPr>
              <a:t>Web Admin </a:t>
            </a:r>
            <a:r>
              <a:rPr sz="800" b="1" err="1">
                <a:solidFill>
                  <a:srgbClr val="051424"/>
                </a:solidFill>
                <a:latin typeface="Segoe"/>
              </a:rPr>
              <a:t>hỗ</a:t>
            </a:r>
            <a:r>
              <a:rPr sz="800" b="1">
                <a:solidFill>
                  <a:srgbClr val="051424"/>
                </a:solidFill>
                <a:latin typeface="Segoe"/>
              </a:rPr>
              <a:t> </a:t>
            </a:r>
            <a:r>
              <a:rPr sz="800" b="1" err="1">
                <a:solidFill>
                  <a:srgbClr val="051424"/>
                </a:solidFill>
                <a:latin typeface="Segoe"/>
              </a:rPr>
              <a:t>trợ</a:t>
            </a:r>
            <a:r>
              <a:rPr sz="800" b="1">
                <a:solidFill>
                  <a:srgbClr val="051424"/>
                </a:solidFill>
                <a:latin typeface="Segoe"/>
              </a:rPr>
              <a:t> </a:t>
            </a:r>
            <a:r>
              <a:rPr sz="800" b="1" err="1">
                <a:solidFill>
                  <a:srgbClr val="051424"/>
                </a:solidFill>
                <a:latin typeface="Segoe"/>
              </a:rPr>
              <a:t>quản</a:t>
            </a:r>
            <a:r>
              <a:rPr sz="800" b="1">
                <a:solidFill>
                  <a:srgbClr val="051424"/>
                </a:solidFill>
                <a:latin typeface="Segoe"/>
              </a:rPr>
              <a:t> </a:t>
            </a:r>
            <a:r>
              <a:rPr sz="800" b="1" err="1">
                <a:solidFill>
                  <a:srgbClr val="051424"/>
                </a:solidFill>
                <a:latin typeface="Segoe"/>
              </a:rPr>
              <a:t>trị</a:t>
            </a:r>
            <a:r>
              <a:rPr sz="800" b="1">
                <a:solidFill>
                  <a:srgbClr val="051424"/>
                </a:solidFill>
                <a:latin typeface="Segoe"/>
              </a:rPr>
              <a:t> </a:t>
            </a:r>
            <a:r>
              <a:rPr sz="800" b="1" err="1">
                <a:solidFill>
                  <a:srgbClr val="051424"/>
                </a:solidFill>
                <a:latin typeface="Segoe"/>
              </a:rPr>
              <a:t>viên</a:t>
            </a:r>
            <a:r>
              <a:rPr sz="800" b="1">
                <a:solidFill>
                  <a:srgbClr val="051424"/>
                </a:solidFill>
                <a:latin typeface="Segoe"/>
              </a:rPr>
              <a:t> </a:t>
            </a:r>
            <a:r>
              <a:rPr sz="800" b="1" err="1">
                <a:solidFill>
                  <a:srgbClr val="051424"/>
                </a:solidFill>
                <a:latin typeface="Segoe"/>
              </a:rPr>
              <a:t>vận</a:t>
            </a:r>
            <a:r>
              <a:rPr sz="800" b="1">
                <a:solidFill>
                  <a:srgbClr val="051424"/>
                </a:solidFill>
                <a:latin typeface="Segoe"/>
              </a:rPr>
              <a:t> </a:t>
            </a:r>
            <a:r>
              <a:rPr sz="800" b="1" err="1">
                <a:solidFill>
                  <a:srgbClr val="051424"/>
                </a:solidFill>
                <a:latin typeface="Segoe"/>
              </a:rPr>
              <a:t>hành</a:t>
            </a:r>
            <a:r>
              <a:rPr sz="800" b="1">
                <a:solidFill>
                  <a:srgbClr val="051424"/>
                </a:solidFill>
                <a:latin typeface="Segoe"/>
              </a:rPr>
              <a:t> </a:t>
            </a:r>
            <a:r>
              <a:rPr sz="800" b="1" err="1">
                <a:solidFill>
                  <a:srgbClr val="051424"/>
                </a:solidFill>
                <a:latin typeface="Segoe"/>
              </a:rPr>
              <a:t>đầy</a:t>
            </a:r>
            <a:r>
              <a:rPr sz="800" b="1">
                <a:solidFill>
                  <a:srgbClr val="051424"/>
                </a:solidFill>
                <a:latin typeface="Segoe"/>
              </a:rPr>
              <a:t> </a:t>
            </a:r>
            <a:r>
              <a:rPr sz="800" b="1" err="1">
                <a:solidFill>
                  <a:srgbClr val="051424"/>
                </a:solidFill>
                <a:latin typeface="Segoe"/>
              </a:rPr>
              <a:t>đủ</a:t>
            </a:r>
            <a:r>
              <a:rPr sz="800" b="1">
                <a:solidFill>
                  <a:srgbClr val="051424"/>
                </a:solidFill>
                <a:latin typeface="Segoe"/>
              </a:rPr>
              <a:t>: </a:t>
            </a:r>
            <a:r>
              <a:rPr sz="800" b="1" err="1">
                <a:solidFill>
                  <a:srgbClr val="051424"/>
                </a:solidFill>
                <a:latin typeface="Segoe"/>
              </a:rPr>
              <a:t>từ</a:t>
            </a:r>
            <a:r>
              <a:rPr sz="800" b="1">
                <a:solidFill>
                  <a:srgbClr val="051424"/>
                </a:solidFill>
                <a:latin typeface="Segoe"/>
              </a:rPr>
              <a:t> </a:t>
            </a:r>
            <a:r>
              <a:rPr sz="800" b="1" err="1">
                <a:solidFill>
                  <a:srgbClr val="051424"/>
                </a:solidFill>
                <a:latin typeface="Segoe"/>
              </a:rPr>
              <a:t>lịch</a:t>
            </a:r>
            <a:r>
              <a:rPr sz="800" b="1">
                <a:solidFill>
                  <a:srgbClr val="051424"/>
                </a:solidFill>
                <a:latin typeface="Segoe"/>
              </a:rPr>
              <a:t> </a:t>
            </a:r>
            <a:r>
              <a:rPr sz="800" b="1" err="1">
                <a:solidFill>
                  <a:srgbClr val="051424"/>
                </a:solidFill>
                <a:latin typeface="Segoe"/>
              </a:rPr>
              <a:t>sân</a:t>
            </a:r>
            <a:r>
              <a:rPr sz="800" b="1">
                <a:solidFill>
                  <a:srgbClr val="051424"/>
                </a:solidFill>
                <a:latin typeface="Segoe"/>
              </a:rPr>
              <a:t>, </a:t>
            </a:r>
            <a:r>
              <a:rPr sz="800" b="1" err="1">
                <a:solidFill>
                  <a:srgbClr val="051424"/>
                </a:solidFill>
                <a:latin typeface="Segoe"/>
              </a:rPr>
              <a:t>đơn</a:t>
            </a:r>
            <a:r>
              <a:rPr sz="800" b="1">
                <a:solidFill>
                  <a:srgbClr val="051424"/>
                </a:solidFill>
                <a:latin typeface="Segoe"/>
              </a:rPr>
              <a:t> </a:t>
            </a:r>
            <a:r>
              <a:rPr sz="800" b="1" err="1">
                <a:solidFill>
                  <a:srgbClr val="051424"/>
                </a:solidFill>
                <a:latin typeface="Segoe"/>
              </a:rPr>
              <a:t>đặt</a:t>
            </a:r>
            <a:r>
              <a:rPr sz="800" b="1">
                <a:solidFill>
                  <a:srgbClr val="051424"/>
                </a:solidFill>
                <a:latin typeface="Segoe"/>
              </a:rPr>
              <a:t>, </a:t>
            </a:r>
            <a:r>
              <a:rPr sz="800" b="1" err="1">
                <a:solidFill>
                  <a:srgbClr val="051424"/>
                </a:solidFill>
                <a:latin typeface="Segoe"/>
              </a:rPr>
              <a:t>danh</a:t>
            </a:r>
            <a:r>
              <a:rPr sz="800" b="1">
                <a:solidFill>
                  <a:srgbClr val="051424"/>
                </a:solidFill>
                <a:latin typeface="Segoe"/>
              </a:rPr>
              <a:t> </a:t>
            </a:r>
            <a:r>
              <a:rPr sz="800" b="1" err="1">
                <a:solidFill>
                  <a:srgbClr val="051424"/>
                </a:solidFill>
                <a:latin typeface="Segoe"/>
              </a:rPr>
              <a:t>mục</a:t>
            </a:r>
            <a:r>
              <a:rPr sz="800" b="1">
                <a:solidFill>
                  <a:srgbClr val="051424"/>
                </a:solidFill>
                <a:latin typeface="Segoe"/>
              </a:rPr>
              <a:t>, </a:t>
            </a:r>
            <a:r>
              <a:rPr sz="800" b="1" err="1">
                <a:solidFill>
                  <a:srgbClr val="051424"/>
                </a:solidFill>
                <a:latin typeface="Segoe"/>
              </a:rPr>
              <a:t>dịch</a:t>
            </a:r>
            <a:r>
              <a:rPr sz="800" b="1">
                <a:solidFill>
                  <a:srgbClr val="051424"/>
                </a:solidFill>
                <a:latin typeface="Segoe"/>
              </a:rPr>
              <a:t> </a:t>
            </a:r>
            <a:r>
              <a:rPr sz="800" b="1" err="1">
                <a:solidFill>
                  <a:srgbClr val="051424"/>
                </a:solidFill>
                <a:latin typeface="Segoe"/>
              </a:rPr>
              <a:t>vụ</a:t>
            </a:r>
            <a:r>
              <a:rPr sz="800" b="1">
                <a:solidFill>
                  <a:srgbClr val="051424"/>
                </a:solidFill>
                <a:latin typeface="Segoe"/>
              </a:rPr>
              <a:t> </a:t>
            </a:r>
            <a:r>
              <a:rPr sz="800" b="1" err="1">
                <a:solidFill>
                  <a:srgbClr val="051424"/>
                </a:solidFill>
                <a:latin typeface="Segoe"/>
              </a:rPr>
              <a:t>đến</a:t>
            </a:r>
            <a:r>
              <a:rPr sz="800" b="1">
                <a:solidFill>
                  <a:srgbClr val="051424"/>
                </a:solidFill>
                <a:latin typeface="Segoe"/>
              </a:rPr>
              <a:t> </a:t>
            </a:r>
            <a:r>
              <a:rPr sz="800" b="1" err="1">
                <a:solidFill>
                  <a:srgbClr val="051424"/>
                </a:solidFill>
                <a:latin typeface="Segoe"/>
              </a:rPr>
              <a:t>thống</a:t>
            </a:r>
            <a:r>
              <a:rPr sz="800" b="1">
                <a:solidFill>
                  <a:srgbClr val="051424"/>
                </a:solidFill>
                <a:latin typeface="Segoe"/>
              </a:rPr>
              <a:t> </a:t>
            </a:r>
            <a:r>
              <a:rPr sz="800" b="1" err="1">
                <a:solidFill>
                  <a:srgbClr val="051424"/>
                </a:solidFill>
                <a:latin typeface="Segoe"/>
              </a:rPr>
              <a:t>kê</a:t>
            </a:r>
            <a:r>
              <a:rPr sz="800" b="1">
                <a:solidFill>
                  <a:srgbClr val="051424"/>
                </a:solidFill>
                <a:latin typeface="Segoe"/>
              </a:rPr>
              <a:t> </a:t>
            </a:r>
            <a:r>
              <a:rPr sz="800" b="1" err="1">
                <a:solidFill>
                  <a:srgbClr val="051424"/>
                </a:solidFill>
                <a:latin typeface="Segoe"/>
              </a:rPr>
              <a:t>báo</a:t>
            </a:r>
            <a:r>
              <a:rPr sz="800" b="1">
                <a:solidFill>
                  <a:srgbClr val="051424"/>
                </a:solidFill>
                <a:latin typeface="Segoe"/>
              </a:rPr>
              <a:t> </a:t>
            </a:r>
            <a:r>
              <a:rPr sz="800" b="1" err="1">
                <a:solidFill>
                  <a:srgbClr val="051424"/>
                </a:solidFill>
                <a:latin typeface="Segoe"/>
              </a:rPr>
              <a:t>cáo</a:t>
            </a:r>
            <a:r>
              <a:rPr sz="800" b="1">
                <a:solidFill>
                  <a:srgbClr val="051424"/>
                </a:solidFill>
                <a:latin typeface="Segoe"/>
              </a:rPr>
              <a:t>.</a:t>
            </a:r>
            <a:endParaRPr lang="en-US" sz="1000">
              <a:latin typeface="Segoe"/>
            </a:endParaRPr>
          </a:p>
        </p:txBody>
      </p:sp>
      <p:pic>
        <p:nvPicPr>
          <p:cNvPr id="13" name="Picture 12" descr="uit_symbol_only.png"/>
          <p:cNvPicPr>
            <a:picLocks noChangeAspect="1"/>
          </p:cNvPicPr>
          <p:nvPr/>
        </p:nvPicPr>
        <p:blipFill>
          <a:blip r:embed="rId5"/>
          <a:stretch>
            <a:fillRect/>
          </a:stretch>
        </p:blipFill>
        <p:spPr>
          <a:xfrm>
            <a:off x="100584" y="91440"/>
            <a:ext cx="420261" cy="310896"/>
          </a:xfrm>
          <a:prstGeom prst="rect">
            <a:avLst/>
          </a:prstGeom>
        </p:spPr>
      </p:pic>
      <p:pic>
        <p:nvPicPr>
          <p:cNvPr id="14" name="Picture 13" descr="image.png"/>
          <p:cNvPicPr>
            <a:picLocks noChangeAspect="1"/>
          </p:cNvPicPr>
          <p:nvPr/>
        </p:nvPicPr>
        <p:blipFill>
          <a:blip r:embed="rId6"/>
          <a:stretch>
            <a:fillRect/>
          </a:stretch>
        </p:blipFill>
        <p:spPr>
          <a:xfrm>
            <a:off x="10195560" y="91440"/>
            <a:ext cx="1783080" cy="594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82A"/>
        </a:solidFill>
        <a:effectLst/>
      </p:bgPr>
    </p:bg>
    <p:spTree>
      <p:nvGrpSpPr>
        <p:cNvPr id="1" name=""/>
        <p:cNvGrpSpPr/>
        <p:nvPr/>
      </p:nvGrpSpPr>
      <p:grpSpPr>
        <a:xfrm>
          <a:off x="0" y="0"/>
          <a:ext cx="0" cy="0"/>
          <a:chOff x="0" y="0"/>
          <a:chExt cx="0" cy="0"/>
        </a:xfrm>
      </p:grpSpPr>
      <p:sp>
        <p:nvSpPr>
          <p:cNvPr id="2" name="Text 0"/>
          <p:cNvSpPr/>
          <p:nvPr/>
        </p:nvSpPr>
        <p:spPr>
          <a:xfrm>
            <a:off x="502920" y="292608"/>
            <a:ext cx="9601200" cy="411480"/>
          </a:xfrm>
          <a:prstGeom prst="rect">
            <a:avLst/>
          </a:prstGeom>
          <a:noFill/>
          <a:ln/>
        </p:spPr>
        <p:txBody>
          <a:bodyPr wrap="square" lIns="0" tIns="0" rIns="0" bIns="0" rtlCol="0" anchor="ctr">
            <a:normAutofit/>
          </a:bodyPr>
          <a:lstStyle/>
          <a:p>
            <a:pPr marL="0" indent="0">
              <a:buNone/>
            </a:pPr>
            <a:r>
              <a:rPr lang="en-US" sz="2400" b="1">
                <a:solidFill>
                  <a:srgbClr val="FFFFFF"/>
                </a:solidFill>
              </a:rPr>
              <a:t>KẾT QUẢ THỰC HIỆN, KIỂM THỬ &amp; THÀNH VIÊN NHÓM</a:t>
            </a:r>
            <a:endParaRPr lang="en-US" sz="2400"/>
          </a:p>
        </p:txBody>
      </p:sp>
      <p:sp>
        <p:nvSpPr>
          <p:cNvPr id="3" name="Shape 1"/>
          <p:cNvSpPr/>
          <p:nvPr/>
        </p:nvSpPr>
        <p:spPr>
          <a:xfrm>
            <a:off x="502920" y="795528"/>
            <a:ext cx="3108960" cy="0"/>
          </a:xfrm>
          <a:prstGeom prst="line">
            <a:avLst/>
          </a:prstGeom>
          <a:noFill/>
          <a:ln w="25400">
            <a:solidFill>
              <a:srgbClr val="08C391"/>
            </a:solidFill>
            <a:prstDash val="solid"/>
          </a:ln>
        </p:spPr>
        <p:txBody>
          <a:bodyPr/>
          <a:lstStyle/>
          <a:p>
            <a:endParaRPr/>
          </a:p>
        </p:txBody>
      </p:sp>
      <p:sp>
        <p:nvSpPr>
          <p:cNvPr id="4" name="Text 2"/>
          <p:cNvSpPr/>
          <p:nvPr/>
        </p:nvSpPr>
        <p:spPr>
          <a:xfrm>
            <a:off x="502920" y="6473952"/>
            <a:ext cx="4206240" cy="164592"/>
          </a:xfrm>
          <a:prstGeom prst="rect">
            <a:avLst/>
          </a:prstGeom>
          <a:noFill/>
          <a:ln/>
        </p:spPr>
        <p:txBody>
          <a:bodyPr wrap="square" lIns="0" tIns="0" rIns="0" bIns="0" rtlCol="0" anchor="ctr"/>
          <a:lstStyle/>
          <a:p>
            <a:r>
              <a:rPr lang="en-US" sz="850">
                <a:solidFill>
                  <a:srgbClr val="B9CDE0"/>
                </a:solidFill>
              </a:rPr>
              <a:t>ELITE SPORT • Kỹ thuật lập </a:t>
            </a:r>
            <a:r>
              <a:rPr lang="en-US" sz="850" err="1">
                <a:solidFill>
                  <a:srgbClr val="B9CDE0"/>
                </a:solidFill>
              </a:rPr>
              <a:t>trình</a:t>
            </a:r>
            <a:r>
              <a:rPr lang="en-US" sz="850">
                <a:solidFill>
                  <a:srgbClr val="B9CDE0"/>
                </a:solidFill>
              </a:rPr>
              <a:t> Python – </a:t>
            </a:r>
            <a:r>
              <a:rPr lang="en-US" sz="850" err="1">
                <a:solidFill>
                  <a:srgbClr val="B9CDE0"/>
                </a:solidFill>
              </a:rPr>
              <a:t>Đồ</a:t>
            </a:r>
            <a:r>
              <a:rPr lang="en-US" sz="850">
                <a:solidFill>
                  <a:srgbClr val="B9CDE0"/>
                </a:solidFill>
              </a:rPr>
              <a:t> </a:t>
            </a:r>
            <a:r>
              <a:rPr lang="en-US" sz="850" err="1">
                <a:solidFill>
                  <a:srgbClr val="B9CDE0"/>
                </a:solidFill>
              </a:rPr>
              <a:t>án</a:t>
            </a:r>
            <a:r>
              <a:rPr lang="en-US" sz="850">
                <a:solidFill>
                  <a:srgbClr val="B9CDE0"/>
                </a:solidFill>
              </a:rPr>
              <a:t> </a:t>
            </a:r>
            <a:r>
              <a:rPr lang="en-US" sz="850" err="1">
                <a:solidFill>
                  <a:srgbClr val="B9CDE0"/>
                </a:solidFill>
              </a:rPr>
              <a:t>Môn</a:t>
            </a:r>
            <a:r>
              <a:rPr lang="en-US" sz="850">
                <a:solidFill>
                  <a:srgbClr val="B9CDE0"/>
                </a:solidFill>
              </a:rPr>
              <a:t> </a:t>
            </a:r>
            <a:r>
              <a:rPr lang="en-US" sz="850" err="1">
                <a:solidFill>
                  <a:srgbClr val="B9CDE0"/>
                </a:solidFill>
              </a:rPr>
              <a:t>học</a:t>
            </a:r>
            <a:r>
              <a:rPr lang="en-US" sz="850">
                <a:solidFill>
                  <a:srgbClr val="B9CDE0"/>
                </a:solidFill>
              </a:rPr>
              <a:t> – </a:t>
            </a:r>
            <a:r>
              <a:rPr lang="en-US" sz="850" err="1">
                <a:solidFill>
                  <a:srgbClr val="B9CDE0"/>
                </a:solidFill>
              </a:rPr>
              <a:t>Nhóm</a:t>
            </a:r>
            <a:r>
              <a:rPr lang="en-US" sz="850">
                <a:solidFill>
                  <a:srgbClr val="B9CDE0"/>
                </a:solidFill>
              </a:rPr>
              <a:t> 13</a:t>
            </a:r>
            <a:endParaRPr lang="en-US" sz="850"/>
          </a:p>
        </p:txBody>
      </p:sp>
      <p:sp>
        <p:nvSpPr>
          <p:cNvPr id="5" name="Text 3"/>
          <p:cNvSpPr/>
          <p:nvPr/>
        </p:nvSpPr>
        <p:spPr>
          <a:xfrm>
            <a:off x="11201400" y="6464808"/>
            <a:ext cx="457200" cy="182880"/>
          </a:xfrm>
          <a:prstGeom prst="rect">
            <a:avLst/>
          </a:prstGeom>
          <a:noFill/>
          <a:ln/>
        </p:spPr>
        <p:txBody>
          <a:bodyPr wrap="square" lIns="0" tIns="0" rIns="0" bIns="0" rtlCol="0" anchor="ctr"/>
          <a:lstStyle/>
          <a:p>
            <a:pPr marL="0" indent="0" algn="r">
              <a:buNone/>
            </a:pPr>
            <a:r>
              <a:rPr lang="en-US" sz="850">
                <a:solidFill>
                  <a:srgbClr val="B9CDE0"/>
                </a:solidFill>
              </a:rPr>
              <a:t>10</a:t>
            </a:r>
            <a:endParaRPr lang="en-US" sz="850"/>
          </a:p>
        </p:txBody>
      </p:sp>
      <p:sp>
        <p:nvSpPr>
          <p:cNvPr id="6" name="Text 4"/>
          <p:cNvSpPr/>
          <p:nvPr/>
        </p:nvSpPr>
        <p:spPr>
          <a:xfrm>
            <a:off x="685800" y="1005840"/>
            <a:ext cx="5303520" cy="224028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Kết</a:t>
            </a:r>
            <a:r>
              <a:rPr sz="1100" b="1">
                <a:solidFill>
                  <a:srgbClr val="00F5C6"/>
                </a:solidFill>
                <a:latin typeface="Segoe"/>
              </a:rPr>
              <a:t> </a:t>
            </a:r>
            <a:r>
              <a:rPr sz="1100" b="1" err="1">
                <a:solidFill>
                  <a:srgbClr val="00F5C6"/>
                </a:solidFill>
                <a:latin typeface="Segoe"/>
              </a:rPr>
              <a:t>quả</a:t>
            </a:r>
            <a:r>
              <a:rPr sz="1100" b="1">
                <a:solidFill>
                  <a:srgbClr val="00F5C6"/>
                </a:solidFill>
                <a:latin typeface="Segoe"/>
              </a:rPr>
              <a:t> </a:t>
            </a:r>
            <a:r>
              <a:rPr sz="1100" b="1" err="1">
                <a:solidFill>
                  <a:srgbClr val="00F5C6"/>
                </a:solidFill>
                <a:latin typeface="Segoe"/>
              </a:rPr>
              <a:t>đạt</a:t>
            </a:r>
            <a:r>
              <a:rPr sz="1100" b="1">
                <a:solidFill>
                  <a:srgbClr val="00F5C6"/>
                </a:solidFill>
                <a:latin typeface="Segoe"/>
              </a:rPr>
              <a:t> </a:t>
            </a:r>
            <a:r>
              <a:rPr sz="1100" b="1" err="1">
                <a:solidFill>
                  <a:srgbClr val="00F5C6"/>
                </a:solidFill>
                <a:latin typeface="Segoe"/>
              </a:rPr>
              <a:t>được</a:t>
            </a:r>
            <a:endParaRPr lang="en-US" sz="1100">
              <a:latin typeface="Segoe"/>
            </a:endParaRPr>
          </a:p>
          <a:p>
            <a:pPr>
              <a:spcBef>
                <a:spcPts val="0"/>
              </a:spcBef>
              <a:spcAft>
                <a:spcPts val="0"/>
              </a:spcAft>
            </a:pPr>
            <a:r>
              <a:rPr sz="1100" b="0">
                <a:solidFill>
                  <a:srgbClr val="FFFFFF"/>
                </a:solidFill>
                <a:latin typeface="Segoe"/>
              </a:rPr>
              <a:t>• </a:t>
            </a:r>
            <a:r>
              <a:rPr lang="en-US" sz="1100" err="1">
                <a:solidFill>
                  <a:srgbClr val="FFFFFF"/>
                </a:solidFill>
                <a:latin typeface="Segoe"/>
              </a:rPr>
              <a:t>Hoàn</a:t>
            </a:r>
            <a:r>
              <a:rPr lang="en-US" sz="1100">
                <a:solidFill>
                  <a:srgbClr val="FFFFFF"/>
                </a:solidFill>
                <a:latin typeface="Segoe"/>
              </a:rPr>
              <a:t> </a:t>
            </a:r>
            <a:r>
              <a:rPr lang="en-US" sz="1100" err="1">
                <a:solidFill>
                  <a:srgbClr val="FFFFFF"/>
                </a:solidFill>
                <a:latin typeface="Segoe"/>
              </a:rPr>
              <a:t>thiện</a:t>
            </a:r>
            <a:r>
              <a:rPr lang="en-US" sz="1100">
                <a:solidFill>
                  <a:srgbClr val="FFFFFF"/>
                </a:solidFill>
                <a:latin typeface="Segoe"/>
              </a:rPr>
              <a:t> Web Client, Web Admin, Backend API </a:t>
            </a:r>
            <a:r>
              <a:rPr lang="en-US" sz="1100" err="1">
                <a:solidFill>
                  <a:srgbClr val="FFFFFF"/>
                </a:solidFill>
                <a:latin typeface="Segoe"/>
              </a:rPr>
              <a:t>và</a:t>
            </a:r>
            <a:r>
              <a:rPr lang="en-US" sz="1100">
                <a:solidFill>
                  <a:srgbClr val="FFFFFF"/>
                </a:solidFill>
                <a:latin typeface="Segoe"/>
              </a:rPr>
              <a:t> AI Assistant.</a:t>
            </a:r>
            <a:r>
              <a:rPr lang="en-US" sz="1100" b="0">
                <a:solidFill>
                  <a:srgbClr val="FFFFFF"/>
                </a:solidFill>
                <a:latin typeface="Segoe"/>
              </a:rPr>
              <a:t>
</a:t>
            </a:r>
            <a:r>
              <a:rPr lang="vi-VN" sz="1100">
                <a:solidFill>
                  <a:srgbClr val="FFFFFF"/>
                </a:solidFill>
                <a:latin typeface="Segoe"/>
              </a:rPr>
              <a:t>• Đồng bộ booking, sân, dịch vụ và trạng thái giữa Client/Admin</a:t>
            </a:r>
            <a:r>
              <a:rPr lang="vi-VN" sz="1100" b="0">
                <a:solidFill>
                  <a:srgbClr val="FFFFFF"/>
                </a:solidFill>
                <a:latin typeface="Segoe"/>
              </a:rPr>
              <a:t>
</a:t>
            </a:r>
            <a:r>
              <a:rPr lang="vi-VN" sz="1100">
                <a:solidFill>
                  <a:srgbClr val="FFFFFF"/>
                </a:solidFill>
                <a:latin typeface="Segoe"/>
              </a:rPr>
              <a:t>• Hỗ trợ đặt sân thủ công và qua AI</a:t>
            </a:r>
            <a:r>
              <a:rPr lang="en-US" sz="1100">
                <a:solidFill>
                  <a:srgbClr val="FFFFFF"/>
                </a:solidFill>
                <a:latin typeface="Segoe"/>
              </a:rPr>
              <a:t>.</a:t>
            </a:r>
            <a:r>
              <a:rPr lang="vi-VN" sz="1100" b="0">
                <a:solidFill>
                  <a:srgbClr val="FFFFFF"/>
                </a:solidFill>
                <a:latin typeface="Segoe"/>
              </a:rPr>
              <a:t>
</a:t>
            </a:r>
            <a:r>
              <a:rPr lang="vi-VN" sz="1100">
                <a:solidFill>
                  <a:srgbClr val="FFFFFF"/>
                </a:solidFill>
                <a:latin typeface="Segoe"/>
              </a:rPr>
              <a:t>• Quản lý lịch sân, đơn đặt, sân, dịch vụ và thống kê</a:t>
            </a:r>
            <a:r>
              <a:rPr lang="en-US" sz="1100">
                <a:solidFill>
                  <a:srgbClr val="FFFFFF"/>
                </a:solidFill>
                <a:latin typeface="Segoe"/>
              </a:rPr>
              <a:t>.</a:t>
            </a:r>
            <a:endParaRPr sz="1100" b="0">
              <a:solidFill>
                <a:srgbClr val="FFFFFF"/>
              </a:solidFill>
              <a:latin typeface="Segoe"/>
            </a:endParaRPr>
          </a:p>
        </p:txBody>
      </p:sp>
      <p:sp>
        <p:nvSpPr>
          <p:cNvPr id="7" name="Text 5"/>
          <p:cNvSpPr/>
          <p:nvPr/>
        </p:nvSpPr>
        <p:spPr>
          <a:xfrm>
            <a:off x="6355080" y="1005840"/>
            <a:ext cx="5120640" cy="2240280"/>
          </a:xfrm>
          <a:prstGeom prst="roundRect">
            <a:avLst/>
          </a:prstGeom>
          <a:solidFill>
            <a:srgbClr val="09233A"/>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r>
              <a:rPr sz="1100" b="1" err="1">
                <a:solidFill>
                  <a:srgbClr val="00F5C6"/>
                </a:solidFill>
                <a:latin typeface="Segoe"/>
              </a:rPr>
              <a:t>K</a:t>
            </a:r>
            <a:r>
              <a:rPr lang="en-US" sz="1100" b="1" err="1">
                <a:solidFill>
                  <a:srgbClr val="00F5C6"/>
                </a:solidFill>
                <a:latin typeface="Segoe"/>
              </a:rPr>
              <a:t>iểm</a:t>
            </a:r>
            <a:r>
              <a:rPr lang="en-US" sz="1100" b="1">
                <a:solidFill>
                  <a:srgbClr val="00F5C6"/>
                </a:solidFill>
                <a:latin typeface="Segoe"/>
              </a:rPr>
              <a:t> </a:t>
            </a:r>
            <a:r>
              <a:rPr lang="en-US" sz="1100" b="1" err="1">
                <a:solidFill>
                  <a:srgbClr val="00F5C6"/>
                </a:solidFill>
                <a:latin typeface="Segoe"/>
              </a:rPr>
              <a:t>thử</a:t>
            </a:r>
            <a:r>
              <a:rPr lang="en-US" sz="1100" b="1">
                <a:solidFill>
                  <a:srgbClr val="00F5C6"/>
                </a:solidFill>
                <a:latin typeface="Segoe"/>
              </a:rPr>
              <a:t> </a:t>
            </a:r>
            <a:r>
              <a:rPr lang="en-US" sz="1100" b="1" err="1">
                <a:solidFill>
                  <a:srgbClr val="00F5C6"/>
                </a:solidFill>
                <a:latin typeface="Segoe"/>
              </a:rPr>
              <a:t>hệ</a:t>
            </a:r>
            <a:r>
              <a:rPr lang="en-US" sz="1100" b="1">
                <a:solidFill>
                  <a:srgbClr val="00F5C6"/>
                </a:solidFill>
                <a:latin typeface="Segoe"/>
              </a:rPr>
              <a:t> </a:t>
            </a:r>
            <a:r>
              <a:rPr lang="en-US" sz="1100" b="1" err="1">
                <a:solidFill>
                  <a:srgbClr val="00F5C6"/>
                </a:solidFill>
                <a:latin typeface="Segoe"/>
              </a:rPr>
              <a:t>thống</a:t>
            </a:r>
            <a:endParaRPr lang="en-US" sz="1100" b="1">
              <a:solidFill>
                <a:srgbClr val="00F5C6"/>
              </a:solidFill>
              <a:latin typeface="Segoe"/>
            </a:endParaRPr>
          </a:p>
          <a:p>
            <a:pPr marL="171450" indent="-171450">
              <a:buFont typeface="Arial" panose="020B0604020202020204" pitchFamily="34" charset="0"/>
              <a:buChar char="•"/>
            </a:pPr>
            <a:r>
              <a:rPr lang="en-US" sz="1100" err="1">
                <a:solidFill>
                  <a:schemeClr val="bg1"/>
                </a:solidFill>
                <a:latin typeface="Segoe"/>
              </a:rPr>
              <a:t>Đã</a:t>
            </a:r>
            <a:r>
              <a:rPr lang="en-US" sz="1100">
                <a:solidFill>
                  <a:schemeClr val="bg1"/>
                </a:solidFill>
                <a:latin typeface="Segoe"/>
              </a:rPr>
              <a:t> </a:t>
            </a:r>
            <a:r>
              <a:rPr lang="en-US" sz="1100" err="1">
                <a:solidFill>
                  <a:schemeClr val="bg1"/>
                </a:solidFill>
                <a:latin typeface="Segoe"/>
              </a:rPr>
              <a:t>kiểm</a:t>
            </a:r>
            <a:r>
              <a:rPr lang="en-US" sz="1100">
                <a:solidFill>
                  <a:schemeClr val="bg1"/>
                </a:solidFill>
                <a:latin typeface="Segoe"/>
              </a:rPr>
              <a:t> </a:t>
            </a:r>
            <a:r>
              <a:rPr lang="en-US" sz="1100" err="1">
                <a:solidFill>
                  <a:schemeClr val="bg1"/>
                </a:solidFill>
                <a:latin typeface="Segoe"/>
              </a:rPr>
              <a:t>thử</a:t>
            </a:r>
            <a:r>
              <a:rPr lang="en-US" sz="1100">
                <a:solidFill>
                  <a:schemeClr val="bg1"/>
                </a:solidFill>
                <a:latin typeface="Segoe"/>
              </a:rPr>
              <a:t> </a:t>
            </a:r>
            <a:r>
              <a:rPr lang="en-US" sz="1100" err="1">
                <a:solidFill>
                  <a:schemeClr val="bg1"/>
                </a:solidFill>
                <a:latin typeface="Segoe"/>
              </a:rPr>
              <a:t>luồng</a:t>
            </a:r>
            <a:r>
              <a:rPr lang="en-US" sz="1100">
                <a:solidFill>
                  <a:schemeClr val="bg1"/>
                </a:solidFill>
                <a:latin typeface="Segoe"/>
              </a:rPr>
              <a:t> Client, Admin, AI </a:t>
            </a:r>
            <a:r>
              <a:rPr lang="en-US" sz="1100" err="1">
                <a:solidFill>
                  <a:schemeClr val="bg1"/>
                </a:solidFill>
                <a:latin typeface="Segoe"/>
              </a:rPr>
              <a:t>và</a:t>
            </a:r>
            <a:r>
              <a:rPr lang="en-US" sz="1100">
                <a:solidFill>
                  <a:schemeClr val="bg1"/>
                </a:solidFill>
                <a:latin typeface="Segoe"/>
              </a:rPr>
              <a:t> </a:t>
            </a:r>
            <a:r>
              <a:rPr lang="en-US" sz="1100" err="1">
                <a:solidFill>
                  <a:schemeClr val="bg1"/>
                </a:solidFill>
                <a:latin typeface="Segoe"/>
              </a:rPr>
              <a:t>đồng</a:t>
            </a:r>
            <a:r>
              <a:rPr lang="en-US" sz="1100">
                <a:solidFill>
                  <a:schemeClr val="bg1"/>
                </a:solidFill>
                <a:latin typeface="Segoe"/>
              </a:rPr>
              <a:t> </a:t>
            </a:r>
            <a:r>
              <a:rPr lang="en-US" sz="1100" err="1">
                <a:solidFill>
                  <a:schemeClr val="bg1"/>
                </a:solidFill>
                <a:latin typeface="Segoe"/>
              </a:rPr>
              <a:t>bộ</a:t>
            </a:r>
            <a:r>
              <a:rPr lang="en-US" sz="1100">
                <a:solidFill>
                  <a:schemeClr val="bg1"/>
                </a:solidFill>
                <a:latin typeface="Segoe"/>
              </a:rPr>
              <a:t> </a:t>
            </a:r>
            <a:r>
              <a:rPr lang="en-US" sz="1100" err="1">
                <a:solidFill>
                  <a:schemeClr val="bg1"/>
                </a:solidFill>
                <a:latin typeface="Segoe"/>
              </a:rPr>
              <a:t>dữ</a:t>
            </a:r>
            <a:r>
              <a:rPr lang="en-US" sz="1100">
                <a:solidFill>
                  <a:schemeClr val="bg1"/>
                </a:solidFill>
                <a:latin typeface="Segoe"/>
              </a:rPr>
              <a:t> </a:t>
            </a:r>
            <a:r>
              <a:rPr lang="en-US" sz="1100" err="1">
                <a:solidFill>
                  <a:schemeClr val="bg1"/>
                </a:solidFill>
                <a:latin typeface="Segoe"/>
              </a:rPr>
              <a:t>liệu</a:t>
            </a:r>
            <a:r>
              <a:rPr lang="en-US" sz="1100">
                <a:solidFill>
                  <a:schemeClr val="bg1"/>
                </a:solidFill>
                <a:latin typeface="Segoe"/>
              </a:rPr>
              <a:t>.</a:t>
            </a:r>
          </a:p>
          <a:p>
            <a:pPr marL="171450" indent="-171450">
              <a:buFont typeface="Arial" panose="020B0604020202020204" pitchFamily="34" charset="0"/>
              <a:buChar char="•"/>
            </a:pPr>
            <a:r>
              <a:rPr lang="en-US" sz="1100" err="1">
                <a:solidFill>
                  <a:schemeClr val="bg1"/>
                </a:solidFill>
                <a:latin typeface="Segoe"/>
              </a:rPr>
              <a:t>Kiểm</a:t>
            </a:r>
            <a:r>
              <a:rPr lang="en-US" sz="1100">
                <a:solidFill>
                  <a:schemeClr val="bg1"/>
                </a:solidFill>
                <a:latin typeface="Segoe"/>
              </a:rPr>
              <a:t> </a:t>
            </a:r>
            <a:r>
              <a:rPr lang="en-US" sz="1100" err="1">
                <a:solidFill>
                  <a:schemeClr val="bg1"/>
                </a:solidFill>
                <a:latin typeface="Segoe"/>
              </a:rPr>
              <a:t>thử</a:t>
            </a:r>
            <a:r>
              <a:rPr lang="en-US" sz="1100">
                <a:solidFill>
                  <a:schemeClr val="bg1"/>
                </a:solidFill>
                <a:latin typeface="Segoe"/>
              </a:rPr>
              <a:t> validation, </a:t>
            </a:r>
            <a:r>
              <a:rPr lang="en-US" sz="1100" err="1">
                <a:solidFill>
                  <a:schemeClr val="bg1"/>
                </a:solidFill>
                <a:latin typeface="Segoe"/>
              </a:rPr>
              <a:t>chống</a:t>
            </a:r>
            <a:r>
              <a:rPr lang="en-US" sz="1100">
                <a:solidFill>
                  <a:schemeClr val="bg1"/>
                </a:solidFill>
                <a:latin typeface="Segoe"/>
              </a:rPr>
              <a:t> </a:t>
            </a:r>
            <a:r>
              <a:rPr lang="en-US" sz="1100" err="1">
                <a:solidFill>
                  <a:schemeClr val="bg1"/>
                </a:solidFill>
                <a:latin typeface="Segoe"/>
              </a:rPr>
              <a:t>đặt</a:t>
            </a:r>
            <a:r>
              <a:rPr lang="en-US" sz="1100">
                <a:solidFill>
                  <a:schemeClr val="bg1"/>
                </a:solidFill>
                <a:latin typeface="Segoe"/>
              </a:rPr>
              <a:t> </a:t>
            </a:r>
            <a:r>
              <a:rPr lang="en-US" sz="1100" err="1">
                <a:solidFill>
                  <a:schemeClr val="bg1"/>
                </a:solidFill>
                <a:latin typeface="Segoe"/>
              </a:rPr>
              <a:t>trùng</a:t>
            </a:r>
            <a:r>
              <a:rPr lang="en-US" sz="1100">
                <a:solidFill>
                  <a:schemeClr val="bg1"/>
                </a:solidFill>
                <a:latin typeface="Segoe"/>
              </a:rPr>
              <a:t>, </a:t>
            </a:r>
            <a:r>
              <a:rPr lang="en-US" sz="1100" err="1">
                <a:solidFill>
                  <a:schemeClr val="bg1"/>
                </a:solidFill>
                <a:latin typeface="Segoe"/>
              </a:rPr>
              <a:t>trạng</a:t>
            </a:r>
            <a:r>
              <a:rPr lang="en-US" sz="1100">
                <a:solidFill>
                  <a:schemeClr val="bg1"/>
                </a:solidFill>
                <a:latin typeface="Segoe"/>
              </a:rPr>
              <a:t> </a:t>
            </a:r>
            <a:r>
              <a:rPr lang="en-US" sz="1100" err="1">
                <a:solidFill>
                  <a:schemeClr val="bg1"/>
                </a:solidFill>
                <a:latin typeface="Segoe"/>
              </a:rPr>
              <a:t>thái</a:t>
            </a:r>
            <a:r>
              <a:rPr lang="en-US" sz="1100">
                <a:solidFill>
                  <a:schemeClr val="bg1"/>
                </a:solidFill>
                <a:latin typeface="Segoe"/>
              </a:rPr>
              <a:t> booking </a:t>
            </a:r>
            <a:r>
              <a:rPr lang="en-US" sz="1100" err="1">
                <a:solidFill>
                  <a:schemeClr val="bg1"/>
                </a:solidFill>
                <a:latin typeface="Segoe"/>
              </a:rPr>
              <a:t>và</a:t>
            </a:r>
            <a:r>
              <a:rPr lang="en-US" sz="1100">
                <a:solidFill>
                  <a:schemeClr val="bg1"/>
                </a:solidFill>
                <a:latin typeface="Segoe"/>
              </a:rPr>
              <a:t> </a:t>
            </a:r>
            <a:r>
              <a:rPr lang="en-US" sz="1100" err="1">
                <a:solidFill>
                  <a:schemeClr val="bg1"/>
                </a:solidFill>
                <a:latin typeface="Segoe"/>
              </a:rPr>
              <a:t>dịch</a:t>
            </a:r>
            <a:r>
              <a:rPr lang="en-US" sz="1100">
                <a:solidFill>
                  <a:schemeClr val="bg1"/>
                </a:solidFill>
                <a:latin typeface="Segoe"/>
              </a:rPr>
              <a:t> </a:t>
            </a:r>
            <a:r>
              <a:rPr lang="en-US" sz="1100" err="1">
                <a:solidFill>
                  <a:schemeClr val="bg1"/>
                </a:solidFill>
                <a:latin typeface="Segoe"/>
              </a:rPr>
              <a:t>vụ</a:t>
            </a:r>
            <a:r>
              <a:rPr lang="en-US" sz="1100">
                <a:solidFill>
                  <a:schemeClr val="bg1"/>
                </a:solidFill>
                <a:latin typeface="Segoe"/>
              </a:rPr>
              <a:t> </a:t>
            </a:r>
            <a:r>
              <a:rPr lang="en-US" sz="1100" err="1">
                <a:solidFill>
                  <a:schemeClr val="bg1"/>
                </a:solidFill>
                <a:latin typeface="Segoe"/>
              </a:rPr>
              <a:t>đi</a:t>
            </a:r>
            <a:r>
              <a:rPr lang="en-US" sz="1100">
                <a:solidFill>
                  <a:schemeClr val="bg1"/>
                </a:solidFill>
                <a:latin typeface="Segoe"/>
              </a:rPr>
              <a:t> </a:t>
            </a:r>
            <a:r>
              <a:rPr lang="en-US" sz="1100" err="1">
                <a:solidFill>
                  <a:schemeClr val="bg1"/>
                </a:solidFill>
                <a:latin typeface="Segoe"/>
              </a:rPr>
              <a:t>kèm</a:t>
            </a:r>
            <a:r>
              <a:rPr lang="en-US" sz="1100">
                <a:solidFill>
                  <a:schemeClr val="bg1"/>
                </a:solidFill>
                <a:latin typeface="Segoe"/>
              </a:rPr>
              <a:t>.</a:t>
            </a:r>
          </a:p>
          <a:p>
            <a:pPr marL="171450" indent="-171450">
              <a:buFont typeface="Arial" panose="020B0604020202020204" pitchFamily="34" charset="0"/>
              <a:buChar char="•"/>
            </a:pPr>
            <a:r>
              <a:rPr lang="en-US" sz="1100" err="1">
                <a:solidFill>
                  <a:schemeClr val="bg1"/>
                </a:solidFill>
                <a:latin typeface="Segoe"/>
              </a:rPr>
              <a:t>Thực</a:t>
            </a:r>
            <a:r>
              <a:rPr lang="en-US" sz="1100">
                <a:solidFill>
                  <a:schemeClr val="bg1"/>
                </a:solidFill>
                <a:latin typeface="Segoe"/>
              </a:rPr>
              <a:t> </a:t>
            </a:r>
            <a:r>
              <a:rPr lang="en-US" sz="1100" err="1">
                <a:solidFill>
                  <a:schemeClr val="bg1"/>
                </a:solidFill>
                <a:latin typeface="Segoe"/>
              </a:rPr>
              <a:t>hiện</a:t>
            </a:r>
            <a:r>
              <a:rPr lang="en-US" sz="1100">
                <a:solidFill>
                  <a:schemeClr val="bg1"/>
                </a:solidFill>
                <a:latin typeface="Segoe"/>
              </a:rPr>
              <a:t> regression test </a:t>
            </a:r>
            <a:r>
              <a:rPr lang="en-US" sz="1100" err="1">
                <a:solidFill>
                  <a:schemeClr val="bg1"/>
                </a:solidFill>
                <a:latin typeface="Segoe"/>
              </a:rPr>
              <a:t>sau</a:t>
            </a:r>
            <a:r>
              <a:rPr lang="en-US" sz="1100">
                <a:solidFill>
                  <a:schemeClr val="bg1"/>
                </a:solidFill>
                <a:latin typeface="Segoe"/>
              </a:rPr>
              <a:t> </a:t>
            </a:r>
            <a:r>
              <a:rPr lang="en-US" sz="1100" err="1">
                <a:solidFill>
                  <a:schemeClr val="bg1"/>
                </a:solidFill>
                <a:latin typeface="Segoe"/>
              </a:rPr>
              <a:t>khi</a:t>
            </a:r>
            <a:r>
              <a:rPr lang="en-US" sz="1100">
                <a:solidFill>
                  <a:schemeClr val="bg1"/>
                </a:solidFill>
                <a:latin typeface="Segoe"/>
              </a:rPr>
              <a:t> </a:t>
            </a:r>
            <a:r>
              <a:rPr lang="en-US" sz="1100" err="1">
                <a:solidFill>
                  <a:schemeClr val="bg1"/>
                </a:solidFill>
                <a:latin typeface="Segoe"/>
              </a:rPr>
              <a:t>hoàn</a:t>
            </a:r>
            <a:r>
              <a:rPr lang="en-US" sz="1100">
                <a:solidFill>
                  <a:schemeClr val="bg1"/>
                </a:solidFill>
                <a:latin typeface="Segoe"/>
              </a:rPr>
              <a:t> </a:t>
            </a:r>
            <a:r>
              <a:rPr lang="en-US" sz="1100" err="1">
                <a:solidFill>
                  <a:schemeClr val="bg1"/>
                </a:solidFill>
                <a:latin typeface="Segoe"/>
              </a:rPr>
              <a:t>thiện</a:t>
            </a:r>
            <a:r>
              <a:rPr lang="en-US" sz="1100">
                <a:solidFill>
                  <a:schemeClr val="bg1"/>
                </a:solidFill>
                <a:latin typeface="Segoe"/>
              </a:rPr>
              <a:t> </a:t>
            </a:r>
            <a:r>
              <a:rPr lang="en-US" sz="1100" err="1">
                <a:solidFill>
                  <a:schemeClr val="bg1"/>
                </a:solidFill>
                <a:latin typeface="Segoe"/>
              </a:rPr>
              <a:t>chức</a:t>
            </a:r>
            <a:r>
              <a:rPr lang="en-US" sz="1100">
                <a:solidFill>
                  <a:schemeClr val="bg1"/>
                </a:solidFill>
                <a:latin typeface="Segoe"/>
              </a:rPr>
              <a:t> </a:t>
            </a:r>
            <a:r>
              <a:rPr lang="en-US" sz="1100" err="1">
                <a:solidFill>
                  <a:schemeClr val="bg1"/>
                </a:solidFill>
                <a:latin typeface="Segoe"/>
              </a:rPr>
              <a:t>năng</a:t>
            </a:r>
            <a:r>
              <a:rPr lang="en-US" sz="1100">
                <a:solidFill>
                  <a:schemeClr val="bg1"/>
                </a:solidFill>
                <a:latin typeface="Segoe"/>
              </a:rPr>
              <a:t>.</a:t>
            </a:r>
          </a:p>
          <a:p>
            <a:pPr marL="171450" indent="-171450">
              <a:buFont typeface="Arial" panose="020B0604020202020204" pitchFamily="34" charset="0"/>
              <a:buChar char="•"/>
            </a:pPr>
            <a:r>
              <a:rPr lang="en-US" sz="1100" err="1">
                <a:solidFill>
                  <a:schemeClr val="bg1"/>
                </a:solidFill>
                <a:latin typeface="Segoe"/>
              </a:rPr>
              <a:t>Các</a:t>
            </a:r>
            <a:r>
              <a:rPr lang="en-US" sz="1100">
                <a:solidFill>
                  <a:schemeClr val="bg1"/>
                </a:solidFill>
                <a:latin typeface="Segoe"/>
              </a:rPr>
              <a:t> </a:t>
            </a:r>
            <a:r>
              <a:rPr lang="en-US" sz="1100" err="1">
                <a:solidFill>
                  <a:schemeClr val="bg1"/>
                </a:solidFill>
                <a:latin typeface="Segoe"/>
              </a:rPr>
              <a:t>chức</a:t>
            </a:r>
            <a:r>
              <a:rPr lang="en-US" sz="1100">
                <a:solidFill>
                  <a:schemeClr val="bg1"/>
                </a:solidFill>
                <a:latin typeface="Segoe"/>
              </a:rPr>
              <a:t> </a:t>
            </a:r>
            <a:r>
              <a:rPr lang="en-US" sz="1100" err="1">
                <a:solidFill>
                  <a:schemeClr val="bg1"/>
                </a:solidFill>
                <a:latin typeface="Segoe"/>
              </a:rPr>
              <a:t>năng</a:t>
            </a:r>
            <a:r>
              <a:rPr lang="en-US" sz="1100">
                <a:solidFill>
                  <a:schemeClr val="bg1"/>
                </a:solidFill>
                <a:latin typeface="Segoe"/>
              </a:rPr>
              <a:t> </a:t>
            </a:r>
            <a:r>
              <a:rPr lang="en-US" sz="1100" err="1">
                <a:solidFill>
                  <a:schemeClr val="bg1"/>
                </a:solidFill>
                <a:latin typeface="Segoe"/>
              </a:rPr>
              <a:t>chính</a:t>
            </a:r>
            <a:r>
              <a:rPr lang="en-US" sz="1100">
                <a:solidFill>
                  <a:schemeClr val="bg1"/>
                </a:solidFill>
                <a:latin typeface="Segoe"/>
              </a:rPr>
              <a:t> </a:t>
            </a:r>
            <a:r>
              <a:rPr lang="en-US" sz="1100" err="1">
                <a:solidFill>
                  <a:schemeClr val="bg1"/>
                </a:solidFill>
                <a:latin typeface="Segoe"/>
              </a:rPr>
              <a:t>đạt</a:t>
            </a:r>
            <a:r>
              <a:rPr lang="en-US" sz="1100">
                <a:solidFill>
                  <a:schemeClr val="bg1"/>
                </a:solidFill>
                <a:latin typeface="Segoe"/>
              </a:rPr>
              <a:t> </a:t>
            </a:r>
            <a:r>
              <a:rPr lang="en-US" sz="1100" err="1">
                <a:solidFill>
                  <a:schemeClr val="bg1"/>
                </a:solidFill>
                <a:latin typeface="Segoe"/>
              </a:rPr>
              <a:t>kết</a:t>
            </a:r>
            <a:r>
              <a:rPr lang="en-US" sz="1100">
                <a:solidFill>
                  <a:schemeClr val="bg1"/>
                </a:solidFill>
                <a:latin typeface="Segoe"/>
              </a:rPr>
              <a:t> </a:t>
            </a:r>
            <a:r>
              <a:rPr lang="en-US" sz="1100" err="1">
                <a:solidFill>
                  <a:schemeClr val="bg1"/>
                </a:solidFill>
                <a:latin typeface="Segoe"/>
              </a:rPr>
              <a:t>quả</a:t>
            </a:r>
            <a:r>
              <a:rPr lang="en-US" sz="1100">
                <a:solidFill>
                  <a:schemeClr val="bg1"/>
                </a:solidFill>
                <a:latin typeface="Segoe"/>
              </a:rPr>
              <a:t> </a:t>
            </a:r>
            <a:r>
              <a:rPr lang="en-US" sz="1100" err="1">
                <a:solidFill>
                  <a:schemeClr val="bg1"/>
                </a:solidFill>
                <a:latin typeface="Segoe"/>
              </a:rPr>
              <a:t>mong</a:t>
            </a:r>
            <a:r>
              <a:rPr lang="en-US" sz="1100">
                <a:solidFill>
                  <a:schemeClr val="bg1"/>
                </a:solidFill>
                <a:latin typeface="Segoe"/>
              </a:rPr>
              <a:t> </a:t>
            </a:r>
            <a:r>
              <a:rPr lang="en-US" sz="1100" err="1">
                <a:solidFill>
                  <a:schemeClr val="bg1"/>
                </a:solidFill>
                <a:latin typeface="Segoe"/>
              </a:rPr>
              <a:t>đợi</a:t>
            </a:r>
            <a:r>
              <a:rPr lang="en-US" sz="1100">
                <a:solidFill>
                  <a:schemeClr val="bg1"/>
                </a:solidFill>
                <a:latin typeface="Segoe"/>
              </a:rPr>
              <a:t>.</a:t>
            </a:r>
          </a:p>
          <a:p>
            <a:pPr>
              <a:spcBef>
                <a:spcPts val="0"/>
              </a:spcBef>
              <a:spcAft>
                <a:spcPts val="0"/>
              </a:spcAft>
            </a:pPr>
            <a:endParaRPr sz="700" b="0">
              <a:solidFill>
                <a:srgbClr val="FFFFFF"/>
              </a:solidFill>
              <a:latin typeface="Arial"/>
            </a:endParaRPr>
          </a:p>
        </p:txBody>
      </p:sp>
      <p:sp>
        <p:nvSpPr>
          <p:cNvPr id="8" name="Text 6"/>
          <p:cNvSpPr/>
          <p:nvPr/>
        </p:nvSpPr>
        <p:spPr>
          <a:xfrm>
            <a:off x="1097280" y="3886200"/>
            <a:ext cx="9966960" cy="1097280"/>
          </a:xfrm>
          <a:prstGeom prst="roundRect">
            <a:avLst/>
          </a:prstGeom>
          <a:solidFill>
            <a:srgbClr val="0B2B46"/>
          </a:solidFill>
          <a:ln w="12700">
            <a:solidFill>
              <a:srgbClr val="24445C"/>
            </a:solidFill>
          </a:ln>
          <a:effectLst>
            <a:outerShdw blurRad="25400" dist="12700" dir="2700000" algn="bl" rotWithShape="0">
              <a:srgbClr val="000000">
                <a:alpha val="22000"/>
              </a:srgbClr>
            </a:outerShdw>
          </a:effectLst>
        </p:spPr>
        <p:txBody>
          <a:bodyPr wrap="square" lIns="1778" tIns="1778" rIns="1778" bIns="1778" rtlCol="0" anchor="ctr">
            <a:normAutofit/>
          </a:bodyPr>
          <a:lstStyle/>
          <a:p>
            <a:pPr marL="0" indent="0">
              <a:spcBef>
                <a:spcPts val="0"/>
              </a:spcBef>
              <a:spcAft>
                <a:spcPts val="0"/>
              </a:spcAft>
              <a:buNone/>
            </a:pPr>
            <a:endParaRPr sz="700" b="0">
              <a:solidFill>
                <a:srgbClr val="FFFFFF"/>
              </a:solidFill>
              <a:latin typeface="Arial"/>
            </a:endParaRPr>
          </a:p>
        </p:txBody>
      </p:sp>
      <p:sp>
        <p:nvSpPr>
          <p:cNvPr id="9" name="Text 7"/>
          <p:cNvSpPr/>
          <p:nvPr/>
        </p:nvSpPr>
        <p:spPr>
          <a:xfrm>
            <a:off x="1005840" y="5440680"/>
            <a:ext cx="10149840" cy="411480"/>
          </a:xfrm>
          <a:prstGeom prst="rect">
            <a:avLst/>
          </a:prstGeom>
          <a:noFill/>
          <a:ln/>
        </p:spPr>
        <p:txBody>
          <a:bodyPr wrap="square" lIns="0" tIns="0" rIns="0" bIns="0" rtlCol="0" anchor="ctr"/>
          <a:lstStyle/>
          <a:p>
            <a:pPr marL="0" indent="0" algn="ctr">
              <a:buNone/>
            </a:pPr>
            <a:r>
              <a:rPr lang="en-US" sz="2300" b="1">
                <a:solidFill>
                  <a:srgbClr val="FFFFFF"/>
                </a:solidFill>
              </a:rPr>
              <a:t>CẢM ƠN THẦY VÀ CÁC BẠN ĐÃ LẮNG NGHE!</a:t>
            </a:r>
            <a:endParaRPr lang="en-US" sz="2300"/>
          </a:p>
        </p:txBody>
      </p:sp>
      <p:sp>
        <p:nvSpPr>
          <p:cNvPr id="10" name="Text 8"/>
          <p:cNvSpPr/>
          <p:nvPr/>
        </p:nvSpPr>
        <p:spPr>
          <a:xfrm>
            <a:off x="3337560" y="5989320"/>
            <a:ext cx="5486400" cy="292608"/>
          </a:xfrm>
          <a:prstGeom prst="roundRect">
            <a:avLst/>
          </a:prstGeom>
          <a:solidFill>
            <a:srgbClr val="08C391"/>
          </a:solidFill>
          <a:ln>
            <a:solidFill>
              <a:srgbClr val="08C391">
                <a:alpha val="90000"/>
              </a:srgbClr>
            </a:solidFill>
          </a:ln>
        </p:spPr>
        <p:txBody>
          <a:bodyPr wrap="square" lIns="254" tIns="254" rIns="254" bIns="254" rtlCol="0" anchor="ctr">
            <a:normAutofit/>
          </a:bodyPr>
          <a:lstStyle/>
          <a:p>
            <a:pPr marL="0" indent="0" algn="ctr">
              <a:buNone/>
            </a:pPr>
            <a:r>
              <a:rPr lang="en-US" sz="850" b="1">
                <a:solidFill>
                  <a:srgbClr val="062033"/>
                </a:solidFill>
              </a:rPr>
              <a:t>Elite Sport – Hệ thống đặt sân thể thao trên nền tảng Python</a:t>
            </a:r>
            <a:endParaRPr lang="en-US" sz="850"/>
          </a:p>
        </p:txBody>
      </p:sp>
      <p:pic>
        <p:nvPicPr>
          <p:cNvPr id="11" name="Picture 10" descr="uit_symbol_only.png"/>
          <p:cNvPicPr>
            <a:picLocks noChangeAspect="1"/>
          </p:cNvPicPr>
          <p:nvPr/>
        </p:nvPicPr>
        <p:blipFill>
          <a:blip r:embed="rId3"/>
          <a:stretch>
            <a:fillRect/>
          </a:stretch>
        </p:blipFill>
        <p:spPr>
          <a:xfrm>
            <a:off x="100584" y="91440"/>
            <a:ext cx="420261" cy="310896"/>
          </a:xfrm>
          <a:prstGeom prst="rect">
            <a:avLst/>
          </a:prstGeom>
        </p:spPr>
      </p:pic>
      <p:pic>
        <p:nvPicPr>
          <p:cNvPr id="12" name="Picture 11" descr="image.png"/>
          <p:cNvPicPr>
            <a:picLocks noChangeAspect="1"/>
          </p:cNvPicPr>
          <p:nvPr/>
        </p:nvPicPr>
        <p:blipFill>
          <a:blip r:embed="rId4"/>
          <a:stretch>
            <a:fillRect/>
          </a:stretch>
        </p:blipFill>
        <p:spPr>
          <a:xfrm>
            <a:off x="10195560" y="91440"/>
            <a:ext cx="1783080" cy="594360"/>
          </a:xfrm>
          <a:prstGeom prst="rect">
            <a:avLst/>
          </a:prstGeom>
        </p:spPr>
      </p:pic>
      <p:sp>
        <p:nvSpPr>
          <p:cNvPr id="14" name="TextBox 13">
            <a:extLst>
              <a:ext uri="{FF2B5EF4-FFF2-40B4-BE49-F238E27FC236}">
                <a16:creationId xmlns:a16="http://schemas.microsoft.com/office/drawing/2014/main" id="{0BD68FEB-5774-41A4-BBB1-36C26378A54A}"/>
              </a:ext>
            </a:extLst>
          </p:cNvPr>
          <p:cNvSpPr txBox="1"/>
          <p:nvPr/>
        </p:nvSpPr>
        <p:spPr>
          <a:xfrm>
            <a:off x="5294780" y="3949397"/>
            <a:ext cx="1602441" cy="261610"/>
          </a:xfrm>
          <a:prstGeom prst="rect">
            <a:avLst/>
          </a:prstGeom>
          <a:noFill/>
        </p:spPr>
        <p:txBody>
          <a:bodyPr wrap="square" rtlCol="0">
            <a:spAutoFit/>
          </a:bodyPr>
          <a:lstStyle/>
          <a:p>
            <a:pPr algn="ctr"/>
            <a:r>
              <a:rPr lang="en-US" sz="1100" b="1" err="1">
                <a:solidFill>
                  <a:srgbClr val="00F5C6"/>
                </a:solidFill>
                <a:latin typeface="Segoe"/>
              </a:rPr>
              <a:t>Danh</a:t>
            </a:r>
            <a:r>
              <a:rPr lang="en-US" sz="1100" b="1">
                <a:solidFill>
                  <a:srgbClr val="00F5C6"/>
                </a:solidFill>
                <a:latin typeface="Segoe"/>
              </a:rPr>
              <a:t> </a:t>
            </a:r>
            <a:r>
              <a:rPr lang="en-US" sz="1100" b="1" err="1">
                <a:solidFill>
                  <a:srgbClr val="00F5C6"/>
                </a:solidFill>
                <a:latin typeface="Segoe"/>
              </a:rPr>
              <a:t>sách</a:t>
            </a:r>
            <a:r>
              <a:rPr lang="en-US" sz="1100" b="1">
                <a:solidFill>
                  <a:srgbClr val="00F5C6"/>
                </a:solidFill>
                <a:latin typeface="Segoe"/>
              </a:rPr>
              <a:t> </a:t>
            </a:r>
            <a:r>
              <a:rPr lang="en-US" sz="1100" b="1" err="1">
                <a:solidFill>
                  <a:srgbClr val="00F5C6"/>
                </a:solidFill>
                <a:latin typeface="Segoe"/>
              </a:rPr>
              <a:t>thành</a:t>
            </a:r>
            <a:r>
              <a:rPr lang="en-US" sz="1100" b="1">
                <a:solidFill>
                  <a:srgbClr val="00F5C6"/>
                </a:solidFill>
                <a:latin typeface="Segoe"/>
              </a:rPr>
              <a:t> </a:t>
            </a:r>
            <a:r>
              <a:rPr lang="en-US" sz="1100" b="1" err="1">
                <a:solidFill>
                  <a:srgbClr val="00F5C6"/>
                </a:solidFill>
                <a:latin typeface="Segoe"/>
              </a:rPr>
              <a:t>viên</a:t>
            </a:r>
            <a:endParaRPr lang="en-US" sz="1100" b="1">
              <a:solidFill>
                <a:srgbClr val="00F5C6"/>
              </a:solidFill>
              <a:latin typeface="Segoe"/>
            </a:endParaRPr>
          </a:p>
        </p:txBody>
      </p:sp>
      <p:sp>
        <p:nvSpPr>
          <p:cNvPr id="15" name="TextBox 14">
            <a:extLst>
              <a:ext uri="{FF2B5EF4-FFF2-40B4-BE49-F238E27FC236}">
                <a16:creationId xmlns:a16="http://schemas.microsoft.com/office/drawing/2014/main" id="{869417C3-B5EB-4A66-BBE8-4295046D3986}"/>
              </a:ext>
            </a:extLst>
          </p:cNvPr>
          <p:cNvSpPr txBox="1"/>
          <p:nvPr/>
        </p:nvSpPr>
        <p:spPr>
          <a:xfrm>
            <a:off x="2723029" y="4211007"/>
            <a:ext cx="2185147" cy="600164"/>
          </a:xfrm>
          <a:prstGeom prst="rect">
            <a:avLst/>
          </a:prstGeom>
          <a:noFill/>
        </p:spPr>
        <p:txBody>
          <a:bodyPr wrap="square" rtlCol="0">
            <a:spAutoFit/>
          </a:bodyPr>
          <a:lstStyle/>
          <a:p>
            <a:pPr algn="just"/>
            <a:r>
              <a:rPr lang="en-US" sz="1100">
                <a:solidFill>
                  <a:schemeClr val="bg1"/>
                </a:solidFill>
                <a:latin typeface="Segoe"/>
              </a:rPr>
              <a:t>25410189 – </a:t>
            </a:r>
            <a:r>
              <a:rPr lang="en-US" sz="1100" err="1">
                <a:solidFill>
                  <a:schemeClr val="bg1"/>
                </a:solidFill>
                <a:latin typeface="Segoe"/>
              </a:rPr>
              <a:t>Lý</a:t>
            </a:r>
            <a:r>
              <a:rPr lang="en-US" sz="1100">
                <a:solidFill>
                  <a:schemeClr val="bg1"/>
                </a:solidFill>
                <a:latin typeface="Segoe"/>
              </a:rPr>
              <a:t> </a:t>
            </a:r>
            <a:r>
              <a:rPr lang="en-US" sz="1100" err="1">
                <a:solidFill>
                  <a:schemeClr val="bg1"/>
                </a:solidFill>
                <a:latin typeface="Segoe"/>
              </a:rPr>
              <a:t>Kiến</a:t>
            </a:r>
            <a:r>
              <a:rPr lang="en-US" sz="1100">
                <a:solidFill>
                  <a:schemeClr val="bg1"/>
                </a:solidFill>
                <a:latin typeface="Segoe"/>
              </a:rPr>
              <a:t> </a:t>
            </a:r>
            <a:r>
              <a:rPr lang="en-US" sz="1100" err="1">
                <a:solidFill>
                  <a:schemeClr val="bg1"/>
                </a:solidFill>
                <a:latin typeface="Segoe"/>
              </a:rPr>
              <a:t>Đức</a:t>
            </a:r>
            <a:endParaRPr lang="en-US" sz="1100">
              <a:solidFill>
                <a:schemeClr val="bg1"/>
              </a:solidFill>
              <a:latin typeface="Segoe"/>
            </a:endParaRPr>
          </a:p>
          <a:p>
            <a:pPr algn="just"/>
            <a:r>
              <a:rPr lang="en-US" sz="1100">
                <a:solidFill>
                  <a:schemeClr val="bg1"/>
                </a:solidFill>
                <a:latin typeface="Segoe"/>
              </a:rPr>
              <a:t>25410185 – </a:t>
            </a:r>
            <a:r>
              <a:rPr lang="en-US" sz="1100" err="1">
                <a:solidFill>
                  <a:schemeClr val="bg1"/>
                </a:solidFill>
                <a:latin typeface="Segoe"/>
              </a:rPr>
              <a:t>Nguyễn</a:t>
            </a:r>
            <a:r>
              <a:rPr lang="en-US" sz="1100">
                <a:solidFill>
                  <a:schemeClr val="bg1"/>
                </a:solidFill>
                <a:latin typeface="Segoe"/>
              </a:rPr>
              <a:t> </a:t>
            </a:r>
            <a:r>
              <a:rPr lang="en-US" sz="1100" err="1">
                <a:solidFill>
                  <a:schemeClr val="bg1"/>
                </a:solidFill>
                <a:latin typeface="Segoe"/>
              </a:rPr>
              <a:t>Phong</a:t>
            </a:r>
            <a:r>
              <a:rPr lang="en-US" sz="1100">
                <a:solidFill>
                  <a:schemeClr val="bg1"/>
                </a:solidFill>
                <a:latin typeface="Segoe"/>
              </a:rPr>
              <a:t> </a:t>
            </a:r>
            <a:r>
              <a:rPr lang="en-US" sz="1100" err="1">
                <a:solidFill>
                  <a:schemeClr val="bg1"/>
                </a:solidFill>
                <a:latin typeface="Segoe"/>
              </a:rPr>
              <a:t>Đạt</a:t>
            </a:r>
            <a:endParaRPr lang="en-US" sz="1100">
              <a:solidFill>
                <a:schemeClr val="bg1"/>
              </a:solidFill>
              <a:latin typeface="Segoe"/>
            </a:endParaRPr>
          </a:p>
          <a:p>
            <a:pPr algn="just"/>
            <a:r>
              <a:rPr lang="en-US" sz="1100">
                <a:solidFill>
                  <a:schemeClr val="bg1"/>
                </a:solidFill>
                <a:latin typeface="Segoe"/>
              </a:rPr>
              <a:t>25410186 – </a:t>
            </a:r>
            <a:r>
              <a:rPr lang="en-US" sz="1100" err="1">
                <a:solidFill>
                  <a:schemeClr val="bg1"/>
                </a:solidFill>
                <a:latin typeface="Segoe"/>
              </a:rPr>
              <a:t>Nguyễn</a:t>
            </a:r>
            <a:r>
              <a:rPr lang="en-US" sz="1100">
                <a:solidFill>
                  <a:schemeClr val="bg1"/>
                </a:solidFill>
                <a:latin typeface="Segoe"/>
              </a:rPr>
              <a:t> </a:t>
            </a:r>
            <a:r>
              <a:rPr lang="en-US" sz="1100" err="1">
                <a:solidFill>
                  <a:schemeClr val="bg1"/>
                </a:solidFill>
                <a:latin typeface="Segoe"/>
              </a:rPr>
              <a:t>Tấn</a:t>
            </a:r>
            <a:r>
              <a:rPr lang="en-US" sz="1100">
                <a:solidFill>
                  <a:schemeClr val="bg1"/>
                </a:solidFill>
                <a:latin typeface="Segoe"/>
              </a:rPr>
              <a:t> </a:t>
            </a:r>
            <a:r>
              <a:rPr lang="en-US" sz="1100" err="1">
                <a:solidFill>
                  <a:schemeClr val="bg1"/>
                </a:solidFill>
                <a:latin typeface="Segoe"/>
              </a:rPr>
              <a:t>Đạt</a:t>
            </a:r>
            <a:endParaRPr lang="en-US" sz="1100">
              <a:solidFill>
                <a:schemeClr val="bg1"/>
              </a:solidFill>
              <a:latin typeface="Segoe"/>
            </a:endParaRPr>
          </a:p>
        </p:txBody>
      </p:sp>
      <p:sp>
        <p:nvSpPr>
          <p:cNvPr id="16" name="TextBox 15">
            <a:extLst>
              <a:ext uri="{FF2B5EF4-FFF2-40B4-BE49-F238E27FC236}">
                <a16:creationId xmlns:a16="http://schemas.microsoft.com/office/drawing/2014/main" id="{5690D19C-36C7-45CB-BBB8-5718F39AB13A}"/>
              </a:ext>
            </a:extLst>
          </p:cNvPr>
          <p:cNvSpPr txBox="1"/>
          <p:nvPr/>
        </p:nvSpPr>
        <p:spPr>
          <a:xfrm>
            <a:off x="7631206" y="4209133"/>
            <a:ext cx="2121722" cy="430887"/>
          </a:xfrm>
          <a:prstGeom prst="rect">
            <a:avLst/>
          </a:prstGeom>
          <a:noFill/>
        </p:spPr>
        <p:txBody>
          <a:bodyPr wrap="square" rtlCol="0">
            <a:spAutoFit/>
          </a:bodyPr>
          <a:lstStyle/>
          <a:p>
            <a:pPr algn="just"/>
            <a:r>
              <a:rPr lang="en-US" sz="1100">
                <a:solidFill>
                  <a:schemeClr val="bg1"/>
                </a:solidFill>
                <a:latin typeface="Segoe"/>
              </a:rPr>
              <a:t>25410172 – </a:t>
            </a:r>
            <a:r>
              <a:rPr lang="en-US" sz="1100" err="1">
                <a:solidFill>
                  <a:schemeClr val="bg1"/>
                </a:solidFill>
                <a:latin typeface="Segoe"/>
              </a:rPr>
              <a:t>Nguyễn</a:t>
            </a:r>
            <a:r>
              <a:rPr lang="en-US" sz="1100">
                <a:solidFill>
                  <a:schemeClr val="bg1"/>
                </a:solidFill>
                <a:latin typeface="Segoe"/>
              </a:rPr>
              <a:t> </a:t>
            </a:r>
            <a:r>
              <a:rPr lang="en-US" sz="1100" err="1">
                <a:solidFill>
                  <a:schemeClr val="bg1"/>
                </a:solidFill>
                <a:latin typeface="Segoe"/>
              </a:rPr>
              <a:t>Hồng</a:t>
            </a:r>
            <a:r>
              <a:rPr lang="en-US" sz="1100">
                <a:solidFill>
                  <a:schemeClr val="bg1"/>
                </a:solidFill>
                <a:latin typeface="Segoe"/>
              </a:rPr>
              <a:t> Anh</a:t>
            </a:r>
          </a:p>
          <a:p>
            <a:pPr algn="just"/>
            <a:r>
              <a:rPr lang="en-US" sz="1100">
                <a:solidFill>
                  <a:schemeClr val="bg1"/>
                </a:solidFill>
                <a:latin typeface="Segoe"/>
              </a:rPr>
              <a:t>24410360 – </a:t>
            </a:r>
            <a:r>
              <a:rPr lang="en-US" sz="1100" err="1">
                <a:solidFill>
                  <a:schemeClr val="bg1"/>
                </a:solidFill>
                <a:latin typeface="Segoe"/>
              </a:rPr>
              <a:t>Trần</a:t>
            </a:r>
            <a:r>
              <a:rPr lang="en-US" sz="1100">
                <a:solidFill>
                  <a:schemeClr val="bg1"/>
                </a:solidFill>
                <a:latin typeface="Segoe"/>
              </a:rPr>
              <a:t> </a:t>
            </a:r>
            <a:r>
              <a:rPr lang="en-US" sz="1100" err="1">
                <a:solidFill>
                  <a:schemeClr val="bg1"/>
                </a:solidFill>
                <a:latin typeface="Segoe"/>
              </a:rPr>
              <a:t>Quỳnh</a:t>
            </a:r>
            <a:r>
              <a:rPr lang="en-US" sz="1100">
                <a:solidFill>
                  <a:schemeClr val="bg1"/>
                </a:solidFill>
                <a:latin typeface="Segoe"/>
              </a:rPr>
              <a:t> </a:t>
            </a:r>
            <a:r>
              <a:rPr lang="en-US" sz="1100" err="1">
                <a:solidFill>
                  <a:schemeClr val="bg1"/>
                </a:solidFill>
                <a:latin typeface="Segoe"/>
              </a:rPr>
              <a:t>Tiền</a:t>
            </a:r>
            <a:endParaRPr lang="en-US" sz="1100">
              <a:solidFill>
                <a:schemeClr val="bg1"/>
              </a:solidFill>
              <a:latin typeface="Sego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1021</TotalTime>
  <Words>3081</Words>
  <Application>Microsoft Office PowerPoint</Application>
  <PresentationFormat>Widescreen</PresentationFormat>
  <Paragraphs>147</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(Body)</vt:lpstr>
      <vt:lpstr>Arial</vt:lpstr>
      <vt:lpstr>Calibri</vt:lpstr>
      <vt:lpstr>Consolas</vt:lpstr>
      <vt:lpstr>Segoe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Elite Sport - Đồ án Python UIT</dc:title>
  <dc:subject>Hệ thống đặt sân thể thao</dc:subject>
  <dc:creator>OpenAI</dc:creator>
  <cp:lastModifiedBy>admin</cp:lastModifiedBy>
  <cp:revision>36</cp:revision>
  <dcterms:created xsi:type="dcterms:W3CDTF">2026-09-08T05:23:10Z</dcterms:created>
  <dcterms:modified xsi:type="dcterms:W3CDTF">2026-09-14T06:22:04Z</dcterms:modified>
</cp:coreProperties>
</file>